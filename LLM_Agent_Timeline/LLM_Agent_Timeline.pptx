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建议讲解4—6分钟。先沿红线说明九项工作的首次公开月份，再按能力主线串联，不把横向距离理解为真实时间间隔。</a:t>
            </a:r>
          </a:p>
          <a:p>
            <a:r>
              <a:t>早期ReAct组织推理、行动与观察；AutoGPT展示连续任务执行；CAMEL和Generative Agents分别扩展角色协作及记忆反思；MetaGPT用标准操作流程约束多角色开发；MoA探索多模型分层聚合；VideoMind面向时间定位视频推理；BrowseMaster面向复杂网页信息检索；Tool-R1探索强化学习优化工具使用。</a:t>
            </a:r>
          </a:p>
          <a:p>
            <a:r>
              <a:t>这些方向从早期就交织发展；CAMEL早于Generative Agents，不人为调整顺序以迁就能力叙事。MoA主要是多模型响应聚合，不应等同于具备环境行动的自主Agent。MetaGPT节点采用2023年论文v1，不能说其项目到2024年才出现。BrowseMaster不是BrowserMaster，也不应表述成通用GUI自动化。</a:t>
            </a:r>
          </a:p>
          <a:p>
            <a:r>
              <a:t>原图来源核实：作者官方仓库itsazibfarooq/agenticEvaluation中提供一致内容的timeline.png，README所列DOI与用户提供相同；其图注称这是2023—2025代表性系统的示意时间轴。出版商与TechRxiv正文在本环境返回403，未逐字核定正式版Figure 1图注。所有所选工作均来自原图，没有新增论文。月份依据预印本编号、作者项目和交叉书目；未虚构未直接核对的日级提交日期。</a:t>
            </a:r>
          </a:p>
          <a:p>
            <a:r>
              <a:t>论文来源：https://doi.org/10.1016/j.inffus.2026.104444</a:t>
            </a:r>
          </a:p>
          <a:p>
            <a:r>
              <a:t>作者时间轴：https://github.com/itsazibfarooq/agenticEvaluation/blob/main/static/images/timeline.png</a:t>
            </a:r>
          </a:p>
          <a:p/>
          <a:p>
            <a:r>
              <a:t>ReAct｜2022.10｜论文v1｜ICLR 2023</a:t>
            </a:r>
          </a:p>
          <a:p>
            <a:r>
              <a:t>交替组织推理与行动利用观察更新决策</a:t>
            </a:r>
          </a:p>
          <a:p>
            <a:r>
              <a:t>https://arxiv.org/abs/2210.03629</a:t>
            </a:r>
          </a:p>
          <a:p>
            <a:r>
              <a:t>官方实现：https://github.com/ysymyth/ReAct</a:t>
            </a:r>
          </a:p>
          <a:p/>
          <a:p>
            <a:r>
              <a:t>AutoGPT｜2023.03｜官方演示｜开源项目；官方演示2023-03-30</a:t>
            </a:r>
          </a:p>
          <a:p>
            <a:r>
              <a:t>任务分解与工具调用支持连续自主执行</a:t>
            </a:r>
          </a:p>
          <a:p>
            <a:r>
              <a:t>https://github.com/Significant-Gravitas/AutoGPT</a:t>
            </a:r>
          </a:p>
          <a:p>
            <a:r>
              <a:t>官方实现：https://github.com/Significant-Gravitas/AutoGPT</a:t>
            </a:r>
          </a:p>
          <a:p/>
          <a:p>
            <a:r>
              <a:t>CAMEL｜2023.03｜论文v1｜NeurIPS 2023</a:t>
            </a:r>
          </a:p>
          <a:p>
            <a:r>
              <a:t>通过角色扮演式对话探索多智能体合作</a:t>
            </a:r>
          </a:p>
          <a:p>
            <a:r>
              <a:t>https://arxiv.org/abs/2303.17760</a:t>
            </a:r>
          </a:p>
          <a:p>
            <a:r>
              <a:t>官方实现：https://github.com/camel-ai/camel</a:t>
            </a:r>
          </a:p>
          <a:p/>
          <a:p>
            <a:r>
              <a:t>Generative Agents｜2023.04｜论文v1｜UIST 2023</a:t>
            </a:r>
          </a:p>
          <a:p>
            <a:r>
              <a:t>用记忆、反思与规划模拟虚拟角色行为</a:t>
            </a:r>
          </a:p>
          <a:p>
            <a:r>
              <a:t>https://arxiv.org/abs/2304.03442</a:t>
            </a:r>
          </a:p>
          <a:p>
            <a:r>
              <a:t>官方实现：https://github.com/joonspk-research/generative_agents</a:t>
            </a:r>
          </a:p>
          <a:p/>
          <a:p>
            <a:r>
              <a:t>MetaGPT｜2023.08｜论文v1｜ICLR 2024；本页用论文v1时间，非项目最早代码时间</a:t>
            </a:r>
          </a:p>
          <a:p>
            <a:r>
              <a:t>以标准流程组织分工实现协作式软件开发</a:t>
            </a:r>
          </a:p>
          <a:p>
            <a:r>
              <a:t>https://arxiv.org/abs/2308.00352</a:t>
            </a:r>
          </a:p>
          <a:p>
            <a:r>
              <a:t>官方实现：https://github.com/FoundationAgents/MetaGPT</a:t>
            </a:r>
          </a:p>
          <a:p/>
          <a:p>
            <a:r>
              <a:t>Mixture-of-Agents｜2024.06｜论文v1｜本页采用2024年预印本口径</a:t>
            </a:r>
          </a:p>
          <a:p>
            <a:r>
              <a:t>分层聚合多模型回答以协作改善生成结果</a:t>
            </a:r>
          </a:p>
          <a:p>
            <a:r>
              <a:t>https://arxiv.org/abs/2406.04692</a:t>
            </a:r>
          </a:p>
          <a:p>
            <a:r>
              <a:t>官方实现：https://github.com/togethercomputer/MoA</a:t>
            </a:r>
          </a:p>
          <a:p/>
          <a:p>
            <a:r>
              <a:t>VideoMind｜2025.03｜论文v1｜作者技术报告2025-03-17；后续会议时间不作本页年份</a:t>
            </a:r>
          </a:p>
          <a:p>
            <a:r>
              <a:t>结合规划、定位验证实现时序定位推理</a:t>
            </a:r>
          </a:p>
          <a:p>
            <a:r>
              <a:t>https://arxiv.org/abs/2503.13444</a:t>
            </a:r>
          </a:p>
          <a:p>
            <a:r>
              <a:t>官方实现：https://github.com/yeliudev/VideoMind</a:t>
            </a:r>
          </a:p>
          <a:p/>
          <a:p>
            <a:r>
              <a:t>BrowseMaster｜2025.08｜论文v1｜2025年预印本；不是BrowserMaster或通用GUI点击模型</a:t>
            </a:r>
          </a:p>
          <a:p>
            <a:r>
              <a:t>规划与执行模块分工结合代码化网页搜索</a:t>
            </a:r>
          </a:p>
          <a:p>
            <a:r>
              <a:t>https://arxiv.org/abs/2508.09129</a:t>
            </a:r>
          </a:p>
          <a:p>
            <a:r>
              <a:t>官方实现：https://github.com/sjtu-sai-agents/Browse-Master</a:t>
            </a:r>
          </a:p>
          <a:p/>
          <a:p>
            <a:r>
              <a:t>Tool-R1｜2025.09｜论文v1｜2025年预印本；不是VTool-R1</a:t>
            </a:r>
          </a:p>
          <a:p>
            <a:r>
              <a:t>用样本高效强化学习优化多步工具使用</a:t>
            </a:r>
          </a:p>
          <a:p>
            <a:r>
              <a:t>https://arxiv.org/abs/2509.12867</a:t>
            </a:r>
          </a:p>
          <a:p>
            <a:r>
              <a:t>官方实现：https://github.com/YBYBZhang/Tool-R1</a:t>
            </a:r>
          </a:p>
          <a:p/>
          <a:p>
            <a:r>
              <a:t>图标采用官方仓库真实素材；AutoGPT采用当前官方品牌标识作项目识别，不声称它是2023年首发时使用的版本。无专属图标的项目采用可编辑规范文字名称。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4086" y="475488"/>
            <a:ext cx="496519" cy="496519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9145" y="741578"/>
            <a:ext cx="331012" cy="331012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: LLM Agent 代表性工作演进路线（2022—2025）"/>
          <p:cNvSpPr txBox="1"/>
          <p:nvPr/>
        </p:nvSpPr>
        <p:spPr>
          <a:xfrm>
            <a:off x="830275" y="43891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E5696"/>
                </a:solidFill>
                <a:latin typeface="微软雅黑"/>
                <a:ea typeface="微软雅黑"/>
              </a:rPr>
              <a:t>LLM Agent 代表性工作演进路线（2022—2025）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0158" y="1072591"/>
            <a:ext cx="11134649" cy="0"/>
          </a:xfrm>
          <a:prstGeom prst="line">
            <a:avLst/>
          </a:prstGeom>
          <a:ln w="10160">
            <a:solidFill>
              <a:srgbClr val="222222"/>
            </a:solidFill>
          </a:ln>
        </p:spPr>
      </p:cxnSp>
      <p:sp>
        <p:nvSpPr>
          <p:cNvPr id="6" name="Text: 从推理与行动出发，扩展到自主执行、记忆反思、协作与复杂任务"/>
          <p:cNvSpPr txBox="1"/>
          <p:nvPr/>
        </p:nvSpPr>
        <p:spPr>
          <a:xfrm>
            <a:off x="566928" y="1252728"/>
            <a:ext cx="1106424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从推理与行动出发，扩展到自主执行、记忆反思、协作与复杂任务</a:t>
            </a:r>
          </a:p>
        </p:txBody>
      </p:sp>
      <p:sp>
        <p:nvSpPr>
          <p:cNvPr id="7" name="Text: 按首次公开月份排序 · 论文采用预印本v1；AutoGPT采用官方演示月 · 横"/>
          <p:cNvSpPr txBox="1"/>
          <p:nvPr/>
        </p:nvSpPr>
        <p:spPr>
          <a:xfrm>
            <a:off x="576072" y="1700784"/>
            <a:ext cx="10972800" cy="2651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按首次公开月份排序 · 论文采用预印本v1；AutoGPT采用官方演示月 · 横轴非等比例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3657600"/>
            <a:ext cx="11329416" cy="0"/>
          </a:xfrm>
          <a:prstGeom prst="line">
            <a:avLst/>
          </a:prstGeom>
          <a:ln w="38100">
            <a:solidFill>
              <a:srgbClr val="C62229"/>
            </a:solidFill>
            <a:tailEnd type="triangle"/>
          </a:ln>
        </p:spPr>
      </p:cxnSp>
      <p:cxnSp>
        <p:nvCxnSpPr>
          <p:cNvPr id="9" name="Connector 8"/>
          <p:cNvCxnSpPr/>
          <p:nvPr/>
        </p:nvCxnSpPr>
        <p:spPr>
          <a:xfrm>
            <a:off x="1097280" y="2980944"/>
            <a:ext cx="0" cy="676656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097280" y="3657600"/>
            <a:ext cx="0" cy="484632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sp>
        <p:nvSpPr>
          <p:cNvPr id="11" name="Text: ReAct"/>
          <p:cNvSpPr txBox="1"/>
          <p:nvPr/>
        </p:nvSpPr>
        <p:spPr>
          <a:xfrm>
            <a:off x="128015" y="2569464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ReAct</a:t>
            </a:r>
          </a:p>
        </p:txBody>
      </p:sp>
      <p:sp>
        <p:nvSpPr>
          <p:cNvPr id="12" name="Oval 11"/>
          <p:cNvSpPr/>
          <p:nvPr/>
        </p:nvSpPr>
        <p:spPr>
          <a:xfrm>
            <a:off x="1056132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: 2022.10"/>
          <p:cNvSpPr txBox="1"/>
          <p:nvPr/>
        </p:nvSpPr>
        <p:spPr>
          <a:xfrm>
            <a:off x="649224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2022.10</a:t>
            </a:r>
          </a:p>
        </p:txBody>
      </p:sp>
      <p:sp>
        <p:nvSpPr>
          <p:cNvPr id="14" name="Text: 推理 × 行动"/>
          <p:cNvSpPr txBox="1"/>
          <p:nvPr/>
        </p:nvSpPr>
        <p:spPr>
          <a:xfrm>
            <a:off x="128015" y="4251960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推理 × 行动</a:t>
            </a:r>
          </a:p>
        </p:txBody>
      </p:sp>
      <p:sp>
        <p:nvSpPr>
          <p:cNvPr id="15" name="Text: 交替组织推理与行动 利用观察更新决策"/>
          <p:cNvSpPr txBox="1"/>
          <p:nvPr/>
        </p:nvSpPr>
        <p:spPr>
          <a:xfrm>
            <a:off x="128015" y="4626864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交替组织推理与行动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利用观察更新决策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8578" y="3474720"/>
            <a:ext cx="0" cy="182880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338578" y="3657600"/>
            <a:ext cx="0" cy="1572768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pic>
        <p:nvPicPr>
          <p:cNvPr id="18" name="Official asset: autogpt_official_logo.png" descr="autogpt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8" y="2478024"/>
            <a:ext cx="1095738" cy="493776"/>
          </a:xfrm>
          <a:prstGeom prst="rect">
            <a:avLst/>
          </a:prstGeom>
        </p:spPr>
      </p:pic>
      <p:sp>
        <p:nvSpPr>
          <p:cNvPr id="19" name="Text: AutoGPT"/>
          <p:cNvSpPr txBox="1"/>
          <p:nvPr/>
        </p:nvSpPr>
        <p:spPr>
          <a:xfrm>
            <a:off x="1369314" y="3063240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AutoGPT</a:t>
            </a:r>
          </a:p>
        </p:txBody>
      </p:sp>
      <p:sp>
        <p:nvSpPr>
          <p:cNvPr id="20" name="Oval 19"/>
          <p:cNvSpPr/>
          <p:nvPr/>
        </p:nvSpPr>
        <p:spPr>
          <a:xfrm>
            <a:off x="2297430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: 2023.03"/>
          <p:cNvSpPr txBox="1"/>
          <p:nvPr/>
        </p:nvSpPr>
        <p:spPr>
          <a:xfrm>
            <a:off x="1890522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2023.03</a:t>
            </a:r>
          </a:p>
        </p:txBody>
      </p:sp>
      <p:sp>
        <p:nvSpPr>
          <p:cNvPr id="22" name="Text: 自主连续执行"/>
          <p:cNvSpPr txBox="1"/>
          <p:nvPr/>
        </p:nvSpPr>
        <p:spPr>
          <a:xfrm>
            <a:off x="1369314" y="5340096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自主连续执行</a:t>
            </a:r>
          </a:p>
        </p:txBody>
      </p:sp>
      <p:sp>
        <p:nvSpPr>
          <p:cNvPr id="23" name="Text: 任务分解与工具调用 支持连续自主执行"/>
          <p:cNvSpPr txBox="1"/>
          <p:nvPr/>
        </p:nvSpPr>
        <p:spPr>
          <a:xfrm>
            <a:off x="1369314" y="5715000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任务分解与工具调用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支持连续自主执行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79876" y="2980944"/>
            <a:ext cx="0" cy="676656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3579876" y="3657600"/>
            <a:ext cx="0" cy="484632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pic>
        <p:nvPicPr>
          <p:cNvPr id="26" name="Official asset: camel_icon.png" descr="camel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353" y="2039112"/>
            <a:ext cx="529045" cy="493776"/>
          </a:xfrm>
          <a:prstGeom prst="rect">
            <a:avLst/>
          </a:prstGeom>
        </p:spPr>
      </p:pic>
      <p:sp>
        <p:nvSpPr>
          <p:cNvPr id="27" name="Text: CAMEL"/>
          <p:cNvSpPr txBox="1"/>
          <p:nvPr/>
        </p:nvSpPr>
        <p:spPr>
          <a:xfrm>
            <a:off x="2610612" y="2569464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CAMEL</a:t>
            </a:r>
          </a:p>
        </p:txBody>
      </p:sp>
      <p:sp>
        <p:nvSpPr>
          <p:cNvPr id="28" name="Oval 27"/>
          <p:cNvSpPr/>
          <p:nvPr/>
        </p:nvSpPr>
        <p:spPr>
          <a:xfrm>
            <a:off x="3538728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: 2023.03"/>
          <p:cNvSpPr txBox="1"/>
          <p:nvPr/>
        </p:nvSpPr>
        <p:spPr>
          <a:xfrm>
            <a:off x="3131820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2023.03</a:t>
            </a:r>
          </a:p>
        </p:txBody>
      </p:sp>
      <p:sp>
        <p:nvSpPr>
          <p:cNvPr id="30" name="Text: 角色对话协作"/>
          <p:cNvSpPr txBox="1"/>
          <p:nvPr/>
        </p:nvSpPr>
        <p:spPr>
          <a:xfrm>
            <a:off x="2610612" y="4251960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角色对话协作</a:t>
            </a:r>
          </a:p>
        </p:txBody>
      </p:sp>
      <p:sp>
        <p:nvSpPr>
          <p:cNvPr id="31" name="Text: 通过角色扮演式对话 探索多智能体合作"/>
          <p:cNvSpPr txBox="1"/>
          <p:nvPr/>
        </p:nvSpPr>
        <p:spPr>
          <a:xfrm>
            <a:off x="2610612" y="4626864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通过角色扮演式对话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探索多智能体合作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21174" y="3648456"/>
            <a:ext cx="0" cy="9144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4821174" y="3657600"/>
            <a:ext cx="0" cy="1572768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pic>
        <p:nvPicPr>
          <p:cNvPr id="34" name="Official asset: generative_agents_icon.png" descr="generative_agen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86" y="2404872"/>
            <a:ext cx="493776" cy="493776"/>
          </a:xfrm>
          <a:prstGeom prst="rect">
            <a:avLst/>
          </a:prstGeom>
        </p:spPr>
      </p:pic>
      <p:sp>
        <p:nvSpPr>
          <p:cNvPr id="35" name="Text: Generative Agents"/>
          <p:cNvSpPr txBox="1"/>
          <p:nvPr/>
        </p:nvSpPr>
        <p:spPr>
          <a:xfrm>
            <a:off x="3851910" y="2971800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E5696"/>
                </a:solidFill>
                <a:latin typeface="微软雅黑"/>
                <a:ea typeface="微软雅黑"/>
              </a:rPr>
              <a:t>Generative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E5696"/>
                </a:solidFill>
                <a:latin typeface="微软雅黑"/>
                <a:ea typeface="微软雅黑"/>
              </a:rPr>
              <a:t>Agents</a:t>
            </a:r>
          </a:p>
        </p:txBody>
      </p:sp>
      <p:sp>
        <p:nvSpPr>
          <p:cNvPr id="36" name="Oval 35"/>
          <p:cNvSpPr/>
          <p:nvPr/>
        </p:nvSpPr>
        <p:spPr>
          <a:xfrm>
            <a:off x="4780026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: 2023.04"/>
          <p:cNvSpPr txBox="1"/>
          <p:nvPr/>
        </p:nvSpPr>
        <p:spPr>
          <a:xfrm>
            <a:off x="4373118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2023.04</a:t>
            </a:r>
          </a:p>
        </p:txBody>
      </p:sp>
      <p:sp>
        <p:nvSpPr>
          <p:cNvPr id="38" name="Text: 记忆、反思与规划"/>
          <p:cNvSpPr txBox="1"/>
          <p:nvPr/>
        </p:nvSpPr>
        <p:spPr>
          <a:xfrm>
            <a:off x="3851910" y="5340096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记忆、反思与规划</a:t>
            </a:r>
          </a:p>
        </p:txBody>
      </p:sp>
      <p:sp>
        <p:nvSpPr>
          <p:cNvPr id="39" name="Text: 用记忆、反思与规划 模拟虚拟角色行为"/>
          <p:cNvSpPr txBox="1"/>
          <p:nvPr/>
        </p:nvSpPr>
        <p:spPr>
          <a:xfrm>
            <a:off x="3851910" y="5715000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用记忆、反思与规划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模拟虚拟角色行为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2980944"/>
            <a:ext cx="0" cy="676656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6062472" y="3657600"/>
            <a:ext cx="0" cy="484632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pic>
        <p:nvPicPr>
          <p:cNvPr id="42" name="Official asset: metagpt_icon.png" descr="metagpt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4099" y="2039112"/>
            <a:ext cx="536744" cy="493776"/>
          </a:xfrm>
          <a:prstGeom prst="rect">
            <a:avLst/>
          </a:prstGeom>
        </p:spPr>
      </p:pic>
      <p:sp>
        <p:nvSpPr>
          <p:cNvPr id="43" name="Text: MetaGPT"/>
          <p:cNvSpPr txBox="1"/>
          <p:nvPr/>
        </p:nvSpPr>
        <p:spPr>
          <a:xfrm>
            <a:off x="5093208" y="2569464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MetaGPT</a:t>
            </a:r>
          </a:p>
        </p:txBody>
      </p:sp>
      <p:sp>
        <p:nvSpPr>
          <p:cNvPr id="44" name="Oval 43"/>
          <p:cNvSpPr/>
          <p:nvPr/>
        </p:nvSpPr>
        <p:spPr>
          <a:xfrm>
            <a:off x="6021324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: 2023.08"/>
          <p:cNvSpPr txBox="1"/>
          <p:nvPr/>
        </p:nvSpPr>
        <p:spPr>
          <a:xfrm>
            <a:off x="5614416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2023.08</a:t>
            </a:r>
          </a:p>
        </p:txBody>
      </p:sp>
      <p:sp>
        <p:nvSpPr>
          <p:cNvPr id="46" name="Text: 流程化多角色协作"/>
          <p:cNvSpPr txBox="1"/>
          <p:nvPr/>
        </p:nvSpPr>
        <p:spPr>
          <a:xfrm>
            <a:off x="5093208" y="4251960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流程化多角色协作</a:t>
            </a:r>
          </a:p>
        </p:txBody>
      </p:sp>
      <p:sp>
        <p:nvSpPr>
          <p:cNvPr id="47" name="Text: 以标准流程组织分工 实现协作式软件开发"/>
          <p:cNvSpPr txBox="1"/>
          <p:nvPr/>
        </p:nvSpPr>
        <p:spPr>
          <a:xfrm>
            <a:off x="5093208" y="4626864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以标准流程组织分工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实现协作式软件开发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03770" y="3648456"/>
            <a:ext cx="0" cy="9144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7303770" y="3657600"/>
            <a:ext cx="0" cy="1572768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sp>
        <p:nvSpPr>
          <p:cNvPr id="50" name="Text: Mixture-of- Agents"/>
          <p:cNvSpPr txBox="1"/>
          <p:nvPr/>
        </p:nvSpPr>
        <p:spPr>
          <a:xfrm>
            <a:off x="6334506" y="2971800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E5696"/>
                </a:solidFill>
                <a:latin typeface="微软雅黑"/>
                <a:ea typeface="微软雅黑"/>
              </a:rPr>
              <a:t>Mixture-of-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E5696"/>
                </a:solidFill>
                <a:latin typeface="微软雅黑"/>
                <a:ea typeface="微软雅黑"/>
              </a:rPr>
              <a:t>Agents</a:t>
            </a:r>
          </a:p>
        </p:txBody>
      </p:sp>
      <p:sp>
        <p:nvSpPr>
          <p:cNvPr id="51" name="Oval 50"/>
          <p:cNvSpPr/>
          <p:nvPr/>
        </p:nvSpPr>
        <p:spPr>
          <a:xfrm>
            <a:off x="7262622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: 2024.06"/>
          <p:cNvSpPr txBox="1"/>
          <p:nvPr/>
        </p:nvSpPr>
        <p:spPr>
          <a:xfrm>
            <a:off x="6855714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2024.06</a:t>
            </a:r>
          </a:p>
        </p:txBody>
      </p:sp>
      <p:sp>
        <p:nvSpPr>
          <p:cNvPr id="53" name="Text: 多模型分层聚合"/>
          <p:cNvSpPr txBox="1"/>
          <p:nvPr/>
        </p:nvSpPr>
        <p:spPr>
          <a:xfrm>
            <a:off x="6334506" y="5340096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多模型分层聚合</a:t>
            </a:r>
          </a:p>
        </p:txBody>
      </p:sp>
      <p:sp>
        <p:nvSpPr>
          <p:cNvPr id="54" name="Text: 分层聚合多模型回答 以协作改善生成结果"/>
          <p:cNvSpPr txBox="1"/>
          <p:nvPr/>
        </p:nvSpPr>
        <p:spPr>
          <a:xfrm>
            <a:off x="6334506" y="5715000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分层聚合多模型回答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以协作改善生成结果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545067" y="2980944"/>
            <a:ext cx="0" cy="676656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8545067" y="3657600"/>
            <a:ext cx="0" cy="484632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pic>
        <p:nvPicPr>
          <p:cNvPr id="57" name="Official asset: videomind_icon.png" descr="videomind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7" y="2039112"/>
            <a:ext cx="411480" cy="493776"/>
          </a:xfrm>
          <a:prstGeom prst="rect">
            <a:avLst/>
          </a:prstGeom>
        </p:spPr>
      </p:pic>
      <p:sp>
        <p:nvSpPr>
          <p:cNvPr id="58" name="Text: VideoMind"/>
          <p:cNvSpPr txBox="1"/>
          <p:nvPr/>
        </p:nvSpPr>
        <p:spPr>
          <a:xfrm>
            <a:off x="7575803" y="2569464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VideoMind</a:t>
            </a:r>
          </a:p>
        </p:txBody>
      </p:sp>
      <p:sp>
        <p:nvSpPr>
          <p:cNvPr id="59" name="Oval 58"/>
          <p:cNvSpPr/>
          <p:nvPr/>
        </p:nvSpPr>
        <p:spPr>
          <a:xfrm>
            <a:off x="8503919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: 2025.03"/>
          <p:cNvSpPr txBox="1"/>
          <p:nvPr/>
        </p:nvSpPr>
        <p:spPr>
          <a:xfrm>
            <a:off x="8097011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2025.03</a:t>
            </a:r>
          </a:p>
        </p:txBody>
      </p:sp>
      <p:sp>
        <p:nvSpPr>
          <p:cNvPr id="61" name="Text: 多模态视频推理"/>
          <p:cNvSpPr txBox="1"/>
          <p:nvPr/>
        </p:nvSpPr>
        <p:spPr>
          <a:xfrm>
            <a:off x="7575803" y="4251960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多模态视频推理</a:t>
            </a:r>
          </a:p>
        </p:txBody>
      </p:sp>
      <p:sp>
        <p:nvSpPr>
          <p:cNvPr id="62" name="Text: 结合规划、定位验证 实现时序定位推理"/>
          <p:cNvSpPr txBox="1"/>
          <p:nvPr/>
        </p:nvSpPr>
        <p:spPr>
          <a:xfrm>
            <a:off x="7575803" y="4626864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结合规划、定位验证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实现时序定位推理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786365" y="3474720"/>
            <a:ext cx="0" cy="182880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64" name="Connector 63"/>
          <p:cNvCxnSpPr/>
          <p:nvPr/>
        </p:nvCxnSpPr>
        <p:spPr>
          <a:xfrm>
            <a:off x="9786365" y="3657600"/>
            <a:ext cx="0" cy="1572768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sp>
        <p:nvSpPr>
          <p:cNvPr id="65" name="Text: BrowseMaster"/>
          <p:cNvSpPr txBox="1"/>
          <p:nvPr/>
        </p:nvSpPr>
        <p:spPr>
          <a:xfrm>
            <a:off x="8817101" y="3063240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BrowseMaster</a:t>
            </a:r>
          </a:p>
        </p:txBody>
      </p:sp>
      <p:sp>
        <p:nvSpPr>
          <p:cNvPr id="66" name="Oval 65"/>
          <p:cNvSpPr/>
          <p:nvPr/>
        </p:nvSpPr>
        <p:spPr>
          <a:xfrm>
            <a:off x="9745217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: 2025.08"/>
          <p:cNvSpPr txBox="1"/>
          <p:nvPr/>
        </p:nvSpPr>
        <p:spPr>
          <a:xfrm>
            <a:off x="9338309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2025.08</a:t>
            </a:r>
          </a:p>
        </p:txBody>
      </p:sp>
      <p:sp>
        <p:nvSpPr>
          <p:cNvPr id="68" name="Text: 复杂网页检索"/>
          <p:cNvSpPr txBox="1"/>
          <p:nvPr/>
        </p:nvSpPr>
        <p:spPr>
          <a:xfrm>
            <a:off x="8817101" y="5340096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复杂网页检索</a:t>
            </a:r>
          </a:p>
        </p:txBody>
      </p:sp>
      <p:sp>
        <p:nvSpPr>
          <p:cNvPr id="69" name="Text: 规划与执行模块分工 结合代码化网页搜索"/>
          <p:cNvSpPr txBox="1"/>
          <p:nvPr/>
        </p:nvSpPr>
        <p:spPr>
          <a:xfrm>
            <a:off x="8817101" y="5715000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规划与执行模块分工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结合代码化网页搜索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027663" y="2980944"/>
            <a:ext cx="0" cy="676656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cxnSp>
        <p:nvCxnSpPr>
          <p:cNvPr id="71" name="Connector 70"/>
          <p:cNvCxnSpPr/>
          <p:nvPr/>
        </p:nvCxnSpPr>
        <p:spPr>
          <a:xfrm>
            <a:off x="11027663" y="3657600"/>
            <a:ext cx="0" cy="484632"/>
          </a:xfrm>
          <a:prstGeom prst="line">
            <a:avLst/>
          </a:prstGeom>
          <a:ln w="13970">
            <a:solidFill>
              <a:srgbClr val="C62229"/>
            </a:solidFill>
          </a:ln>
        </p:spPr>
      </p:cxnSp>
      <p:sp>
        <p:nvSpPr>
          <p:cNvPr id="72" name="Text: Tool-R1"/>
          <p:cNvSpPr txBox="1"/>
          <p:nvPr/>
        </p:nvSpPr>
        <p:spPr>
          <a:xfrm>
            <a:off x="10058399" y="2569464"/>
            <a:ext cx="193852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E5696"/>
                </a:solidFill>
                <a:latin typeface="微软雅黑"/>
                <a:ea typeface="微软雅黑"/>
              </a:rPr>
              <a:t>Tool-R1</a:t>
            </a:r>
          </a:p>
        </p:txBody>
      </p:sp>
      <p:sp>
        <p:nvSpPr>
          <p:cNvPr id="73" name="Oval 72"/>
          <p:cNvSpPr/>
          <p:nvPr/>
        </p:nvSpPr>
        <p:spPr>
          <a:xfrm>
            <a:off x="10986515" y="3616452"/>
            <a:ext cx="82296" cy="82296"/>
          </a:xfrm>
          <a:prstGeom prst="ellipse">
            <a:avLst/>
          </a:prstGeom>
          <a:solidFill>
            <a:srgbClr val="C62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: 2025.09"/>
          <p:cNvSpPr txBox="1"/>
          <p:nvPr/>
        </p:nvSpPr>
        <p:spPr>
          <a:xfrm>
            <a:off x="10579607" y="3803904"/>
            <a:ext cx="896112" cy="29260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229"/>
                </a:solidFill>
                <a:latin typeface="微软雅黑"/>
                <a:ea typeface="微软雅黑"/>
              </a:rPr>
              <a:t>2025.09</a:t>
            </a:r>
          </a:p>
        </p:txBody>
      </p:sp>
      <p:sp>
        <p:nvSpPr>
          <p:cNvPr id="75" name="Text: 强化学习工具使用"/>
          <p:cNvSpPr txBox="1"/>
          <p:nvPr/>
        </p:nvSpPr>
        <p:spPr>
          <a:xfrm>
            <a:off x="10058399" y="4251960"/>
            <a:ext cx="1938528" cy="310896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2229"/>
                </a:solidFill>
                <a:latin typeface="微软雅黑"/>
                <a:ea typeface="微软雅黑"/>
              </a:rPr>
              <a:t>强化学习工具使用</a:t>
            </a:r>
          </a:p>
        </p:txBody>
      </p:sp>
      <p:sp>
        <p:nvSpPr>
          <p:cNvPr id="76" name="Text: 用样本高效强化学习 优化多步工具使用"/>
          <p:cNvSpPr txBox="1"/>
          <p:nvPr/>
        </p:nvSpPr>
        <p:spPr>
          <a:xfrm>
            <a:off x="10058399" y="4626864"/>
            <a:ext cx="1938528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用样本高效强化学习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优化多步工具使用</a:t>
            </a:r>
          </a:p>
        </p:txBody>
      </p:sp>
      <p:sp>
        <p:nvSpPr>
          <p:cNvPr id="77" name="Text: 内容据 Farooq et al., Information Fusion 13"/>
          <p:cNvSpPr txBox="1"/>
          <p:nvPr/>
        </p:nvSpPr>
        <p:spPr>
          <a:xfrm>
            <a:off x="576072" y="6400800"/>
            <a:ext cx="11109960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6666"/>
                </a:solidFill>
                <a:latin typeface="微软雅黑"/>
                <a:ea typeface="微软雅黑"/>
              </a:rPr>
              <a:t>内容据 Farooq et al., Information Fusion 136 (2026), 104444 作者公开时间轴筛选；日期逐项重核。详细来源见备注与 references.md。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6732" y="6547104"/>
            <a:ext cx="11462918" cy="310896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: 能力持续拓展，技术路线长期并行；以上为代表性节点，不是线性替代关系。"/>
          <p:cNvSpPr txBox="1"/>
          <p:nvPr/>
        </p:nvSpPr>
        <p:spPr>
          <a:xfrm>
            <a:off x="548640" y="6580022"/>
            <a:ext cx="11119104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微软雅黑"/>
                <a:ea typeface="微软雅黑"/>
              </a:rPr>
              <a:t>能力持续拓展，技术路线长期并行；以上为代表性节点，不是线性替代关系。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Agent 代表性工作演进路线（2022—2025）</dc:title>
  <dc:subject>代表性工作、首次公开月份与能力演进</dc:subject>
  <dc:creator>左金隆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