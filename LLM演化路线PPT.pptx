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65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21" d="100"/>
          <a:sy n="121" d="100"/>
        </p:scale>
        <p:origin x="46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8EEF44-A730-499D-9298-1428C52E75AF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AE188A-B76C-4A72-A364-1674A31B57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451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DE56B-F7DF-4AA6-805F-7724A66206C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5409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image" Target="../media/image7.png"/><Relationship Id="rId21" Type="http://schemas.openxmlformats.org/officeDocument/2006/relationships/tags" Target="../tags/tag21.xml"/><Relationship Id="rId34" Type="http://schemas.openxmlformats.org/officeDocument/2006/relationships/image" Target="../media/image2.png"/><Relationship Id="rId42" Type="http://schemas.openxmlformats.org/officeDocument/2006/relationships/image" Target="../media/image10.png"/><Relationship Id="rId47" Type="http://schemas.openxmlformats.org/officeDocument/2006/relationships/image" Target="../media/image15.pn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notesSlide" Target="../notesSlides/notesSlide1.xml"/><Relationship Id="rId37" Type="http://schemas.openxmlformats.org/officeDocument/2006/relationships/image" Target="../media/image5.png"/><Relationship Id="rId40" Type="http://schemas.openxmlformats.org/officeDocument/2006/relationships/image" Target="../media/image8.png"/><Relationship Id="rId45" Type="http://schemas.openxmlformats.org/officeDocument/2006/relationships/image" Target="../media/image13.jpe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image" Target="../media/image4.png"/><Relationship Id="rId49" Type="http://schemas.openxmlformats.org/officeDocument/2006/relationships/image" Target="../media/image17.png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slideLayout" Target="../slideLayouts/slideLayout1.xml"/><Relationship Id="rId44" Type="http://schemas.openxmlformats.org/officeDocument/2006/relationships/image" Target="../media/image12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image" Target="../media/image3.png"/><Relationship Id="rId43" Type="http://schemas.openxmlformats.org/officeDocument/2006/relationships/image" Target="../media/image11.GIF"/><Relationship Id="rId48" Type="http://schemas.openxmlformats.org/officeDocument/2006/relationships/image" Target="../media/image16.png"/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image" Target="../media/image1.png"/><Relationship Id="rId38" Type="http://schemas.openxmlformats.org/officeDocument/2006/relationships/image" Target="../media/image6.png"/><Relationship Id="rId46" Type="http://schemas.openxmlformats.org/officeDocument/2006/relationships/image" Target="../media/image14.GIF"/><Relationship Id="rId20" Type="http://schemas.openxmlformats.org/officeDocument/2006/relationships/tags" Target="../tags/tag20.xml"/><Relationship Id="rId41" Type="http://schemas.openxmlformats.org/officeDocument/2006/relationships/image" Target="../media/image9.GIF"/><Relationship Id="rId1" Type="http://schemas.openxmlformats.org/officeDocument/2006/relationships/tags" Target="../tags/tag1.xml"/><Relationship Id="rId6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矩形: 圆角 9"/>
          <p:cNvSpPr/>
          <p:nvPr/>
        </p:nvSpPr>
        <p:spPr>
          <a:xfrm>
            <a:off x="481965" y="2474595"/>
            <a:ext cx="11345545" cy="3788410"/>
          </a:xfrm>
          <a:prstGeom prst="roundRect">
            <a:avLst>
              <a:gd name="adj" fmla="val 6277"/>
            </a:avLst>
          </a:prstGeom>
          <a:solidFill>
            <a:srgbClr val="2E5696">
              <a:alpha val="40000"/>
            </a:srgbClr>
          </a:solidFill>
          <a:ln w="28575">
            <a:solidFill>
              <a:srgbClr val="2E569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3" name="矩形: 圆角 4"/>
          <p:cNvSpPr/>
          <p:nvPr/>
        </p:nvSpPr>
        <p:spPr>
          <a:xfrm>
            <a:off x="560068" y="2523609"/>
            <a:ext cx="11195770" cy="3672374"/>
          </a:xfrm>
          <a:prstGeom prst="roundRect">
            <a:avLst>
              <a:gd name="adj" fmla="val 6277"/>
            </a:avLst>
          </a:prstGeom>
          <a:solidFill>
            <a:schemeClr val="bg1"/>
          </a:solidFill>
          <a:ln w="28575" cmpd="sng">
            <a:solidFill>
              <a:schemeClr val="accent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复旦：</a:t>
            </a:r>
            <a:r>
              <a:rPr lang="en-US" altLang="zh-CN" noProof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MOSS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608884" y="4502724"/>
            <a:ext cx="10962401" cy="0"/>
          </a:xfrm>
          <a:prstGeom prst="straightConnector1">
            <a:avLst/>
          </a:prstGeom>
          <a:ln w="3810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7"/>
          <p:cNvCxnSpPr/>
          <p:nvPr/>
        </p:nvCxnSpPr>
        <p:spPr>
          <a:xfrm flipV="1">
            <a:off x="662403" y="3425640"/>
            <a:ext cx="2540" cy="1077085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oval"/>
            <a:tailEnd type="oval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71525" y="4114058"/>
            <a:ext cx="11975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2018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-2020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GPT-1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44375" y="4674147"/>
            <a:ext cx="1091543" cy="233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Straight Connector 7"/>
          <p:cNvCxnSpPr/>
          <p:nvPr/>
        </p:nvCxnSpPr>
        <p:spPr>
          <a:xfrm flipH="1" flipV="1">
            <a:off x="4666874" y="3548633"/>
            <a:ext cx="635" cy="958484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oval"/>
            <a:tailEnd type="oval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7"/>
          <p:cNvCxnSpPr/>
          <p:nvPr/>
        </p:nvCxnSpPr>
        <p:spPr>
          <a:xfrm flipV="1">
            <a:off x="2897822" y="3595225"/>
            <a:ext cx="6350" cy="905840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oval"/>
            <a:tailEnd type="oval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7"/>
          <p:cNvCxnSpPr/>
          <p:nvPr/>
        </p:nvCxnSpPr>
        <p:spPr>
          <a:xfrm flipH="1" flipV="1">
            <a:off x="1777925" y="4507720"/>
            <a:ext cx="5715" cy="759405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oval"/>
            <a:tailEnd type="oval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2891094" y="3559969"/>
            <a:ext cx="1405062" cy="8846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just">
              <a:defRPr sz="1000"/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首次公布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能够对话的GPT版本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）。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9110" y="1529080"/>
            <a:ext cx="86956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60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大语言模型作为基于互联网可用数据训练的文本生成模型，通过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自主学习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语言的结构、语义和上下文关系，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创造性地生成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复杂而富有逻辑的文字，为科学研究和社会进步注入了前所未有的智慧和创新。其影响力超越了单一领域，成为推动人类智能与发展的重要里程碑。</a:t>
            </a:r>
          </a:p>
        </p:txBody>
      </p:sp>
      <p:sp>
        <p:nvSpPr>
          <p:cNvPr id="19" name="文本框 57"/>
          <p:cNvSpPr txBox="1"/>
          <p:nvPr/>
        </p:nvSpPr>
        <p:spPr>
          <a:xfrm>
            <a:off x="364292" y="1096551"/>
            <a:ext cx="7416824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342900" indent="-342900">
              <a:buClr>
                <a:srgbClr val="9900FF"/>
              </a:buClr>
              <a:buFont typeface="Wingdings" panose="05000000000000000000" pitchFamily="2" charset="2"/>
              <a:buChar char="n"/>
              <a:defRPr sz="24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FF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大语言模型</a:t>
            </a:r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863180" y="3180883"/>
            <a:ext cx="908207" cy="242743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"/>
            </p:custDataLst>
          </p:nvPr>
        </p:nvSpPr>
        <p:spPr>
          <a:xfrm>
            <a:off x="2932955" y="4114058"/>
            <a:ext cx="1282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ChatGPT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4"/>
          <a:srcRect l="3533" t="6610" r="5231" b="41577"/>
          <a:stretch>
            <a:fillRect/>
          </a:stretch>
        </p:blipFill>
        <p:spPr>
          <a:xfrm>
            <a:off x="2718558" y="2567940"/>
            <a:ext cx="2005965" cy="882015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5"/>
          <a:srcRect l="10968" t="36341" r="11613" b="23790"/>
          <a:stretch>
            <a:fillRect/>
          </a:stretch>
        </p:blipFill>
        <p:spPr>
          <a:xfrm>
            <a:off x="6245668" y="3619583"/>
            <a:ext cx="1295400" cy="30861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5465807" y="5053298"/>
            <a:ext cx="1624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000"/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百度：文心一言</a:t>
            </a:r>
          </a:p>
        </p:txBody>
      </p:sp>
      <p:sp>
        <p:nvSpPr>
          <p:cNvPr id="25" name="文本框 24"/>
          <p:cNvSpPr txBox="1"/>
          <p:nvPr>
            <p:custDataLst>
              <p:tags r:id="rId6"/>
            </p:custDataLst>
          </p:nvPr>
        </p:nvSpPr>
        <p:spPr>
          <a:xfrm>
            <a:off x="7541464" y="3662982"/>
            <a:ext cx="572463" cy="2342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just">
              <a:defRPr sz="1000"/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7"/>
            </p:custDataLst>
          </p:nvPr>
        </p:nvSpPr>
        <p:spPr>
          <a:xfrm>
            <a:off x="5970000" y="3135460"/>
            <a:ext cx="110255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000"/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斯坦福：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Alpaca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5204254" y="5017809"/>
            <a:ext cx="291465" cy="33401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6058640" y="5274249"/>
            <a:ext cx="501931" cy="41919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7050945" y="3073865"/>
            <a:ext cx="388620" cy="368300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9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29262" y="4999527"/>
            <a:ext cx="320730" cy="278593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9255995" y="1145374"/>
            <a:ext cx="1580680" cy="1202101"/>
          </a:xfrm>
          <a:prstGeom prst="rect">
            <a:avLst/>
          </a:prstGeom>
        </p:spPr>
      </p:pic>
      <p:pic>
        <p:nvPicPr>
          <p:cNvPr id="33" name="图片 32" descr="背景图案&#10;&#10;描述已自动生成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10925175" y="1157323"/>
            <a:ext cx="879758" cy="1169436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13"/>
            </p:custDataLst>
          </p:nvPr>
        </p:nvSpPr>
        <p:spPr>
          <a:xfrm>
            <a:off x="4717341" y="3337641"/>
            <a:ext cx="135019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000"/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发布了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LLaMA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系列的第一个版本，即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LLaMA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，并实现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</a:t>
            </a:r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81794" y="2887229"/>
            <a:ext cx="705313" cy="423422"/>
          </a:xfrm>
          <a:prstGeom prst="rect">
            <a:avLst/>
          </a:prstGeom>
        </p:spPr>
      </p:pic>
      <p:cxnSp>
        <p:nvCxnSpPr>
          <p:cNvPr id="36" name="Straight Connector 7"/>
          <p:cNvCxnSpPr/>
          <p:nvPr/>
        </p:nvCxnSpPr>
        <p:spPr>
          <a:xfrm flipH="1" flipV="1">
            <a:off x="8460600" y="3536851"/>
            <a:ext cx="635" cy="958484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oval"/>
            <a:tailEnd type="oval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10018087" y="2768344"/>
            <a:ext cx="794002" cy="88466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just">
              <a:defRPr sz="1000"/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GPT-4o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1.8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万亿参数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）比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GPT-4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快两倍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，价格仅为其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50%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15"/>
            </p:custDataLst>
          </p:nvPr>
        </p:nvSpPr>
        <p:spPr>
          <a:xfrm>
            <a:off x="8789685" y="4105160"/>
            <a:ext cx="1282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Sora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GPT-4o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Picture 2" descr="热点，GPT-4o，A，IOpenAI，行业动态"/>
          <p:cNvPicPr>
            <a:picLocks noChangeAspect="1" noChangeArrowheads="1"/>
          </p:cNvPicPr>
          <p:nvPr/>
        </p:nvPicPr>
        <p:blipFill rotWithShape="1"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695" r="36742"/>
          <a:stretch>
            <a:fillRect/>
          </a:stretch>
        </p:blipFill>
        <p:spPr bwMode="auto">
          <a:xfrm flipH="1">
            <a:off x="10844471" y="2772866"/>
            <a:ext cx="672699" cy="851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文本框 39"/>
          <p:cNvSpPr txBox="1"/>
          <p:nvPr>
            <p:custDataLst>
              <p:tags r:id="rId16"/>
            </p:custDataLst>
          </p:nvPr>
        </p:nvSpPr>
        <p:spPr>
          <a:xfrm>
            <a:off x="9431335" y="4533785"/>
            <a:ext cx="12827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DeepSeek-R1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Straight Connector 7"/>
          <p:cNvCxnSpPr/>
          <p:nvPr/>
        </p:nvCxnSpPr>
        <p:spPr>
          <a:xfrm flipH="1" flipV="1">
            <a:off x="9576550" y="4528014"/>
            <a:ext cx="5715" cy="759405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oval"/>
            <a:tailEnd type="oval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0215875" y="4943705"/>
            <a:ext cx="1152525" cy="285750"/>
          </a:xfrm>
          <a:prstGeom prst="rect">
            <a:avLst/>
          </a:prstGeom>
        </p:spPr>
      </p:pic>
      <p:sp>
        <p:nvSpPr>
          <p:cNvPr id="43" name="矩形: 圆角 42"/>
          <p:cNvSpPr/>
          <p:nvPr/>
        </p:nvSpPr>
        <p:spPr>
          <a:xfrm>
            <a:off x="735450" y="3899942"/>
            <a:ext cx="586469" cy="18713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GPT-1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44" name="矩形: 圆角 43"/>
          <p:cNvSpPr/>
          <p:nvPr/>
        </p:nvSpPr>
        <p:spPr>
          <a:xfrm>
            <a:off x="1413678" y="3710357"/>
            <a:ext cx="586469" cy="37672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GPT-2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45" name="矩形: 圆角 44"/>
          <p:cNvSpPr/>
          <p:nvPr/>
        </p:nvSpPr>
        <p:spPr>
          <a:xfrm>
            <a:off x="2091905" y="3093315"/>
            <a:ext cx="586469" cy="9937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GPT-3</a:t>
            </a:r>
            <a:endParaRPr kumimoji="0" lang="zh-CN" altLang="en-US" sz="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Arial" panose="020B0604020202020204" pitchFamily="34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62569" y="3644827"/>
            <a:ext cx="5597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1.17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亿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1485673" y="3447406"/>
            <a:ext cx="4539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15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亿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067866" y="2844650"/>
            <a:ext cx="5950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Arial" panose="020B0604020202020204" pitchFamily="34" charset="0"/>
              </a:rPr>
              <a:t>1750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亿</a:t>
            </a:r>
          </a:p>
        </p:txBody>
      </p:sp>
      <p:sp>
        <p:nvSpPr>
          <p:cNvPr id="49" name="文本框 48"/>
          <p:cNvSpPr txBox="1"/>
          <p:nvPr/>
        </p:nvSpPr>
        <p:spPr>
          <a:xfrm>
            <a:off x="1763753" y="4533158"/>
            <a:ext cx="14006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2021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PLUG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、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PanGu-α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547277" y="5429277"/>
            <a:ext cx="1405062" cy="5213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just">
              <a:defRPr sz="1000"/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日华为发布业内首个全开源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2000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亿参数中文预训练语言模型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PanGu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-α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1" name="Picture 2" descr="华为发布人工智能开发平台「HiKey 970」，提供更强大的 AI 算力 | 雷锋网"/>
          <p:cNvPicPr>
            <a:picLocks noChangeAspect="1" noChangeArrowheads="1"/>
          </p:cNvPicPr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9067" y="5762203"/>
            <a:ext cx="332150" cy="332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4" descr="阿里巴巴LOGO"/>
          <p:cNvPicPr>
            <a:picLocks noChangeAspect="1" noChangeArrowheads="1"/>
          </p:cNvPicPr>
          <p:nvPr/>
        </p:nvPicPr>
        <p:blipFill rotWithShape="1">
          <a:blip r:embed="rId4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8" t="38413" r="4946" b="35978"/>
          <a:stretch>
            <a:fillRect/>
          </a:stretch>
        </p:blipFill>
        <p:spPr bwMode="auto">
          <a:xfrm>
            <a:off x="1031535" y="5464923"/>
            <a:ext cx="1077836" cy="258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文本框 52"/>
          <p:cNvSpPr txBox="1"/>
          <p:nvPr/>
        </p:nvSpPr>
        <p:spPr>
          <a:xfrm>
            <a:off x="1836249" y="5020455"/>
            <a:ext cx="1405062" cy="5213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just">
              <a:defRPr sz="1000"/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日阿里巴巴达摩院发布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270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亿参数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PLUG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17"/>
            </p:custDataLst>
          </p:nvPr>
        </p:nvSpPr>
        <p:spPr>
          <a:xfrm>
            <a:off x="4847727" y="4114058"/>
            <a:ext cx="10933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LLaMA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18"/>
            </p:custDataLst>
          </p:nvPr>
        </p:nvSpPr>
        <p:spPr>
          <a:xfrm>
            <a:off x="3770362" y="4533158"/>
            <a:ext cx="10933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MOSS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9"/>
            </p:custDataLst>
          </p:nvPr>
        </p:nvSpPr>
        <p:spPr>
          <a:xfrm>
            <a:off x="4284093" y="4954158"/>
            <a:ext cx="84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000"/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复旦大学发布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MOSS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20"/>
            </p:custDataLst>
          </p:nvPr>
        </p:nvSpPr>
        <p:spPr>
          <a:xfrm>
            <a:off x="6518280" y="5233193"/>
            <a:ext cx="108127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000"/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清华大学智谱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ChatGLM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，并开源</a:t>
            </a:r>
          </a:p>
        </p:txBody>
      </p:sp>
      <p:sp>
        <p:nvSpPr>
          <p:cNvPr id="58" name="文本框 57"/>
          <p:cNvSpPr txBox="1"/>
          <p:nvPr>
            <p:custDataLst>
              <p:tags r:id="rId21"/>
            </p:custDataLst>
          </p:nvPr>
        </p:nvSpPr>
        <p:spPr>
          <a:xfrm>
            <a:off x="6067315" y="4114058"/>
            <a:ext cx="17018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Alpaca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GPT-4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9" name="Straight Connector 7"/>
          <p:cNvCxnSpPr/>
          <p:nvPr/>
        </p:nvCxnSpPr>
        <p:spPr>
          <a:xfrm flipH="1" flipV="1">
            <a:off x="3747137" y="4507720"/>
            <a:ext cx="5715" cy="759405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oval"/>
            <a:tailEnd type="oval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7"/>
          <p:cNvCxnSpPr/>
          <p:nvPr/>
        </p:nvCxnSpPr>
        <p:spPr>
          <a:xfrm flipH="1" flipV="1">
            <a:off x="5109094" y="4507720"/>
            <a:ext cx="5715" cy="759405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oval"/>
            <a:tailEnd type="oval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>
            <p:custDataLst>
              <p:tags r:id="rId22"/>
            </p:custDataLst>
          </p:nvPr>
        </p:nvSpPr>
        <p:spPr>
          <a:xfrm>
            <a:off x="7428479" y="3082857"/>
            <a:ext cx="849238" cy="3393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just">
              <a:defRPr sz="1000"/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</a:t>
            </a:r>
            <a:r>
              <a:rPr kumimoji="0" lang="en-US" altLang="zh-CN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LLamA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7B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微调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23"/>
            </p:custDataLst>
          </p:nvPr>
        </p:nvSpPr>
        <p:spPr>
          <a:xfrm>
            <a:off x="5292212" y="4494594"/>
            <a:ext cx="22842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-12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文心一言、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盘古大模型、</a:t>
            </a:r>
            <a:r>
              <a:rPr kumimoji="0" lang="en-US" altLang="zh-CN" sz="10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ChatGLM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24"/>
            </p:custDataLst>
          </p:nvPr>
        </p:nvSpPr>
        <p:spPr>
          <a:xfrm>
            <a:off x="5252740" y="5838394"/>
            <a:ext cx="17953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000"/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盘古大模型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3.0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面向行业应用</a:t>
            </a: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940149" y="5811782"/>
            <a:ext cx="291465" cy="302895"/>
          </a:xfrm>
          <a:prstGeom prst="rect">
            <a:avLst/>
          </a:prstGeom>
        </p:spPr>
      </p:pic>
      <p:sp>
        <p:nvSpPr>
          <p:cNvPr id="65" name="文本框 64"/>
          <p:cNvSpPr txBox="1"/>
          <p:nvPr/>
        </p:nvSpPr>
        <p:spPr>
          <a:xfrm>
            <a:off x="9734165" y="3852401"/>
            <a:ext cx="1996910" cy="26804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just">
              <a:defRPr sz="1000"/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推理模型拉开了文理分科的帷幕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25"/>
            </p:custDataLst>
          </p:nvPr>
        </p:nvSpPr>
        <p:spPr>
          <a:xfrm>
            <a:off x="8625618" y="3623391"/>
            <a:ext cx="1143635" cy="5510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Sora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的发布推动生成式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向多模态融合方向演进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67" name="图片 66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4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4983" y="2916636"/>
            <a:ext cx="1373505" cy="665480"/>
          </a:xfrm>
          <a:prstGeom prst="rect">
            <a:avLst/>
          </a:prstGeom>
        </p:spPr>
      </p:pic>
      <p:sp>
        <p:nvSpPr>
          <p:cNvPr id="68" name="文本框 67"/>
          <p:cNvSpPr txBox="1"/>
          <p:nvPr/>
        </p:nvSpPr>
        <p:spPr>
          <a:xfrm>
            <a:off x="9734397" y="5866183"/>
            <a:ext cx="1896199" cy="27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导致英伟达股价短期暴跌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18%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9706665" y="5483846"/>
            <a:ext cx="1059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性能超越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GPT-4o</a:t>
            </a:r>
            <a:endParaRPr kumimoji="0" lang="zh-CN" altLang="en-US" sz="9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10961445" y="5566835"/>
            <a:ext cx="6463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75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代码开源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10691303" y="5295573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低成本部署</a:t>
            </a:r>
          </a:p>
        </p:txBody>
      </p:sp>
      <p:cxnSp>
        <p:nvCxnSpPr>
          <p:cNvPr id="72" name="Straight Connector 7"/>
          <p:cNvCxnSpPr/>
          <p:nvPr/>
        </p:nvCxnSpPr>
        <p:spPr>
          <a:xfrm flipH="1" flipV="1">
            <a:off x="7576369" y="4494594"/>
            <a:ext cx="5715" cy="759405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oval"/>
            <a:tailEnd type="oval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/>
          <p:cNvSpPr txBox="1"/>
          <p:nvPr>
            <p:custDataLst>
              <p:tags r:id="rId27"/>
            </p:custDataLst>
          </p:nvPr>
        </p:nvSpPr>
        <p:spPr>
          <a:xfrm>
            <a:off x="8002585" y="4494594"/>
            <a:ext cx="13570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通义千问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72-B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成为全球最强开源大模型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4" name="Picture 8" descr="通义千问"/>
          <p:cNvPicPr>
            <a:picLocks noChangeAspect="1" noChangeArrowheads="1"/>
          </p:cNvPicPr>
          <p:nvPr/>
        </p:nvPicPr>
        <p:blipFill rotWithShape="1"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753"/>
          <a:stretch>
            <a:fillRect/>
          </a:stretch>
        </p:blipFill>
        <p:spPr bwMode="auto">
          <a:xfrm>
            <a:off x="7844121" y="5317622"/>
            <a:ext cx="349111" cy="338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文本框 74"/>
          <p:cNvSpPr txBox="1"/>
          <p:nvPr>
            <p:custDataLst>
              <p:tags r:id="rId28"/>
            </p:custDataLst>
          </p:nvPr>
        </p:nvSpPr>
        <p:spPr>
          <a:xfrm>
            <a:off x="8255635" y="5222754"/>
            <a:ext cx="108127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just">
              <a:defRPr sz="1000"/>
            </a:lvl1pPr>
          </a:lstStyle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阿里通义千问</a:t>
            </a:r>
            <a:r>
              <a:rPr kumimoji="0" lang="en-US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Qwen2-72B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的开源</a:t>
            </a:r>
            <a:r>
              <a: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标志着中国在开源大模型领域的国际竞争力</a:t>
            </a:r>
          </a:p>
        </p:txBody>
      </p:sp>
      <p:sp>
        <p:nvSpPr>
          <p:cNvPr id="76" name="矩形 75"/>
          <p:cNvSpPr/>
          <p:nvPr/>
        </p:nvSpPr>
        <p:spPr>
          <a:xfrm>
            <a:off x="698898" y="2644598"/>
            <a:ext cx="1057696" cy="4147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国 际</a:t>
            </a:r>
          </a:p>
        </p:txBody>
      </p:sp>
      <p:sp>
        <p:nvSpPr>
          <p:cNvPr id="77" name="矩形 76"/>
          <p:cNvSpPr/>
          <p:nvPr/>
        </p:nvSpPr>
        <p:spPr>
          <a:xfrm>
            <a:off x="698194" y="4626409"/>
            <a:ext cx="1058400" cy="41476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国 内</a:t>
            </a:r>
          </a:p>
        </p:txBody>
      </p:sp>
      <p:cxnSp>
        <p:nvCxnSpPr>
          <p:cNvPr id="78" name="Straight Connector 7"/>
          <p:cNvCxnSpPr/>
          <p:nvPr/>
        </p:nvCxnSpPr>
        <p:spPr>
          <a:xfrm flipV="1">
            <a:off x="6011556" y="3128726"/>
            <a:ext cx="0" cy="1351896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oval"/>
            <a:tailEnd type="oval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>
            <p:custDataLst>
              <p:tags r:id="rId29"/>
            </p:custDataLst>
          </p:nvPr>
        </p:nvSpPr>
        <p:spPr>
          <a:xfrm>
            <a:off x="9540636" y="4094484"/>
            <a:ext cx="23023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OpenAI o1</a:t>
            </a:r>
            <a:r>
              <a:rPr lang="zh-CN" altLang="en-US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Grok3</a:t>
            </a:r>
            <a:r>
              <a:rPr lang="zh-CN" altLang="en-US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endParaRPr lang="en-US" altLang="zh-CN" sz="10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Gemini 2.0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9931478" y="4038412"/>
            <a:ext cx="1421987" cy="474344"/>
          </a:xfrm>
          <a:prstGeom prst="ellipse">
            <a:avLst/>
          </a:prstGeom>
          <a:noFill/>
          <a:ln w="15875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8"/>
          <p:cNvSpPr/>
          <p:nvPr>
            <p:custDataLst>
              <p:tags r:id="rId30"/>
            </p:custDataLst>
          </p:nvPr>
        </p:nvSpPr>
        <p:spPr>
          <a:xfrm>
            <a:off x="376991" y="6330537"/>
            <a:ext cx="11463019" cy="502920"/>
          </a:xfrm>
          <a:prstGeom prst="rect">
            <a:avLst/>
          </a:prstGeom>
          <a:solidFill>
            <a:srgbClr val="2E569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大语言模型呈现出“百模大战”的竞争态势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4082" y="475330"/>
            <a:ext cx="496852" cy="496851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8878" y="741735"/>
            <a:ext cx="331236" cy="331236"/>
          </a:xfrm>
          <a:prstGeom prst="rect">
            <a:avLst/>
          </a:prstGeom>
          <a:solidFill>
            <a:srgbClr val="2E5696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705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TextBox 28"/>
          <p:cNvSpPr txBox="1"/>
          <p:nvPr/>
        </p:nvSpPr>
        <p:spPr>
          <a:xfrm>
            <a:off x="830710" y="420752"/>
            <a:ext cx="8452590" cy="722093"/>
          </a:xfrm>
          <a:prstGeom prst="rect">
            <a:avLst/>
          </a:prstGeom>
          <a:noFill/>
        </p:spPr>
        <p:txBody>
          <a:bodyPr wrap="square" lIns="105509" tIns="52755" rIns="105509" bIns="52755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4000" b="1" i="0" u="none" strike="noStrike" kern="1200" cap="none" spc="600" normalizeH="0" baseline="0" noProof="0" dirty="0">
                <a:ln>
                  <a:noFill/>
                </a:ln>
                <a:solidFill>
                  <a:srgbClr val="2E56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大模型的</a:t>
            </a:r>
            <a:r>
              <a:rPr kumimoji="0" lang="zh-CN" altLang="en-US" sz="4000" b="1" i="0" u="none" strike="noStrike" kern="1200" cap="none" spc="600" normalizeH="0" baseline="0" noProof="0" dirty="0">
                <a:ln>
                  <a:noFill/>
                </a:ln>
                <a:solidFill>
                  <a:srgbClr val="2E56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发展历程</a:t>
            </a:r>
            <a:r>
              <a:rPr kumimoji="0" lang="en-US" altLang="zh-CN" sz="4000" b="1" i="0" u="none" strike="noStrike" kern="1200" cap="none" spc="600" normalizeH="0" baseline="0" noProof="0" dirty="0">
                <a:ln>
                  <a:noFill/>
                </a:ln>
                <a:solidFill>
                  <a:srgbClr val="2E56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—</a:t>
            </a:r>
            <a:r>
              <a:rPr kumimoji="0" lang="zh-CN" altLang="en-US" sz="4000" b="1" i="0" u="none" strike="noStrike" kern="1200" cap="none" spc="600" normalizeH="0" baseline="0" noProof="0" dirty="0">
                <a:ln>
                  <a:noFill/>
                </a:ln>
                <a:solidFill>
                  <a:srgbClr val="2E569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国内外对比</a:t>
            </a:r>
            <a:endParaRPr kumimoji="0" lang="zh-CN" altLang="zh-CN" sz="4000" b="1" i="0" u="none" strike="noStrike" kern="1200" cap="none" spc="600" normalizeH="0" baseline="0" noProof="0" dirty="0">
              <a:ln>
                <a:noFill/>
              </a:ln>
              <a:solidFill>
                <a:srgbClr val="2E569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7" name="直接连接符 46"/>
          <p:cNvCxnSpPr>
            <a:cxnSpLocks noChangeShapeType="1"/>
          </p:cNvCxnSpPr>
          <p:nvPr/>
        </p:nvCxnSpPr>
        <p:spPr bwMode="auto">
          <a:xfrm flipH="1">
            <a:off x="810340" y="1072869"/>
            <a:ext cx="11135003" cy="0"/>
          </a:xfrm>
          <a:prstGeom prst="line">
            <a:avLst/>
          </a:prstGeom>
          <a:noFill/>
          <a:ln w="9525" cmpd="sng">
            <a:solidFill>
              <a:srgbClr val="4D4948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523</Words>
  <Application>Microsoft Office PowerPoint</Application>
  <PresentationFormat>宽屏</PresentationFormat>
  <Paragraphs>55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微软雅黑</vt:lpstr>
      <vt:lpstr>Arial</vt:lpstr>
      <vt:lpstr>Calibri</vt:lpstr>
      <vt:lpstr>Wingdings</vt:lpstr>
      <vt:lpstr>WPS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刘十三</dc:creator>
  <cp:lastModifiedBy>十三 刘</cp:lastModifiedBy>
  <cp:revision>5</cp:revision>
  <dcterms:created xsi:type="dcterms:W3CDTF">2023-08-09T12:44:00Z</dcterms:created>
  <dcterms:modified xsi:type="dcterms:W3CDTF">2026-10-22T01:56:22Z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