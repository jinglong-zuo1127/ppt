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heme/theme3.xml" ContentType="application/vnd.openxmlformats-officedocument.theme+xml"/>
  <Override PartName="/ppt/tags/tag62.xml" ContentType="application/vnd.openxmlformats-officedocument.presentationml.tags+xml"/>
  <Override PartName="/ppt/notesSlides/notesSlide1.xml" ContentType="application/vnd.openxmlformats-officedocument.presentationml.notesSlide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notesSlides/notesSlide10.xml" ContentType="application/vnd.openxmlformats-officedocument.presentationml.notesSlide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60" r:id="rId2"/>
  </p:sldMasterIdLst>
  <p:notesMasterIdLst>
    <p:notesMasterId r:id="rId22"/>
  </p:notesMasterIdLst>
  <p:sldIdLst>
    <p:sldId id="2747" r:id="rId3"/>
    <p:sldId id="2753" r:id="rId4"/>
    <p:sldId id="2900" r:id="rId5"/>
    <p:sldId id="2903" r:id="rId6"/>
    <p:sldId id="2940" r:id="rId7"/>
    <p:sldId id="2936" r:id="rId8"/>
    <p:sldId id="2937" r:id="rId9"/>
    <p:sldId id="2938" r:id="rId10"/>
    <p:sldId id="2939" r:id="rId11"/>
    <p:sldId id="2941" r:id="rId12"/>
    <p:sldId id="2942" r:id="rId13"/>
    <p:sldId id="2924" r:id="rId14"/>
    <p:sldId id="2926" r:id="rId15"/>
    <p:sldId id="2927" r:id="rId16"/>
    <p:sldId id="2928" r:id="rId17"/>
    <p:sldId id="2929" r:id="rId18"/>
    <p:sldId id="2930" r:id="rId19"/>
    <p:sldId id="2931" r:id="rId20"/>
    <p:sldId id="2932" r:id="rId2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Mia Vida Villanueva" initials="MVV" lastIdx="1" clrIdx="0"/>
  <p:cmAuthor id="1" name="hu gz" initials="hg" lastIdx="1" clrIdx="0"/>
  <p:cmAuthor id="2" name="Lenovo" initials="L" lastIdx="3" clrIdx="1"/>
  <p:cmAuthor id="3" name="jinch" initials="j" lastIdx="2" clrIdx="2"/>
  <p:cmAuthor id="4" name="Administrator" initials="A" lastIdx="2" clrIdx="3"/>
  <p:cmAuthor id="5" name="宋洁然" initials="宋" lastIdx="2" clrIdx="1"/>
  <p:cmAuthor id="6" name="ming qiu" initials="m" lastIdx="17" clrIdx="1"/>
  <p:cmAuthor id="7" name="1206988966@qq.com" initials="1" lastIdx="1" clrIdx="2"/>
  <p:cmAuthor id="8" name="姜伟光" initials="姜" lastIdx="1" clrIdx="0"/>
  <p:cmAuthor id="9" name="wang zhi_q" initials="wz" lastIdx="1" clrIdx="4"/>
  <p:cmAuthor id="10" name="yin yp" initials="yy" lastIdx="2" clrIdx="5"/>
  <p:cmAuthor id="12" name="guoqiliu" initials="g" lastIdx="1" clrIdx="11"/>
  <p:cmAuthor id="75" name="作者" initials="A" lastIdx="0" clrIdx="24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0C0F0"/>
    <a:srgbClr val="7F7F7F"/>
    <a:srgbClr val="496681"/>
    <a:srgbClr val="012E57"/>
    <a:srgbClr val="006FC0"/>
    <a:srgbClr val="2E5696"/>
    <a:srgbClr val="E94520"/>
    <a:srgbClr val="5E75BA"/>
    <a:srgbClr val="F7B8AA"/>
    <a:srgbClr val="EB573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709" autoAdjust="0"/>
    <p:restoredTop sz="91014" autoAdjust="0"/>
  </p:normalViewPr>
  <p:slideViewPr>
    <p:cSldViewPr snapToGrid="0">
      <p:cViewPr varScale="1">
        <p:scale>
          <a:sx n="84" d="100"/>
          <a:sy n="84" d="100"/>
        </p:scale>
        <p:origin x="422" y="72"/>
      </p:cViewPr>
      <p:guideLst/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heme" Target="theme/theme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commentAuthors" Target="commentAuthor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136A28B-738B-4E37-B19E-B143BA65F792}" type="datetimeFigureOut">
              <a:rPr lang="zh-CN" altLang="en-US" smtClean="0"/>
              <a:t>2026/10/20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ADDE56B-F7DF-4AA6-805F-7724A66206C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DDE56B-F7DF-4AA6-805F-7724A66206C9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55012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5" name="幻灯片图像占位符 1"/>
          <p:cNvSpPr>
            <a:spLocks noGrp="1" noRot="1" noChangeAspect="1" noChangeArrowheads="1" noTextEdit="1"/>
          </p:cNvSpPr>
          <p:nvPr>
            <p:ph type="sldImg" idx="4294967295"/>
          </p:nvPr>
        </p:nvSpPr>
        <p:spPr bwMode="auto">
          <a:ln>
            <a:solidFill>
              <a:srgbClr val="000000"/>
            </a:solidFill>
            <a:miter lim="800000"/>
          </a:ln>
        </p:spPr>
      </p:sp>
      <p:sp>
        <p:nvSpPr>
          <p:cNvPr id="1048616" name="备注占位符 2"/>
          <p:cNvSpPr>
            <a:spLocks noGrp="1" noChangeArrowheads="1"/>
          </p:cNvSpPr>
          <p:nvPr>
            <p:ph type="body" idx="4294967295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1048617" name="灯片编号占位符 3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fld id="{D187E539-6E0C-4F04-9EF5-524544FD9139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+mn-cs"/>
              </a:rPr>
              <a:t>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DEA10E-2A84-8619-EC01-19D761B0D0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1A852BD-442D-352C-1359-51CEF9E109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AB062CF-F128-C425-DB5E-D8D0C569D5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zh-CN" dirty="0"/>
              <a:t>学界对智能体有诸多定义，一些国际人工智能先驱或权威人士给出了形式化定义。</a:t>
            </a:r>
            <a:endParaRPr lang="en-US" altLang="zh-CN" dirty="0"/>
          </a:p>
          <a:p>
            <a:r>
              <a:rPr lang="zh-CN" altLang="zh-CN" dirty="0"/>
              <a:t>例如，伯克利知名教授Russel认为，智能体是能够感知环境并做出响应以实现某些目标的任何实体。牛津大学和孟菲斯大学的教授也给出了类似定义，这些定义在学界得到广泛认可。</a:t>
            </a:r>
            <a:br>
              <a:rPr lang="zh-CN" altLang="zh-CN" dirty="0"/>
            </a:br>
            <a:endParaRPr lang="zh-CN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53679A1-5CE0-DA37-E4C0-A6E0AAAB66C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DDE56B-F7DF-4AA6-805F-7724A66206C9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3177598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9C3186-D2A4-9234-2B45-AE756A36F5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95CC8B7-D381-9E63-9571-9C25991C8E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BDBC69A-7FB9-2998-55D5-86EFCA51E6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F67844A-9483-B47F-A0C6-BB66118E0D5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DDE56B-F7DF-4AA6-805F-7724A66206C9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471124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29B6DD-5E01-D8E7-90A9-021643CD08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5" name="幻灯片图像占位符 1">
            <a:extLst>
              <a:ext uri="{FF2B5EF4-FFF2-40B4-BE49-F238E27FC236}">
                <a16:creationId xmlns:a16="http://schemas.microsoft.com/office/drawing/2014/main" id="{3D2FA9E1-65FC-2E97-7FCA-7D1C61887176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 bwMode="auto">
          <a:ln>
            <a:solidFill>
              <a:srgbClr val="000000"/>
            </a:solidFill>
            <a:miter lim="800000"/>
          </a:ln>
        </p:spPr>
      </p:sp>
      <p:sp>
        <p:nvSpPr>
          <p:cNvPr id="1048616" name="备注占位符 2">
            <a:extLst>
              <a:ext uri="{FF2B5EF4-FFF2-40B4-BE49-F238E27FC236}">
                <a16:creationId xmlns:a16="http://schemas.microsoft.com/office/drawing/2014/main" id="{FF723D05-4555-3C6F-22B2-9E1ACCEFCCE5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1048617" name="灯片编号占位符 3">
            <a:extLst>
              <a:ext uri="{FF2B5EF4-FFF2-40B4-BE49-F238E27FC236}">
                <a16:creationId xmlns:a16="http://schemas.microsoft.com/office/drawing/2014/main" id="{CC623D98-F04D-40C7-96A0-2E6DFA5AB1F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fld id="{D187E539-6E0C-4F04-9EF5-524544FD9139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+mn-cs"/>
              </a:rPr>
              <a:t>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6556369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407505-1963-AC6B-F957-066B40F6FD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B6A41BE-0759-97CA-97CF-B172760E69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3B80FCC-C49E-8081-EC18-8198AE4E8C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F724F0E-A869-D4CE-44A5-FBA800100A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DDE56B-F7DF-4AA6-805F-7724A66206C9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844258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4C2324-46A2-746F-EDB1-918FE3A053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BB28F99-0825-B076-332F-863B901B64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C02BA81-D762-078A-0892-DE0CF3C9CD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6588BF5-70F7-3076-F6B9-CE89A7DADE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DDE56B-F7DF-4AA6-805F-7724A66206C9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8882284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CEB5E5-4DFC-D162-12D3-CC5A576386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9F8A08F-7220-9FBD-3448-79D273BEBD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8E69B46-7CC7-B32E-AAC5-5E1C76324C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32E0493-C539-4762-4E14-F6F4878C26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DDE56B-F7DF-4AA6-805F-7724A66206C9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5967278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E9490E-CDFE-2CE6-6CF7-864DD122BB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EE80200-B70D-9797-DF0C-0A4C7F8191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75CC474-4DC5-AE61-0993-1F201EC4AB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6C59874-899B-5847-77FB-8A326EF2189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DDE56B-F7DF-4AA6-805F-7724A66206C9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4747433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FB5CD8-61C9-2D8D-05C7-0C10A63655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5" name="幻灯片图像占位符 1">
            <a:extLst>
              <a:ext uri="{FF2B5EF4-FFF2-40B4-BE49-F238E27FC236}">
                <a16:creationId xmlns:a16="http://schemas.microsoft.com/office/drawing/2014/main" id="{CCE4FAB1-4CE9-557E-6D43-4BAF77C4F8D7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 bwMode="auto">
          <a:ln>
            <a:solidFill>
              <a:srgbClr val="000000"/>
            </a:solidFill>
            <a:miter lim="800000"/>
          </a:ln>
        </p:spPr>
      </p:sp>
      <p:sp>
        <p:nvSpPr>
          <p:cNvPr id="1048616" name="备注占位符 2">
            <a:extLst>
              <a:ext uri="{FF2B5EF4-FFF2-40B4-BE49-F238E27FC236}">
                <a16:creationId xmlns:a16="http://schemas.microsoft.com/office/drawing/2014/main" id="{9200F043-7122-8BD5-A5C1-62B51882D481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1048617" name="灯片编号占位符 3">
            <a:extLst>
              <a:ext uri="{FF2B5EF4-FFF2-40B4-BE49-F238E27FC236}">
                <a16:creationId xmlns:a16="http://schemas.microsoft.com/office/drawing/2014/main" id="{0C395957-071B-04D0-83FE-3C9DAF4AAF3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fld id="{D187E539-6E0C-4F04-9EF5-524544FD9139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+mn-cs"/>
              </a:rPr>
              <a:t>10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777054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D942AD-C882-E144-42AF-F45E1D3A34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5" name="幻灯片图像占位符 1">
            <a:extLst>
              <a:ext uri="{FF2B5EF4-FFF2-40B4-BE49-F238E27FC236}">
                <a16:creationId xmlns:a16="http://schemas.microsoft.com/office/drawing/2014/main" id="{7FCABCA4-FAF7-7E53-F539-8B84C96B2CC8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 bwMode="auto">
          <a:ln>
            <a:solidFill>
              <a:srgbClr val="000000"/>
            </a:solidFill>
            <a:miter lim="800000"/>
          </a:ln>
        </p:spPr>
      </p:sp>
      <p:sp>
        <p:nvSpPr>
          <p:cNvPr id="1048616" name="备注占位符 2">
            <a:extLst>
              <a:ext uri="{FF2B5EF4-FFF2-40B4-BE49-F238E27FC236}">
                <a16:creationId xmlns:a16="http://schemas.microsoft.com/office/drawing/2014/main" id="{7080CC3A-0F42-EA8B-78A1-C9CEA5284D99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1048617" name="灯片编号占位符 3">
            <a:extLst>
              <a:ext uri="{FF2B5EF4-FFF2-40B4-BE49-F238E27FC236}">
                <a16:creationId xmlns:a16="http://schemas.microsoft.com/office/drawing/2014/main" id="{D7CAA3CA-97FB-F00D-E4D4-07AE24A0A21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fld id="{D187E539-6E0C-4F04-9EF5-524544FD9139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+mn-cs"/>
              </a:rPr>
              <a:t>11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0795308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ABF83B-3CB3-1B81-7DEE-1FDB17274B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67F83F6-E6D7-D12E-15D4-3CF2EC719C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77C4F79-8C8B-B64E-6822-868DF2ECDA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87C2A89-5327-A3B2-C463-15A84A369F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DDE56B-F7DF-4AA6-805F-7724A66206C9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1933593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9E0DB5-2AD4-9346-8554-7BBD6FB42B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2253133-A88E-EC4B-4ACF-7F743774E4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E070707-32A6-21E8-D2C1-A7CDBC5323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87BCA46-E5CB-6DEF-CF12-51C0FE2D57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DDE56B-F7DF-4AA6-805F-7724A66206C9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510283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9D1B70-332D-E033-E518-BD7012543E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3329C1A-6E9D-F9F4-571B-370552BF8C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2A8F585-A23D-3F93-C3E1-C3AD5500B6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8554F78-0483-2655-E4F0-4F12CCBCC4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DDE56B-F7DF-4AA6-805F-7724A66206C9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069906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C55908-9CF2-F520-11AC-4BB8C5E235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1553F30-9744-2937-89E2-5A3C789045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C7C89BF-4BDB-E9A0-0385-88A1C643B5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1426994-83AC-AA9C-21A6-FFC7C0AD20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DDE56B-F7DF-4AA6-805F-7724A66206C9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2032808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54B906-3E9F-F50C-A370-686FAC0B1D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C1BC610-67CF-2D24-1FF3-1983847B45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6E884A0-C2AF-CCAA-5C59-26B382576F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25AF12C-2862-6A32-B526-64568372C93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DDE56B-F7DF-4AA6-805F-7724A66206C9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0493002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F4BC7E-F6A5-4C2A-45D0-D36E462B67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D5FCDBE-AD79-6D14-2683-8CB6E5B1FB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DDA1750-55FA-D68F-69C8-85F4C1378E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65A3A30-3CA4-BE1E-456F-80C65B84E7B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DDE56B-F7DF-4AA6-805F-7724A66206C9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0815335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BAF433-48CE-6B60-EB00-2D8A74E333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D81CEB5-A6E1-A9E5-836F-874B1B4E2F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E02954F-BA9A-773D-D809-3D55421850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C14B471-CA04-2FE4-0BB8-799D4C30B2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DDE56B-F7DF-4AA6-805F-7724A66206C9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4054394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330DD7-B488-4C9A-BED6-E1A7637056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FADB3CA-2C0B-5818-E476-DC11C7E9AD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93743F3-C0BE-5E38-3981-9753DAE94C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81DD546-58D4-1080-2305-06BC3237A9B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DDE56B-F7DF-4AA6-805F-7724A66206C9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50028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tags" Target="../tags/tag8.xml"/><Relationship Id="rId2" Type="http://schemas.openxmlformats.org/officeDocument/2006/relationships/tags" Target="../tags/tag7.xml"/><Relationship Id="rId1" Type="http://schemas.openxmlformats.org/officeDocument/2006/relationships/tags" Target="../tags/tag6.xml"/><Relationship Id="rId6" Type="http://schemas.openxmlformats.org/officeDocument/2006/relationships/slideMaster" Target="../slideMasters/slideMaster2.xml"/><Relationship Id="rId5" Type="http://schemas.openxmlformats.org/officeDocument/2006/relationships/tags" Target="../tags/tag10.xml"/><Relationship Id="rId4" Type="http://schemas.openxmlformats.org/officeDocument/2006/relationships/tags" Target="../tags/tag9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tags" Target="../tags/tag13.xml"/><Relationship Id="rId2" Type="http://schemas.openxmlformats.org/officeDocument/2006/relationships/tags" Target="../tags/tag12.xml"/><Relationship Id="rId1" Type="http://schemas.openxmlformats.org/officeDocument/2006/relationships/tags" Target="../tags/tag11.xml"/><Relationship Id="rId6" Type="http://schemas.openxmlformats.org/officeDocument/2006/relationships/slideMaster" Target="../slideMasters/slideMaster2.xml"/><Relationship Id="rId5" Type="http://schemas.openxmlformats.org/officeDocument/2006/relationships/tags" Target="../tags/tag15.xml"/><Relationship Id="rId4" Type="http://schemas.openxmlformats.org/officeDocument/2006/relationships/tags" Target="../tags/tag14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tags" Target="../tags/tag18.xml"/><Relationship Id="rId2" Type="http://schemas.openxmlformats.org/officeDocument/2006/relationships/tags" Target="../tags/tag17.xml"/><Relationship Id="rId1" Type="http://schemas.openxmlformats.org/officeDocument/2006/relationships/tags" Target="../tags/tag16.xml"/><Relationship Id="rId6" Type="http://schemas.openxmlformats.org/officeDocument/2006/relationships/slideMaster" Target="../slideMasters/slideMaster2.xml"/><Relationship Id="rId5" Type="http://schemas.openxmlformats.org/officeDocument/2006/relationships/tags" Target="../tags/tag20.xml"/><Relationship Id="rId4" Type="http://schemas.openxmlformats.org/officeDocument/2006/relationships/tags" Target="../tags/tag19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tags" Target="../tags/tag23.xml"/><Relationship Id="rId7" Type="http://schemas.openxmlformats.org/officeDocument/2006/relationships/slideMaster" Target="../slideMasters/slideMaster2.xml"/><Relationship Id="rId2" Type="http://schemas.openxmlformats.org/officeDocument/2006/relationships/tags" Target="../tags/tag22.xml"/><Relationship Id="rId1" Type="http://schemas.openxmlformats.org/officeDocument/2006/relationships/tags" Target="../tags/tag21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tags" Target="../tags/tag34.xml"/><Relationship Id="rId3" Type="http://schemas.openxmlformats.org/officeDocument/2006/relationships/tags" Target="../tags/tag29.xml"/><Relationship Id="rId7" Type="http://schemas.openxmlformats.org/officeDocument/2006/relationships/tags" Target="../tags/tag33.xml"/><Relationship Id="rId2" Type="http://schemas.openxmlformats.org/officeDocument/2006/relationships/tags" Target="../tags/tag28.xml"/><Relationship Id="rId1" Type="http://schemas.openxmlformats.org/officeDocument/2006/relationships/tags" Target="../tags/tag27.xml"/><Relationship Id="rId6" Type="http://schemas.openxmlformats.org/officeDocument/2006/relationships/tags" Target="../tags/tag32.xml"/><Relationship Id="rId5" Type="http://schemas.openxmlformats.org/officeDocument/2006/relationships/tags" Target="../tags/tag31.xml"/><Relationship Id="rId4" Type="http://schemas.openxmlformats.org/officeDocument/2006/relationships/tags" Target="../tags/tag30.xml"/><Relationship Id="rId9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tags" Target="../tags/tag37.xml"/><Relationship Id="rId2" Type="http://schemas.openxmlformats.org/officeDocument/2006/relationships/tags" Target="../tags/tag36.xml"/><Relationship Id="rId1" Type="http://schemas.openxmlformats.org/officeDocument/2006/relationships/tags" Target="../tags/tag35.xml"/><Relationship Id="rId5" Type="http://schemas.openxmlformats.org/officeDocument/2006/relationships/slideMaster" Target="../slideMasters/slideMaster2.xml"/><Relationship Id="rId4" Type="http://schemas.openxmlformats.org/officeDocument/2006/relationships/tags" Target="../tags/tag38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tags" Target="../tags/tag41.xml"/><Relationship Id="rId2" Type="http://schemas.openxmlformats.org/officeDocument/2006/relationships/tags" Target="../tags/tag40.xml"/><Relationship Id="rId1" Type="http://schemas.openxmlformats.org/officeDocument/2006/relationships/tags" Target="../tags/tag39.xml"/><Relationship Id="rId4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tags" Target="../tags/tag44.xml"/><Relationship Id="rId7" Type="http://schemas.openxmlformats.org/officeDocument/2006/relationships/slideMaster" Target="../slideMasters/slideMaster2.xml"/><Relationship Id="rId2" Type="http://schemas.openxmlformats.org/officeDocument/2006/relationships/tags" Target="../tags/tag43.xml"/><Relationship Id="rId1" Type="http://schemas.openxmlformats.org/officeDocument/2006/relationships/tags" Target="../tags/tag42.xml"/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tags" Target="../tags/tag50.xml"/><Relationship Id="rId2" Type="http://schemas.openxmlformats.org/officeDocument/2006/relationships/tags" Target="../tags/tag49.xml"/><Relationship Id="rId1" Type="http://schemas.openxmlformats.org/officeDocument/2006/relationships/tags" Target="../tags/tag48.xml"/><Relationship Id="rId6" Type="http://schemas.openxmlformats.org/officeDocument/2006/relationships/slideMaster" Target="../slideMasters/slideMaster2.xml"/><Relationship Id="rId5" Type="http://schemas.openxmlformats.org/officeDocument/2006/relationships/tags" Target="../tags/tag52.xml"/><Relationship Id="rId4" Type="http://schemas.openxmlformats.org/officeDocument/2006/relationships/tags" Target="../tags/tag5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tags" Target="../tags/tag55.xml"/><Relationship Id="rId2" Type="http://schemas.openxmlformats.org/officeDocument/2006/relationships/tags" Target="../tags/tag54.xml"/><Relationship Id="rId1" Type="http://schemas.openxmlformats.org/officeDocument/2006/relationships/tags" Target="../tags/tag53.xml"/><Relationship Id="rId5" Type="http://schemas.openxmlformats.org/officeDocument/2006/relationships/slideMaster" Target="../slideMasters/slideMaster2.xml"/><Relationship Id="rId4" Type="http://schemas.openxmlformats.org/officeDocument/2006/relationships/tags" Target="../tags/tag56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tags" Target="../tags/tag59.xml"/><Relationship Id="rId2" Type="http://schemas.openxmlformats.org/officeDocument/2006/relationships/tags" Target="../tags/tag58.xml"/><Relationship Id="rId1" Type="http://schemas.openxmlformats.org/officeDocument/2006/relationships/tags" Target="../tags/tag57.xml"/><Relationship Id="rId6" Type="http://schemas.openxmlformats.org/officeDocument/2006/relationships/slideMaster" Target="../slideMasters/slideMaster2.xml"/><Relationship Id="rId5" Type="http://schemas.openxmlformats.org/officeDocument/2006/relationships/tags" Target="../tags/tag61.xml"/><Relationship Id="rId4" Type="http://schemas.openxmlformats.org/officeDocument/2006/relationships/tags" Target="../tags/tag60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0CC0C3-CFB1-41E2-9A7E-07C8AB8A5139}" type="datetimeFigureOut">
              <a:rPr lang="zh-CN" altLang="en-US" smtClean="0"/>
              <a:t>2026/10/20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6140CA-85DF-4FBF-B69D-EF6CE78FCD7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0CC0C3-CFB1-41E2-9A7E-07C8AB8A5139}" type="datetimeFigureOut">
              <a:rPr lang="zh-CN" altLang="en-US" smtClean="0"/>
              <a:t>2026/10/20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6140CA-85DF-4FBF-B69D-EF6CE78FCD7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0CC0C3-CFB1-41E2-9A7E-07C8AB8A5139}" type="datetimeFigureOut">
              <a:rPr lang="zh-CN" altLang="en-US" smtClean="0"/>
              <a:t>2026/10/20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6140CA-85DF-4FBF-B69D-EF6CE78FCD7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0CC0C3-CFB1-41E2-9A7E-07C8AB8A5139}" type="datetimeFigureOut">
              <a:rPr lang="zh-CN" altLang="en-US" smtClean="0"/>
              <a:t>2026/10/20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6140CA-85DF-4FBF-B69D-EF6CE78FCD7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0CC0C3-CFB1-41E2-9A7E-07C8AB8A5139}" type="datetimeFigureOut">
              <a:rPr lang="zh-CN" altLang="en-US" smtClean="0"/>
              <a:t>2026/10/20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6140CA-85DF-4FBF-B69D-EF6CE78FCD7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0CC0C3-CFB1-41E2-9A7E-07C8AB8A5139}" type="datetimeFigureOut">
              <a:rPr lang="zh-CN" altLang="en-US" smtClean="0"/>
              <a:t>2026/10/20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6140CA-85DF-4FBF-B69D-EF6CE78FCD7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0CC0C3-CFB1-41E2-9A7E-07C8AB8A5139}" type="datetimeFigureOut">
              <a:rPr lang="zh-CN" altLang="en-US" smtClean="0"/>
              <a:t>2026/10/20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6140CA-85DF-4FBF-B69D-EF6CE78FCD7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0CC0C3-CFB1-41E2-9A7E-07C8AB8A5139}" type="datetimeFigureOut">
              <a:rPr lang="zh-CN" altLang="en-US" smtClean="0"/>
              <a:t>2026/10/20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6140CA-85DF-4FBF-B69D-EF6CE78FCD7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0CC0C3-CFB1-41E2-9A7E-07C8AB8A5139}" type="datetimeFigureOut">
              <a:rPr lang="zh-CN" altLang="en-US" smtClean="0"/>
              <a:t>2026/10/20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6140CA-85DF-4FBF-B69D-EF6CE78FCD7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0CC0C3-CFB1-41E2-9A7E-07C8AB8A5139}" type="datetimeFigureOut">
              <a:rPr lang="zh-CN" altLang="en-US" smtClean="0"/>
              <a:t>2026/10/20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6140CA-85DF-4FBF-B69D-EF6CE78FCD7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0CC0C3-CFB1-41E2-9A7E-07C8AB8A5139}" type="datetimeFigureOut">
              <a:rPr lang="zh-CN" altLang="en-US" smtClean="0"/>
              <a:t>2026/10/20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6140CA-85DF-4FBF-B69D-EF6CE78FCD7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1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2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2026/10/20</a:t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2026/10/20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2026/10/20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2026/10/20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4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单击此处编辑文本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2026/10/20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2026/10/20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2026/10/20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1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2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  <a:t>2026/10/20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1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/>
              <a:t>单击此处编辑标题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2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2026/10/20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2026/10/20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4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2026/10/20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/>
              <a:t>单击此处编辑标题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5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空白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6" name="灯片编号占位符 3"/>
          <p:cNvSpPr txBox="1"/>
          <p:nvPr/>
        </p:nvSpPr>
        <p:spPr bwMode="auto">
          <a:xfrm>
            <a:off x="10943167" y="6486525"/>
            <a:ext cx="1248833" cy="28416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1432" tIns="45716" rIns="91432" bIns="45716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de-DE" altLang="en-US" sz="12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</a:t>
            </a:r>
            <a:fld id="{818A10C8-A07A-45D8-B76A-A402D1D11CF4}" type="slidenum">
              <a:rPr lang="zh-CN" altLang="en-US" sz="1200" b="1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‹#›</a:t>
            </a:fld>
            <a:endParaRPr lang="en-US" altLang="zh-CN" sz="1200" b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048597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48598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48599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BBF6E-AC70-4092-AC80-54C4E090235B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18" Type="http://schemas.openxmlformats.org/officeDocument/2006/relationships/tags" Target="../tags/tag5.xml"/><Relationship Id="rId3" Type="http://schemas.openxmlformats.org/officeDocument/2006/relationships/slideLayout" Target="../slideLayouts/slideLayout14.xml"/><Relationship Id="rId21" Type="http://schemas.openxmlformats.org/officeDocument/2006/relationships/image" Target="../media/image3.png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tags" Target="../tags/tag4.xml"/><Relationship Id="rId2" Type="http://schemas.openxmlformats.org/officeDocument/2006/relationships/slideLayout" Target="../slideLayouts/slideLayout13.xml"/><Relationship Id="rId16" Type="http://schemas.openxmlformats.org/officeDocument/2006/relationships/tags" Target="../tags/tag3.xml"/><Relationship Id="rId20" Type="http://schemas.openxmlformats.org/officeDocument/2006/relationships/image" Target="../media/image2.jpeg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tags" Target="../tags/tag2.xml"/><Relationship Id="rId10" Type="http://schemas.openxmlformats.org/officeDocument/2006/relationships/slideLayout" Target="../slideLayouts/slideLayout21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tags" Target="../tags/tag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0CC0C3-CFB1-41E2-9A7E-07C8AB8A5139}" type="datetimeFigureOut">
              <a:rPr lang="zh-CN" altLang="en-US" smtClean="0"/>
              <a:t>2026/10/20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6140CA-85DF-4FBF-B69D-EF6CE78FCD78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27" r="74956" b="281"/>
          <a:stretch>
            <a:fillRect/>
          </a:stretch>
        </p:blipFill>
        <p:spPr>
          <a:xfrm>
            <a:off x="9930073" y="45085"/>
            <a:ext cx="1012058" cy="1015200"/>
          </a:xfrm>
          <a:prstGeom prst="ellipse">
            <a:avLst/>
          </a:prstGeom>
        </p:spPr>
      </p:pic>
      <p:pic>
        <p:nvPicPr>
          <p:cNvPr id="9" name="图片 8"/>
          <p:cNvPicPr>
            <a:picLocks noChangeAspect="1"/>
          </p:cNvPicPr>
          <p:nvPr userDrawn="1"/>
        </p:nvPicPr>
        <p:blipFill>
          <a:blip r:embed="rId15"/>
          <a:srcRect l="2170" t="7733" r="86776" b="10844"/>
          <a:stretch>
            <a:fillRect/>
          </a:stretch>
        </p:blipFill>
        <p:spPr>
          <a:xfrm>
            <a:off x="11050773" y="45085"/>
            <a:ext cx="1014730" cy="1019863"/>
          </a:xfrm>
          <a:prstGeom prst="ellipse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9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4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5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6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  <a:t>2026/10/20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7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8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D2BD8474-2F4C-665F-801F-09965CF8B6E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27" r="74956" b="281"/>
          <a:stretch>
            <a:fillRect/>
          </a:stretch>
        </p:blipFill>
        <p:spPr>
          <a:xfrm>
            <a:off x="9930073" y="45085"/>
            <a:ext cx="1012058" cy="1015200"/>
          </a:xfrm>
          <a:prstGeom prst="ellipse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6B9F81E8-6D80-0252-352D-3EAB85FF9EC7}"/>
              </a:ext>
            </a:extLst>
          </p:cNvPr>
          <p:cNvPicPr>
            <a:picLocks noChangeAspect="1"/>
          </p:cNvPicPr>
          <p:nvPr userDrawn="1"/>
        </p:nvPicPr>
        <p:blipFill>
          <a:blip r:embed="rId21"/>
          <a:srcRect l="2170" t="7733" r="86776" b="10844"/>
          <a:stretch>
            <a:fillRect/>
          </a:stretch>
        </p:blipFill>
        <p:spPr>
          <a:xfrm>
            <a:off x="11050773" y="45085"/>
            <a:ext cx="1014730" cy="1019863"/>
          </a:xfrm>
          <a:prstGeom prst="ellipse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6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tags" Target="../tags/tag70.xml"/><Relationship Id="rId13" Type="http://schemas.openxmlformats.org/officeDocument/2006/relationships/slideLayout" Target="../slideLayouts/slideLayout23.xml"/><Relationship Id="rId3" Type="http://schemas.openxmlformats.org/officeDocument/2006/relationships/tags" Target="../tags/tag65.xml"/><Relationship Id="rId7" Type="http://schemas.openxmlformats.org/officeDocument/2006/relationships/tags" Target="../tags/tag69.xml"/><Relationship Id="rId12" Type="http://schemas.openxmlformats.org/officeDocument/2006/relationships/tags" Target="../tags/tag74.xml"/><Relationship Id="rId2" Type="http://schemas.openxmlformats.org/officeDocument/2006/relationships/tags" Target="../tags/tag64.xml"/><Relationship Id="rId1" Type="http://schemas.openxmlformats.org/officeDocument/2006/relationships/tags" Target="../tags/tag63.xml"/><Relationship Id="rId6" Type="http://schemas.openxmlformats.org/officeDocument/2006/relationships/tags" Target="../tags/tag68.xml"/><Relationship Id="rId11" Type="http://schemas.openxmlformats.org/officeDocument/2006/relationships/tags" Target="../tags/tag73.xml"/><Relationship Id="rId5" Type="http://schemas.openxmlformats.org/officeDocument/2006/relationships/tags" Target="../tags/tag67.xml"/><Relationship Id="rId10" Type="http://schemas.openxmlformats.org/officeDocument/2006/relationships/tags" Target="../tags/tag72.xml"/><Relationship Id="rId4" Type="http://schemas.openxmlformats.org/officeDocument/2006/relationships/tags" Target="../tags/tag66.xml"/><Relationship Id="rId9" Type="http://schemas.openxmlformats.org/officeDocument/2006/relationships/tags" Target="../tags/tag71.xml"/><Relationship Id="rId1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tags" Target="../tags/tag82.xml"/><Relationship Id="rId13" Type="http://schemas.openxmlformats.org/officeDocument/2006/relationships/slideLayout" Target="../slideLayouts/slideLayout23.xml"/><Relationship Id="rId3" Type="http://schemas.openxmlformats.org/officeDocument/2006/relationships/tags" Target="../tags/tag77.xml"/><Relationship Id="rId7" Type="http://schemas.openxmlformats.org/officeDocument/2006/relationships/tags" Target="../tags/tag81.xml"/><Relationship Id="rId12" Type="http://schemas.openxmlformats.org/officeDocument/2006/relationships/tags" Target="../tags/tag86.xml"/><Relationship Id="rId2" Type="http://schemas.openxmlformats.org/officeDocument/2006/relationships/tags" Target="../tags/tag76.xml"/><Relationship Id="rId1" Type="http://schemas.openxmlformats.org/officeDocument/2006/relationships/tags" Target="../tags/tag75.xml"/><Relationship Id="rId6" Type="http://schemas.openxmlformats.org/officeDocument/2006/relationships/tags" Target="../tags/tag80.xml"/><Relationship Id="rId11" Type="http://schemas.openxmlformats.org/officeDocument/2006/relationships/tags" Target="../tags/tag85.xml"/><Relationship Id="rId5" Type="http://schemas.openxmlformats.org/officeDocument/2006/relationships/tags" Target="../tags/tag79.xml"/><Relationship Id="rId10" Type="http://schemas.openxmlformats.org/officeDocument/2006/relationships/tags" Target="../tags/tag84.xml"/><Relationship Id="rId4" Type="http://schemas.openxmlformats.org/officeDocument/2006/relationships/tags" Target="../tags/tag78.xml"/><Relationship Id="rId9" Type="http://schemas.openxmlformats.org/officeDocument/2006/relationships/tags" Target="../tags/tag83.xml"/><Relationship Id="rId1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tags" Target="../tags/tag94.xml"/><Relationship Id="rId13" Type="http://schemas.openxmlformats.org/officeDocument/2006/relationships/slideLayout" Target="../slideLayouts/slideLayout23.xml"/><Relationship Id="rId3" Type="http://schemas.openxmlformats.org/officeDocument/2006/relationships/tags" Target="../tags/tag89.xml"/><Relationship Id="rId7" Type="http://schemas.openxmlformats.org/officeDocument/2006/relationships/tags" Target="../tags/tag93.xml"/><Relationship Id="rId12" Type="http://schemas.openxmlformats.org/officeDocument/2006/relationships/tags" Target="../tags/tag98.xml"/><Relationship Id="rId2" Type="http://schemas.openxmlformats.org/officeDocument/2006/relationships/tags" Target="../tags/tag88.xml"/><Relationship Id="rId1" Type="http://schemas.openxmlformats.org/officeDocument/2006/relationships/tags" Target="../tags/tag87.xml"/><Relationship Id="rId6" Type="http://schemas.openxmlformats.org/officeDocument/2006/relationships/tags" Target="../tags/tag92.xml"/><Relationship Id="rId11" Type="http://schemas.openxmlformats.org/officeDocument/2006/relationships/tags" Target="../tags/tag97.xml"/><Relationship Id="rId5" Type="http://schemas.openxmlformats.org/officeDocument/2006/relationships/tags" Target="../tags/tag91.xml"/><Relationship Id="rId10" Type="http://schemas.openxmlformats.org/officeDocument/2006/relationships/tags" Target="../tags/tag96.xml"/><Relationship Id="rId4" Type="http://schemas.openxmlformats.org/officeDocument/2006/relationships/tags" Target="../tags/tag90.xml"/><Relationship Id="rId9" Type="http://schemas.openxmlformats.org/officeDocument/2006/relationships/tags" Target="../tags/tag95.xml"/><Relationship Id="rId1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tags" Target="../tags/tag106.xml"/><Relationship Id="rId13" Type="http://schemas.openxmlformats.org/officeDocument/2006/relationships/slideLayout" Target="../slideLayouts/slideLayout23.xml"/><Relationship Id="rId3" Type="http://schemas.openxmlformats.org/officeDocument/2006/relationships/tags" Target="../tags/tag101.xml"/><Relationship Id="rId7" Type="http://schemas.openxmlformats.org/officeDocument/2006/relationships/tags" Target="../tags/tag105.xml"/><Relationship Id="rId12" Type="http://schemas.openxmlformats.org/officeDocument/2006/relationships/tags" Target="../tags/tag110.xml"/><Relationship Id="rId2" Type="http://schemas.openxmlformats.org/officeDocument/2006/relationships/tags" Target="../tags/tag100.xml"/><Relationship Id="rId1" Type="http://schemas.openxmlformats.org/officeDocument/2006/relationships/tags" Target="../tags/tag99.xml"/><Relationship Id="rId6" Type="http://schemas.openxmlformats.org/officeDocument/2006/relationships/tags" Target="../tags/tag104.xml"/><Relationship Id="rId11" Type="http://schemas.openxmlformats.org/officeDocument/2006/relationships/tags" Target="../tags/tag109.xml"/><Relationship Id="rId5" Type="http://schemas.openxmlformats.org/officeDocument/2006/relationships/tags" Target="../tags/tag103.xml"/><Relationship Id="rId10" Type="http://schemas.openxmlformats.org/officeDocument/2006/relationships/tags" Target="../tags/tag108.xml"/><Relationship Id="rId4" Type="http://schemas.openxmlformats.org/officeDocument/2006/relationships/tags" Target="../tags/tag102.xml"/><Relationship Id="rId9" Type="http://schemas.openxmlformats.org/officeDocument/2006/relationships/tags" Target="../tags/tag107.xml"/><Relationship Id="rId1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0.jp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jpg"/><Relationship Id="rId13" Type="http://schemas.openxmlformats.org/officeDocument/2006/relationships/image" Target="../media/image32.jpg"/><Relationship Id="rId18" Type="http://schemas.openxmlformats.org/officeDocument/2006/relationships/image" Target="../media/image37.png"/><Relationship Id="rId26" Type="http://schemas.openxmlformats.org/officeDocument/2006/relationships/image" Target="../media/image45.png"/><Relationship Id="rId3" Type="http://schemas.openxmlformats.org/officeDocument/2006/relationships/image" Target="../media/image22.jpg"/><Relationship Id="rId21" Type="http://schemas.openxmlformats.org/officeDocument/2006/relationships/image" Target="../media/image40.png"/><Relationship Id="rId7" Type="http://schemas.openxmlformats.org/officeDocument/2006/relationships/image" Target="../media/image26.jpg"/><Relationship Id="rId12" Type="http://schemas.openxmlformats.org/officeDocument/2006/relationships/image" Target="../media/image31.png"/><Relationship Id="rId17" Type="http://schemas.openxmlformats.org/officeDocument/2006/relationships/image" Target="../media/image36.png"/><Relationship Id="rId25" Type="http://schemas.openxmlformats.org/officeDocument/2006/relationships/image" Target="../media/image44.jpg"/><Relationship Id="rId2" Type="http://schemas.openxmlformats.org/officeDocument/2006/relationships/notesSlide" Target="../notesSlides/notesSlide17.xml"/><Relationship Id="rId16" Type="http://schemas.openxmlformats.org/officeDocument/2006/relationships/image" Target="../media/image35.png"/><Relationship Id="rId20" Type="http://schemas.openxmlformats.org/officeDocument/2006/relationships/image" Target="../media/image39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5.jpg"/><Relationship Id="rId11" Type="http://schemas.openxmlformats.org/officeDocument/2006/relationships/image" Target="../media/image30.jpg"/><Relationship Id="rId24" Type="http://schemas.openxmlformats.org/officeDocument/2006/relationships/image" Target="../media/image43.png"/><Relationship Id="rId5" Type="http://schemas.openxmlformats.org/officeDocument/2006/relationships/image" Target="../media/image24.png"/><Relationship Id="rId15" Type="http://schemas.openxmlformats.org/officeDocument/2006/relationships/image" Target="../media/image34.png"/><Relationship Id="rId23" Type="http://schemas.openxmlformats.org/officeDocument/2006/relationships/image" Target="../media/image42.png"/><Relationship Id="rId28" Type="http://schemas.openxmlformats.org/officeDocument/2006/relationships/image" Target="../media/image47.png"/><Relationship Id="rId10" Type="http://schemas.openxmlformats.org/officeDocument/2006/relationships/image" Target="../media/image29.jpg"/><Relationship Id="rId19" Type="http://schemas.openxmlformats.org/officeDocument/2006/relationships/image" Target="../media/image38.png"/><Relationship Id="rId4" Type="http://schemas.openxmlformats.org/officeDocument/2006/relationships/image" Target="../media/image23.jpg"/><Relationship Id="rId9" Type="http://schemas.openxmlformats.org/officeDocument/2006/relationships/image" Target="../media/image28.jpg"/><Relationship Id="rId14" Type="http://schemas.openxmlformats.org/officeDocument/2006/relationships/image" Target="../media/image33.png"/><Relationship Id="rId22" Type="http://schemas.openxmlformats.org/officeDocument/2006/relationships/image" Target="../media/image41.png"/><Relationship Id="rId27" Type="http://schemas.openxmlformats.org/officeDocument/2006/relationships/image" Target="../media/image46.jp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50.jpg"/><Relationship Id="rId4" Type="http://schemas.openxmlformats.org/officeDocument/2006/relationships/image" Target="../media/image49.jp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8"/>
          <p:cNvSpPr/>
          <p:nvPr/>
        </p:nvSpPr>
        <p:spPr>
          <a:xfrm>
            <a:off x="-2540" y="1553210"/>
            <a:ext cx="12218035" cy="1705610"/>
          </a:xfrm>
          <a:prstGeom prst="rect">
            <a:avLst/>
          </a:prstGeom>
          <a:solidFill>
            <a:srgbClr val="014C83"/>
          </a:solidFill>
          <a:ln w="25400" cap="flat" cmpd="sng" algn="ctr">
            <a:noFill/>
            <a:prstDash val="solid"/>
          </a:ln>
          <a:effectLst/>
        </p:spPr>
        <p:txBody>
          <a:bodyPr lIns="91432" tIns="45716" rIns="91432" bIns="45716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Franklin Gothic Medium" panose="020B0603020102020204" charset="0"/>
              <a:ea typeface="微软雅黑" panose="020B0503020204020204" charset="-122"/>
              <a:cs typeface="+mn-ea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2540" y="3258185"/>
            <a:ext cx="12221210" cy="318770"/>
          </a:xfrm>
          <a:prstGeom prst="rect">
            <a:avLst/>
          </a:prstGeom>
          <a:solidFill>
            <a:srgbClr val="012E57">
              <a:lumMod val="25000"/>
              <a:lumOff val="75000"/>
            </a:srgbClr>
          </a:solidFill>
          <a:ln w="25400" cap="flat" cmpd="sng" algn="ctr">
            <a:noFill/>
            <a:prstDash val="solid"/>
          </a:ln>
          <a:effectLst/>
        </p:spPr>
        <p:txBody>
          <a:bodyPr lIns="91432" tIns="45716" rIns="91432" bIns="45716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Franklin Gothic Medium" panose="020B0603020102020204" charset="0"/>
              <a:ea typeface="微软雅黑" panose="020B0503020204020204" charset="-122"/>
              <a:cs typeface="+mn-ea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5240" y="1972945"/>
            <a:ext cx="12200255" cy="1985151"/>
          </a:xfrm>
          <a:prstGeom prst="rect">
            <a:avLst/>
          </a:prstGeom>
          <a:noFill/>
          <a:ln w="9525">
            <a:noFill/>
          </a:ln>
        </p:spPr>
        <p:txBody>
          <a:bodyPr wrap="square" lIns="91432" tIns="45716" rIns="91432" bIns="45716">
            <a:spAutoFit/>
          </a:bodyPr>
          <a:lstStyle/>
          <a:p>
            <a:pPr algn="ctr" eaLnBrk="1" hangingPunct="1">
              <a:spcBef>
                <a:spcPts val="1800"/>
              </a:spcBef>
              <a:buFont typeface="Arial" panose="020B0604020202020204" pitchFamily="34" charset="0"/>
            </a:pPr>
            <a:r>
              <a:rPr lang="zh-CN" altLang="en-US" sz="5400" b="1" dirty="0">
                <a:solidFill>
                  <a:sysClr val="window" lastClr="FFFFFF"/>
                </a:solidFill>
                <a:latin typeface="微软雅黑" panose="020B0503020204020204" charset="-122"/>
                <a:ea typeface="微软雅黑" panose="020B0503020204020204" charset="-122"/>
              </a:rPr>
              <a:t>专题八：智能体现状与趋势</a:t>
            </a:r>
          </a:p>
          <a:p>
            <a:pPr algn="ctr" eaLnBrk="1" hangingPunct="1">
              <a:spcBef>
                <a:spcPts val="1800"/>
              </a:spcBef>
              <a:buFont typeface="Arial" panose="020B0604020202020204" pitchFamily="34" charset="0"/>
            </a:pPr>
            <a:endParaRPr lang="zh-CN" altLang="en-US" sz="5400" b="1" dirty="0">
              <a:solidFill>
                <a:sysClr val="window" lastClr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517525" y="390525"/>
            <a:ext cx="85661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C0000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DIG—</a:t>
            </a:r>
            <a:r>
              <a:rPr lang="zh-CN" altLang="en-US" sz="28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大模型</a:t>
            </a:r>
            <a:r>
              <a:rPr lang="en-US" altLang="zh-CN" sz="28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&amp;</a:t>
            </a:r>
            <a:r>
              <a:rPr lang="zh-CN" altLang="en-US" sz="28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智能体前沿研究</a:t>
            </a:r>
            <a:endParaRPr sz="2800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文本框 1"/>
          <p:cNvSpPr txBox="1"/>
          <p:nvPr/>
        </p:nvSpPr>
        <p:spPr>
          <a:xfrm>
            <a:off x="15240" y="4249396"/>
            <a:ext cx="12176760" cy="1620333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noAutofit/>
          </a:bodyPr>
          <a:lstStyle/>
          <a:p>
            <a:pPr algn="ctr" fontAlgn="auto">
              <a:lnSpc>
                <a:spcPct val="150000"/>
              </a:lnSpc>
              <a:buClrTx/>
              <a:buSzTx/>
              <a:buFont typeface="Arial" panose="020B0604020202020204" pitchFamily="34" charset="0"/>
            </a:pPr>
            <a:r>
              <a:rPr lang="zh-CN" altLang="en-US" sz="2800" b="1" dirty="0">
                <a:solidFill>
                  <a:schemeClr val="accen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楷体" panose="02010609060101010101" charset="-122"/>
                <a:sym typeface="+mn-ea"/>
              </a:rPr>
              <a:t>大数据科学与产业研究院</a:t>
            </a:r>
            <a:endParaRPr lang="en-US" altLang="zh-CN" sz="2800" b="1" dirty="0">
              <a:solidFill>
                <a:schemeClr val="accent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楷体" panose="02010609060101010101" charset="-122"/>
              <a:sym typeface="+mn-ea"/>
            </a:endParaRPr>
          </a:p>
          <a:p>
            <a:pPr algn="ctr" fontAlgn="auto">
              <a:lnSpc>
                <a:spcPct val="150000"/>
              </a:lnSpc>
              <a:buClrTx/>
              <a:buSzTx/>
              <a:buFont typeface="Arial" panose="020B0604020202020204" pitchFamily="34" charset="0"/>
            </a:pPr>
            <a:r>
              <a:rPr lang="zh-CN" altLang="en-US" sz="2800" b="1" dirty="0">
                <a:solidFill>
                  <a:schemeClr val="accen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演化科学智能山西省重点实验室</a:t>
            </a:r>
            <a:endParaRPr lang="en-US" altLang="zh-CN" sz="2800" b="1" dirty="0">
              <a:solidFill>
                <a:schemeClr val="accent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-2540" y="455930"/>
            <a:ext cx="514985" cy="423545"/>
          </a:xfrm>
          <a:prstGeom prst="rect">
            <a:avLst/>
          </a:prstGeom>
          <a:solidFill>
            <a:srgbClr val="014C83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0F38909-EB0B-3EC9-575F-E70F339DA16E}"/>
              </a:ext>
            </a:extLst>
          </p:cNvPr>
          <p:cNvSpPr txBox="1"/>
          <p:nvPr/>
        </p:nvSpPr>
        <p:spPr>
          <a:xfrm>
            <a:off x="9534984" y="5780489"/>
            <a:ext cx="2018501" cy="8744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汇报人：左金隆</a:t>
            </a:r>
            <a:endParaRPr lang="en-US" altLang="zh-CN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2026</a:t>
            </a: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</a:t>
            </a:r>
            <a:r>
              <a:rPr lang="en-US" altLang="zh-CN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月</a:t>
            </a:r>
            <a:r>
              <a:rPr lang="en-US" altLang="zh-CN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27</a:t>
            </a: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日</a:t>
            </a:r>
          </a:p>
        </p:txBody>
      </p:sp>
    </p:spTree>
    <p:custDataLst>
      <p:tags r:id="rId1"/>
    </p:custData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49"/>
          <p:cNvGrpSpPr/>
          <p:nvPr/>
        </p:nvGrpSpPr>
        <p:grpSpPr bwMode="auto">
          <a:xfrm>
            <a:off x="2077085" y="2609215"/>
            <a:ext cx="1616075" cy="1639570"/>
            <a:chOff x="3861535" y="2819400"/>
            <a:chExt cx="1218704" cy="1218704"/>
          </a:xfrm>
        </p:grpSpPr>
        <p:grpSp>
          <p:nvGrpSpPr>
            <p:cNvPr id="15" name="组合 50"/>
            <p:cNvGrpSpPr/>
            <p:nvPr/>
          </p:nvGrpSpPr>
          <p:grpSpPr>
            <a:xfrm>
              <a:off x="3861535" y="2819400"/>
              <a:ext cx="1218704" cy="1218704"/>
              <a:chOff x="-27110" y="673100"/>
              <a:chExt cx="4000500" cy="4000500"/>
            </a:xfrm>
            <a:effectLst>
              <a:outerShdw blurRad="444500" dist="254000" dir="8100000" algn="tr" rotWithShape="0">
                <a:prstClr val="black">
                  <a:alpha val="50000"/>
                </a:prstClr>
              </a:outerShdw>
            </a:effectLst>
          </p:grpSpPr>
          <p:sp>
            <p:nvSpPr>
              <p:cNvPr id="16" name="同心圆 45"/>
              <p:cNvSpPr/>
              <p:nvPr/>
            </p:nvSpPr>
            <p:spPr>
              <a:xfrm>
                <a:off x="-27110" y="673100"/>
                <a:ext cx="4000500" cy="4000500"/>
              </a:xfrm>
              <a:prstGeom prst="donut">
                <a:avLst>
                  <a:gd name="adj" fmla="val 4879"/>
                </a:avLst>
              </a:prstGeom>
              <a:gradFill>
                <a:gsLst>
                  <a:gs pos="0">
                    <a:sysClr val="window" lastClr="FFFFFF"/>
                  </a:gs>
                  <a:gs pos="55000">
                    <a:sysClr val="window" lastClr="FFFFFF">
                      <a:lumMod val="95000"/>
                    </a:sysClr>
                  </a:gs>
                  <a:gs pos="100000">
                    <a:sysClr val="window" lastClr="FFFFFF">
                      <a:lumMod val="65000"/>
                    </a:sysClr>
                  </a:gs>
                </a:gsLst>
                <a:lin ang="8100000" scaled="0"/>
              </a:gradFill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0" lang="zh-CN" altLang="en-US" sz="2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Franklin Gothic Medium" panose="020B0603020102020204"/>
                  <a:ea typeface="微软雅黑" panose="020B0503020204020204" charset="-122"/>
                  <a:cs typeface="微软雅黑" panose="020B0503020204020204" charset="-122"/>
                  <a:sym typeface="Franklin Gothic Medium" panose="020B0603020102020204" charset="0"/>
                </a:endParaRPr>
              </a:p>
            </p:txBody>
          </p:sp>
          <p:sp>
            <p:nvSpPr>
              <p:cNvPr id="17" name="椭圆 53"/>
              <p:cNvSpPr/>
              <p:nvPr/>
            </p:nvSpPr>
            <p:spPr>
              <a:xfrm>
                <a:off x="60202" y="760412"/>
                <a:ext cx="3825874" cy="3825874"/>
              </a:xfrm>
              <a:prstGeom prst="ellipse">
                <a:avLst/>
              </a:prstGeom>
              <a:gradFill>
                <a:gsLst>
                  <a:gs pos="0">
                    <a:sysClr val="window" lastClr="FFFFFF"/>
                  </a:gs>
                  <a:gs pos="51000">
                    <a:sysClr val="window" lastClr="FFFFFF">
                      <a:lumMod val="95000"/>
                    </a:sysClr>
                  </a:gs>
                  <a:gs pos="100000">
                    <a:sysClr val="window" lastClr="FFFFFF">
                      <a:lumMod val="75000"/>
                    </a:sysClr>
                  </a:gs>
                </a:gsLst>
                <a:lin ang="18900000" scaled="0"/>
              </a:gradFill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0" lang="zh-CN" altLang="en-US" sz="2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Franklin Gothic Medium" panose="020B0603020102020204"/>
                  <a:ea typeface="微软雅黑" panose="020B0503020204020204" charset="-122"/>
                  <a:cs typeface="微软雅黑" panose="020B0503020204020204" charset="-122"/>
                  <a:sym typeface="Franklin Gothic Medium" panose="020B0603020102020204" charset="0"/>
                </a:endParaRPr>
              </a:p>
            </p:txBody>
          </p:sp>
        </p:grpSp>
        <p:sp>
          <p:nvSpPr>
            <p:cNvPr id="18" name="TextBox 5"/>
            <p:cNvSpPr txBox="1"/>
            <p:nvPr/>
          </p:nvSpPr>
          <p:spPr>
            <a:xfrm>
              <a:off x="3905470" y="3211868"/>
              <a:ext cx="1130834" cy="43376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en-US" sz="3200" b="1" i="0" u="none" strike="noStrike" kern="1200" cap="none" spc="225" normalizeH="0" baseline="0" noProof="0" dirty="0">
                  <a:ln>
                    <a:noFill/>
                  </a:ln>
                  <a:solidFill>
                    <a:srgbClr val="012E57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Franklin Gothic Medium" panose="020B0603020102020204" charset="0"/>
                </a:rPr>
                <a:t>目</a:t>
              </a:r>
              <a:r>
                <a:rPr kumimoji="0" lang="en-US" altLang="zh-CN" sz="3200" b="1" i="0" u="none" strike="noStrike" kern="1200" cap="none" spc="225" normalizeH="0" baseline="0" noProof="0" dirty="0">
                  <a:ln>
                    <a:noFill/>
                  </a:ln>
                  <a:solidFill>
                    <a:srgbClr val="012E57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Franklin Gothic Medium" panose="020B0603020102020204" charset="0"/>
                </a:rPr>
                <a:t> </a:t>
              </a:r>
              <a:r>
                <a:rPr kumimoji="0" lang="zh-CN" altLang="en-US" sz="3200" b="1" i="0" u="none" strike="noStrike" kern="1200" cap="none" spc="225" normalizeH="0" baseline="0" noProof="0" dirty="0">
                  <a:ln>
                    <a:noFill/>
                  </a:ln>
                  <a:solidFill>
                    <a:srgbClr val="012E57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Franklin Gothic Medium" panose="020B0603020102020204" charset="0"/>
                </a:rPr>
                <a:t>录</a:t>
              </a:r>
            </a:p>
          </p:txBody>
        </p:sp>
      </p:grpSp>
      <p:grpSp>
        <p:nvGrpSpPr>
          <p:cNvPr id="3" name="组合 2">
            <a:extLst>
              <a:ext uri="{FF2B5EF4-FFF2-40B4-BE49-F238E27FC236}">
                <a16:creationId xmlns:a16="http://schemas.microsoft.com/office/drawing/2014/main" id="{EE1E2A9F-DE22-A386-8E7C-D78751A056D0}"/>
              </a:ext>
            </a:extLst>
          </p:cNvPr>
          <p:cNvGrpSpPr/>
          <p:nvPr/>
        </p:nvGrpSpPr>
        <p:grpSpPr>
          <a:xfrm>
            <a:off x="4582160" y="1770736"/>
            <a:ext cx="4913630" cy="3167380"/>
            <a:chOff x="4582160" y="1304392"/>
            <a:chExt cx="4913630" cy="3167380"/>
          </a:xfrm>
        </p:grpSpPr>
        <p:sp>
          <p:nvSpPr>
            <p:cNvPr id="2" name="圆角矩形 50"/>
            <p:cNvSpPr/>
            <p:nvPr>
              <p:custDataLst>
                <p:tags r:id="rId1"/>
              </p:custDataLst>
            </p:nvPr>
          </p:nvSpPr>
          <p:spPr bwMode="auto">
            <a:xfrm>
              <a:off x="5398135" y="1304392"/>
              <a:ext cx="3995420" cy="591820"/>
            </a:xfrm>
            <a:prstGeom prst="roundRect">
              <a:avLst/>
            </a:prstGeom>
            <a:solidFill>
              <a:sysClr val="window" lastClr="FFFFFF"/>
            </a:solidFill>
            <a:ln w="25400" cap="flat" cmpd="sng" algn="ctr">
              <a:noFill/>
              <a:prstDash val="solid"/>
            </a:ln>
            <a:effectLst/>
          </p:spPr>
          <p:txBody>
            <a:bodyPr lIns="72313" tIns="36156" rIns="72313" bIns="36156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Medium" panose="020B0603020102020204"/>
                <a:ea typeface="微软雅黑" panose="020B0503020204020204" charset="-122"/>
                <a:cs typeface="+mn-ea"/>
              </a:endParaRPr>
            </a:p>
          </p:txBody>
        </p:sp>
        <p:sp>
          <p:nvSpPr>
            <p:cNvPr id="4" name="矩形 22"/>
            <p:cNvSpPr/>
            <p:nvPr>
              <p:custDataLst>
                <p:tags r:id="rId2"/>
              </p:custDataLst>
            </p:nvPr>
          </p:nvSpPr>
          <p:spPr>
            <a:xfrm>
              <a:off x="5398134" y="1385672"/>
              <a:ext cx="3813175" cy="534035"/>
            </a:xfrm>
            <a:prstGeom prst="rect">
              <a:avLst/>
            </a:prstGeom>
            <a:effectLst/>
          </p:spPr>
          <p:txBody>
            <a:bodyPr wrap="square">
              <a:noAutofit/>
            </a:bodyPr>
            <a:lstStyle/>
            <a:p>
              <a:pPr lvl="0" algn="l">
                <a:lnSpc>
                  <a:spcPct val="120000"/>
                </a:lnSpc>
              </a:pPr>
              <a:r>
                <a:rPr lang="zh-CN" altLang="en-US" sz="2400" b="1" dirty="0">
                  <a:ea typeface="微软雅黑" panose="020B0503020204020204" charset="-122"/>
                  <a:cs typeface="微软雅黑" panose="020B0503020204020204" charset="-122"/>
                  <a:sym typeface="Arial" panose="020B0604020202020204" pitchFamily="34" charset="0"/>
                </a:rPr>
                <a:t>什么是智能体</a:t>
              </a:r>
              <a:endParaRPr lang="zh-CN" altLang="en-US" sz="2400" b="1" noProof="0" dirty="0">
                <a:solidFill>
                  <a:schemeClr val="tx1"/>
                </a:solidFill>
                <a:ea typeface="微软雅黑" panose="020B0503020204020204" charset="-122"/>
                <a:cs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5" name="圆角矩形 55"/>
            <p:cNvSpPr/>
            <p:nvPr>
              <p:custDataLst>
                <p:tags r:id="rId3"/>
              </p:custDataLst>
            </p:nvPr>
          </p:nvSpPr>
          <p:spPr bwMode="auto">
            <a:xfrm>
              <a:off x="4582160" y="1369162"/>
              <a:ext cx="685800" cy="567055"/>
            </a:xfrm>
            <a:prstGeom prst="roundRect">
              <a:avLst/>
            </a:prstGeom>
            <a:solidFill>
              <a:srgbClr val="012E57"/>
            </a:solidFill>
            <a:ln w="38100" cap="flat" cmpd="sng" algn="ctr">
              <a:noFill/>
              <a:prstDash val="solid"/>
            </a:ln>
            <a:effectLst>
              <a:outerShdw blurRad="203200" dist="88900" dir="8100000" sx="102000" sy="102000" algn="tr" rotWithShape="0">
                <a:prstClr val="black">
                  <a:alpha val="30000"/>
                </a:prstClr>
              </a:outerShdw>
            </a:effectLst>
          </p:spPr>
          <p:txBody>
            <a:bodyPr anchor="ctr"/>
            <a:lstStyle/>
            <a:p>
              <a:pPr marL="0" marR="0" lvl="0" indent="0" algn="ctr" defTabSz="914400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Impact" panose="020B0806030902050204" pitchFamily="34" charset="0"/>
                  <a:ea typeface="微软雅黑" panose="020B0503020204020204" charset="-122"/>
                  <a:cs typeface="微软雅黑" panose="020B0503020204020204" charset="-122"/>
                  <a:sym typeface="Franklin Gothic Medium" panose="020B0603020102020204" charset="0"/>
                </a:rPr>
                <a:t>1</a:t>
              </a:r>
            </a:p>
          </p:txBody>
        </p:sp>
        <p:sp>
          <p:nvSpPr>
            <p:cNvPr id="6" name="圆角矩形 56"/>
            <p:cNvSpPr/>
            <p:nvPr>
              <p:custDataLst>
                <p:tags r:id="rId4"/>
              </p:custDataLst>
            </p:nvPr>
          </p:nvSpPr>
          <p:spPr bwMode="auto">
            <a:xfrm>
              <a:off x="5398134" y="2171643"/>
              <a:ext cx="3995420" cy="592455"/>
            </a:xfrm>
            <a:prstGeom prst="roundRect">
              <a:avLst/>
            </a:prstGeom>
            <a:solidFill>
              <a:sysClr val="window" lastClr="FFFFFF"/>
            </a:solidFill>
            <a:ln w="25400" cap="flat" cmpd="sng" algn="ctr">
              <a:noFill/>
              <a:prstDash val="solid"/>
            </a:ln>
            <a:effectLst/>
          </p:spPr>
          <p:txBody>
            <a:bodyPr lIns="72313" tIns="36156" rIns="72313" bIns="36156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Medium" panose="020B0603020102020204"/>
                <a:ea typeface="微软雅黑" panose="020B0503020204020204" charset="-122"/>
                <a:cs typeface="+mn-ea"/>
              </a:endParaRPr>
            </a:p>
          </p:txBody>
        </p:sp>
        <p:sp>
          <p:nvSpPr>
            <p:cNvPr id="8" name="矩形 29"/>
            <p:cNvSpPr/>
            <p:nvPr>
              <p:custDataLst>
                <p:tags r:id="rId5"/>
              </p:custDataLst>
            </p:nvPr>
          </p:nvSpPr>
          <p:spPr>
            <a:xfrm>
              <a:off x="5398135" y="2231492"/>
              <a:ext cx="3813175" cy="497205"/>
            </a:xfrm>
            <a:prstGeom prst="rect">
              <a:avLst/>
            </a:prstGeom>
            <a:effectLst/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zh-CN" sz="2400" b="1" dirty="0">
                  <a:solidFill>
                    <a:schemeClr val="bg1">
                      <a:lumMod val="65000"/>
                    </a:schemeClr>
                  </a:solidFill>
                  <a:ea typeface="微软雅黑" panose="020B0503020204020204" charset="-122"/>
                  <a:sym typeface="Arial" panose="020B0604020202020204" pitchFamily="34" charset="0"/>
                </a:rPr>
                <a:t>LLM</a:t>
              </a:r>
              <a:r>
                <a:rPr lang="zh-CN" altLang="en-US" sz="2400" b="1" dirty="0">
                  <a:solidFill>
                    <a:schemeClr val="bg1">
                      <a:lumMod val="65000"/>
                    </a:schemeClr>
                  </a:solidFill>
                  <a:ea typeface="微软雅黑" panose="020B0503020204020204" charset="-122"/>
                  <a:sym typeface="Arial" panose="020B0604020202020204" pitchFamily="34" charset="0"/>
                </a:rPr>
                <a:t> </a:t>
              </a:r>
              <a:r>
                <a:rPr lang="en-US" altLang="zh-CN" sz="2400" b="1" dirty="0">
                  <a:solidFill>
                    <a:schemeClr val="bg1">
                      <a:lumMod val="65000"/>
                    </a:schemeClr>
                  </a:solidFill>
                  <a:ea typeface="微软雅黑" panose="020B0503020204020204" charset="-122"/>
                  <a:sym typeface="Arial" panose="020B0604020202020204" pitchFamily="34" charset="0"/>
                </a:rPr>
                <a:t>Agent</a:t>
              </a:r>
              <a:r>
                <a:rPr lang="zh-CN" altLang="en-US" sz="2400" b="1" dirty="0">
                  <a:solidFill>
                    <a:schemeClr val="bg1">
                      <a:lumMod val="65000"/>
                    </a:schemeClr>
                  </a:solidFill>
                  <a:ea typeface="微软雅黑" panose="020B0503020204020204" charset="-122"/>
                  <a:sym typeface="Arial" panose="020B0604020202020204" pitchFamily="34" charset="0"/>
                </a:rPr>
                <a:t>的核心架构</a:t>
              </a:r>
              <a:endParaRPr lang="en-US" altLang="zh-CN" sz="2400" b="1" dirty="0">
                <a:solidFill>
                  <a:schemeClr val="bg1">
                    <a:lumMod val="65000"/>
                  </a:schemeClr>
                </a:solidFill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9" name="圆角矩形 74"/>
            <p:cNvSpPr/>
            <p:nvPr>
              <p:custDataLst>
                <p:tags r:id="rId6"/>
              </p:custDataLst>
            </p:nvPr>
          </p:nvSpPr>
          <p:spPr bwMode="auto">
            <a:xfrm>
              <a:off x="4582160" y="2216252"/>
              <a:ext cx="685800" cy="565150"/>
            </a:xfrm>
            <a:prstGeom prst="roundRect">
              <a:avLst/>
            </a:prstGeom>
            <a:solidFill>
              <a:srgbClr val="012E57">
                <a:alpha val="65000"/>
              </a:srgbClr>
            </a:solidFill>
            <a:ln w="38100" cap="flat" cmpd="sng" algn="ctr">
              <a:noFill/>
              <a:prstDash val="solid"/>
            </a:ln>
            <a:effectLst>
              <a:outerShdw blurRad="203200" dist="88900" dir="8100000" sx="102000" sy="102000" algn="tr" rotWithShape="0">
                <a:prstClr val="black">
                  <a:alpha val="30000"/>
                </a:prstClr>
              </a:outerShdw>
            </a:effectLst>
          </p:spPr>
          <p:txBody>
            <a:bodyPr anchor="ctr"/>
            <a:lstStyle/>
            <a:p>
              <a:pPr marL="0" marR="0" lvl="0" indent="0" algn="ctr" defTabSz="914400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Impact" panose="020B0806030902050204" pitchFamily="34" charset="0"/>
                  <a:ea typeface="微软雅黑" panose="020B0503020204020204" charset="-122"/>
                  <a:cs typeface="微软雅黑" panose="020B0503020204020204" charset="-122"/>
                  <a:sym typeface="Franklin Gothic Medium" panose="020B0603020102020204" charset="0"/>
                </a:rPr>
                <a:t>2</a:t>
              </a:r>
            </a:p>
          </p:txBody>
        </p:sp>
        <p:sp>
          <p:nvSpPr>
            <p:cNvPr id="30" name="圆角矩形 56"/>
            <p:cNvSpPr/>
            <p:nvPr>
              <p:custDataLst>
                <p:tags r:id="rId7"/>
              </p:custDataLst>
            </p:nvPr>
          </p:nvSpPr>
          <p:spPr bwMode="auto">
            <a:xfrm>
              <a:off x="5398134" y="3016034"/>
              <a:ext cx="3995420" cy="592455"/>
            </a:xfrm>
            <a:prstGeom prst="roundRect">
              <a:avLst/>
            </a:prstGeom>
            <a:solidFill>
              <a:sysClr val="window" lastClr="FFFFFF"/>
            </a:solidFill>
            <a:ln w="25400" cap="flat" cmpd="sng" algn="ctr">
              <a:noFill/>
              <a:prstDash val="solid"/>
            </a:ln>
            <a:effectLst/>
          </p:spPr>
          <p:txBody>
            <a:bodyPr lIns="72313" tIns="36156" rIns="72313" bIns="36156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Medium" panose="020B0603020102020204"/>
                <a:ea typeface="微软雅黑" panose="020B0503020204020204" charset="-122"/>
                <a:cs typeface="+mn-ea"/>
              </a:endParaRPr>
            </a:p>
          </p:txBody>
        </p:sp>
        <p:sp>
          <p:nvSpPr>
            <p:cNvPr id="31" name="矩形 29"/>
            <p:cNvSpPr/>
            <p:nvPr>
              <p:custDataLst>
                <p:tags r:id="rId8"/>
              </p:custDataLst>
            </p:nvPr>
          </p:nvSpPr>
          <p:spPr>
            <a:xfrm>
              <a:off x="5398135" y="3077312"/>
              <a:ext cx="4097655" cy="497205"/>
            </a:xfrm>
            <a:prstGeom prst="rect">
              <a:avLst/>
            </a:prstGeom>
            <a:effectLst/>
          </p:spPr>
          <p:txBody>
            <a:bodyPr wrap="square">
              <a:spAutoFit/>
            </a:bodyPr>
            <a:lstStyle/>
            <a:p>
              <a:pPr lvl="0" algn="l">
                <a:lnSpc>
                  <a:spcPct val="120000"/>
                </a:lnSpc>
              </a:pPr>
              <a:r>
                <a:rPr lang="zh-CN" altLang="en-US" sz="2400" b="1" dirty="0">
                  <a:solidFill>
                    <a:schemeClr val="bg1">
                      <a:lumMod val="65000"/>
                    </a:schemeClr>
                  </a:solidFill>
                  <a:ea typeface="微软雅黑" panose="020B0503020204020204" charset="-122"/>
                  <a:cs typeface="微软雅黑" panose="020B0503020204020204" charset="-122"/>
                  <a:sym typeface="Arial" panose="020B0604020202020204" pitchFamily="34" charset="0"/>
                </a:rPr>
                <a:t>代表性研究工作</a:t>
              </a:r>
            </a:p>
          </p:txBody>
        </p:sp>
        <p:sp>
          <p:nvSpPr>
            <p:cNvPr id="32" name="圆角矩形 74"/>
            <p:cNvSpPr/>
            <p:nvPr>
              <p:custDataLst>
                <p:tags r:id="rId9"/>
              </p:custDataLst>
            </p:nvPr>
          </p:nvSpPr>
          <p:spPr bwMode="auto">
            <a:xfrm>
              <a:off x="4582160" y="3061437"/>
              <a:ext cx="685800" cy="565150"/>
            </a:xfrm>
            <a:prstGeom prst="roundRect">
              <a:avLst/>
            </a:prstGeom>
            <a:solidFill>
              <a:srgbClr val="012E57">
                <a:alpha val="65000"/>
              </a:srgbClr>
            </a:solidFill>
            <a:ln w="38100" cap="flat" cmpd="sng" algn="ctr">
              <a:noFill/>
              <a:prstDash val="solid"/>
            </a:ln>
            <a:effectLst>
              <a:outerShdw blurRad="203200" dist="88900" dir="8100000" sx="102000" sy="102000" algn="tr" rotWithShape="0">
                <a:prstClr val="black">
                  <a:alpha val="30000"/>
                </a:prstClr>
              </a:outerShdw>
            </a:effectLst>
          </p:spPr>
          <p:txBody>
            <a:bodyPr anchor="ctr"/>
            <a:lstStyle/>
            <a:p>
              <a:pPr marL="0" marR="0" lvl="0" indent="0" algn="ctr" defTabSz="914400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Impact" panose="020B0806030902050204" pitchFamily="34" charset="0"/>
                  <a:ea typeface="微软雅黑" panose="020B0503020204020204" charset="-122"/>
                  <a:cs typeface="微软雅黑" panose="020B0503020204020204" charset="-122"/>
                  <a:sym typeface="Franklin Gothic Medium" panose="020B0603020102020204" charset="0"/>
                </a:rPr>
                <a:t>3</a:t>
              </a:r>
            </a:p>
          </p:txBody>
        </p:sp>
        <p:sp>
          <p:nvSpPr>
            <p:cNvPr id="34" name="圆角矩形 56"/>
            <p:cNvSpPr/>
            <p:nvPr>
              <p:custDataLst>
                <p:tags r:id="rId10"/>
              </p:custDataLst>
            </p:nvPr>
          </p:nvSpPr>
          <p:spPr bwMode="auto">
            <a:xfrm>
              <a:off x="5398134" y="3860425"/>
              <a:ext cx="3995420" cy="591820"/>
            </a:xfrm>
            <a:prstGeom prst="roundRect">
              <a:avLst/>
            </a:prstGeom>
            <a:solidFill>
              <a:sysClr val="window" lastClr="FFFFFF"/>
            </a:solidFill>
            <a:ln w="25400" cap="flat" cmpd="sng" algn="ctr">
              <a:noFill/>
              <a:prstDash val="solid"/>
            </a:ln>
            <a:effectLst/>
          </p:spPr>
          <p:txBody>
            <a:bodyPr lIns="72313" tIns="36156" rIns="72313" bIns="36156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Medium" panose="020B0603020102020204"/>
                <a:ea typeface="微软雅黑" panose="020B0503020204020204" charset="-122"/>
                <a:cs typeface="+mn-ea"/>
              </a:endParaRPr>
            </a:p>
          </p:txBody>
        </p:sp>
        <p:sp>
          <p:nvSpPr>
            <p:cNvPr id="35" name="矩形 29"/>
            <p:cNvSpPr/>
            <p:nvPr>
              <p:custDataLst>
                <p:tags r:id="rId11"/>
              </p:custDataLst>
            </p:nvPr>
          </p:nvSpPr>
          <p:spPr>
            <a:xfrm>
              <a:off x="5398135" y="3923132"/>
              <a:ext cx="3166745" cy="497205"/>
            </a:xfrm>
            <a:prstGeom prst="rect">
              <a:avLst/>
            </a:prstGeom>
            <a:effectLst/>
          </p:spPr>
          <p:txBody>
            <a:bodyPr wrap="square">
              <a:spAutoFit/>
            </a:bodyPr>
            <a:lstStyle/>
            <a:p>
              <a:pPr lvl="0" algn="l">
                <a:lnSpc>
                  <a:spcPct val="120000"/>
                </a:lnSpc>
              </a:pPr>
              <a:r>
                <a:rPr lang="zh-CN" altLang="en-US" sz="2400" b="1" dirty="0">
                  <a:solidFill>
                    <a:schemeClr val="bg1">
                      <a:lumMod val="65000"/>
                    </a:schemeClr>
                  </a:solidFill>
                  <a:ea typeface="微软雅黑" panose="020B0503020204020204" charset="-122"/>
                  <a:cs typeface="微软雅黑" panose="020B0503020204020204" charset="-122"/>
                  <a:sym typeface="Arial" panose="020B0604020202020204" pitchFamily="34" charset="0"/>
                </a:rPr>
                <a:t>智能体的应用与</a:t>
              </a:r>
            </a:p>
          </p:txBody>
        </p:sp>
        <p:sp>
          <p:nvSpPr>
            <p:cNvPr id="36" name="圆角矩形 74"/>
            <p:cNvSpPr/>
            <p:nvPr>
              <p:custDataLst>
                <p:tags r:id="rId12"/>
              </p:custDataLst>
            </p:nvPr>
          </p:nvSpPr>
          <p:spPr bwMode="auto">
            <a:xfrm>
              <a:off x="4582160" y="3906622"/>
              <a:ext cx="685800" cy="565150"/>
            </a:xfrm>
            <a:prstGeom prst="roundRect">
              <a:avLst/>
            </a:prstGeom>
            <a:solidFill>
              <a:srgbClr val="012E57">
                <a:alpha val="65000"/>
              </a:srgbClr>
            </a:solidFill>
            <a:ln w="38100" cap="flat" cmpd="sng" algn="ctr">
              <a:noFill/>
              <a:prstDash val="solid"/>
            </a:ln>
            <a:effectLst>
              <a:outerShdw blurRad="203200" dist="88900" dir="8100000" sx="102000" sy="102000" algn="tr" rotWithShape="0">
                <a:prstClr val="black">
                  <a:alpha val="30000"/>
                </a:prstClr>
              </a:outerShdw>
            </a:effectLst>
          </p:spPr>
          <p:txBody>
            <a:bodyPr anchor="ctr"/>
            <a:lstStyle/>
            <a:p>
              <a:pPr marL="0" marR="0" lvl="0" indent="0" algn="ctr" defTabSz="914400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Impact" panose="020B0806030902050204" pitchFamily="34" charset="0"/>
                  <a:ea typeface="微软雅黑" panose="020B0503020204020204" charset="-122"/>
                  <a:cs typeface="微软雅黑" panose="020B0503020204020204" charset="-122"/>
                  <a:sym typeface="Franklin Gothic Medium" panose="020B0603020102020204" charset="0"/>
                </a:rPr>
                <a:t>4</a:t>
              </a:r>
            </a:p>
          </p:txBody>
        </p:sp>
      </p:grp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5FA14B80-4C82-3E2E-8A22-E39E8C778D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3BC750F3-3E9E-A24B-3E37-97BE038060A7}"/>
              </a:ext>
            </a:extLst>
          </p:cNvPr>
          <p:cNvSpPr/>
          <p:nvPr/>
        </p:nvSpPr>
        <p:spPr>
          <a:xfrm>
            <a:off x="234082" y="393350"/>
            <a:ext cx="496852" cy="496851"/>
          </a:xfrm>
          <a:prstGeom prst="rect">
            <a:avLst/>
          </a:prstGeom>
          <a:solidFill>
            <a:srgbClr val="2E5696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05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23B1AE6-D675-6116-2A19-77B955BB9D35}"/>
              </a:ext>
            </a:extLst>
          </p:cNvPr>
          <p:cNvSpPr/>
          <p:nvPr/>
        </p:nvSpPr>
        <p:spPr>
          <a:xfrm>
            <a:off x="478878" y="659755"/>
            <a:ext cx="331236" cy="331236"/>
          </a:xfrm>
          <a:prstGeom prst="rect">
            <a:avLst/>
          </a:prstGeom>
          <a:solidFill>
            <a:srgbClr val="2E5696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05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8" name="TextBox 28">
            <a:extLst>
              <a:ext uri="{FF2B5EF4-FFF2-40B4-BE49-F238E27FC236}">
                <a16:creationId xmlns:a16="http://schemas.microsoft.com/office/drawing/2014/main" id="{58549A2E-417D-2357-88B2-EF5A98150ACE}"/>
              </a:ext>
            </a:extLst>
          </p:cNvPr>
          <p:cNvSpPr txBox="1"/>
          <p:nvPr/>
        </p:nvSpPr>
        <p:spPr>
          <a:xfrm>
            <a:off x="830709" y="338772"/>
            <a:ext cx="9094687" cy="691316"/>
          </a:xfrm>
          <a:prstGeom prst="rect">
            <a:avLst/>
          </a:prstGeom>
          <a:noFill/>
        </p:spPr>
        <p:txBody>
          <a:bodyPr wrap="square" lIns="105509" tIns="52755" rIns="105509" bIns="52755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3800" b="1" spc="300" dirty="0">
                <a:solidFill>
                  <a:srgbClr val="2E5696"/>
                </a:solidFill>
                <a:latin typeface="微软雅黑" panose="020B0503020204020204" charset="-122"/>
                <a:ea typeface="微软雅黑" panose="020B0503020204020204" charset="-122"/>
              </a:rPr>
              <a:t>智能体的定义</a:t>
            </a:r>
            <a:endParaRPr kumimoji="0" lang="zh-CN" sz="3800" b="1" i="0" u="none" strike="noStrike" kern="1200" cap="none" spc="300" normalizeH="0" noProof="0" dirty="0">
              <a:ln>
                <a:noFill/>
              </a:ln>
              <a:solidFill>
                <a:srgbClr val="2E5696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cxnSp>
        <p:nvCxnSpPr>
          <p:cNvPr id="122" name="直接连接符 46">
            <a:extLst>
              <a:ext uri="{FF2B5EF4-FFF2-40B4-BE49-F238E27FC236}">
                <a16:creationId xmlns:a16="http://schemas.microsoft.com/office/drawing/2014/main" id="{32B0C948-9076-4F03-BAFA-BEEF0E45AC4B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810340" y="990889"/>
            <a:ext cx="11135003" cy="0"/>
          </a:xfrm>
          <a:prstGeom prst="line">
            <a:avLst/>
          </a:prstGeom>
          <a:noFill/>
          <a:ln w="9525" cmpd="sng">
            <a:solidFill>
              <a:srgbClr val="4D4948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42" name="组合 41">
            <a:extLst>
              <a:ext uri="{FF2B5EF4-FFF2-40B4-BE49-F238E27FC236}">
                <a16:creationId xmlns:a16="http://schemas.microsoft.com/office/drawing/2014/main" id="{CCBDE020-CEFE-FD42-A6DD-F1CEEA45F418}"/>
              </a:ext>
            </a:extLst>
          </p:cNvPr>
          <p:cNvGrpSpPr/>
          <p:nvPr/>
        </p:nvGrpSpPr>
        <p:grpSpPr>
          <a:xfrm>
            <a:off x="1809887" y="1512924"/>
            <a:ext cx="8279312" cy="4812292"/>
            <a:chOff x="1809887" y="1594904"/>
            <a:chExt cx="8279312" cy="4812292"/>
          </a:xfrm>
        </p:grpSpPr>
        <p:grpSp>
          <p:nvGrpSpPr>
            <p:cNvPr id="23" name="组合 22">
              <a:extLst>
                <a:ext uri="{FF2B5EF4-FFF2-40B4-BE49-F238E27FC236}">
                  <a16:creationId xmlns:a16="http://schemas.microsoft.com/office/drawing/2014/main" id="{EF8F2B9C-CEDD-E430-5860-D6001AAEF37C}"/>
                </a:ext>
              </a:extLst>
            </p:cNvPr>
            <p:cNvGrpSpPr/>
            <p:nvPr/>
          </p:nvGrpSpPr>
          <p:grpSpPr>
            <a:xfrm>
              <a:off x="1809887" y="1594904"/>
              <a:ext cx="8279312" cy="1570812"/>
              <a:chOff x="1973843" y="1626434"/>
              <a:chExt cx="8279312" cy="1570812"/>
            </a:xfrm>
          </p:grpSpPr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DD827E0B-6D3C-3B15-BEB3-42DD8289B4E4}"/>
                  </a:ext>
                </a:extLst>
              </p:cNvPr>
              <p:cNvSpPr/>
              <p:nvPr/>
            </p:nvSpPr>
            <p:spPr>
              <a:xfrm>
                <a:off x="1973843" y="1626434"/>
                <a:ext cx="8279312" cy="1570812"/>
              </a:xfrm>
              <a:prstGeom prst="rect">
                <a:avLst/>
              </a:prstGeom>
              <a:noFill/>
              <a:ln>
                <a:solidFill>
                  <a:schemeClr val="tx1">
                    <a:lumMod val="85000"/>
                    <a:lumOff val="15000"/>
                  </a:schemeClr>
                </a:solidFill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20" name="组合 19">
                <a:extLst>
                  <a:ext uri="{FF2B5EF4-FFF2-40B4-BE49-F238E27FC236}">
                    <a16:creationId xmlns:a16="http://schemas.microsoft.com/office/drawing/2014/main" id="{C6DCA0F7-F3DE-F398-8B7C-7761A9E0BB1F}"/>
                  </a:ext>
                </a:extLst>
              </p:cNvPr>
              <p:cNvGrpSpPr/>
              <p:nvPr/>
            </p:nvGrpSpPr>
            <p:grpSpPr>
              <a:xfrm>
                <a:off x="2207174" y="1967536"/>
                <a:ext cx="1907895" cy="953674"/>
                <a:chOff x="2257622" y="1967536"/>
                <a:chExt cx="1907895" cy="953674"/>
              </a:xfrm>
            </p:grpSpPr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2CA9411B-CE9E-0FB2-5F81-EC4B547388BE}"/>
                    </a:ext>
                  </a:extLst>
                </p:cNvPr>
                <p:cNvSpPr txBox="1"/>
                <p:nvPr/>
              </p:nvSpPr>
              <p:spPr>
                <a:xfrm>
                  <a:off x="2257622" y="1967536"/>
                  <a:ext cx="1907895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2000" b="1" dirty="0"/>
                    <a:t>Stuart Russell</a:t>
                  </a:r>
                </a:p>
              </p:txBody>
            </p:sp>
            <p:sp>
              <p:nvSpPr>
                <p:cNvPr id="15" name="文本框 14">
                  <a:extLst>
                    <a:ext uri="{FF2B5EF4-FFF2-40B4-BE49-F238E27FC236}">
                      <a16:creationId xmlns:a16="http://schemas.microsoft.com/office/drawing/2014/main" id="{4B264D03-6742-E0B2-1B49-9942ACC0E92B}"/>
                    </a:ext>
                  </a:extLst>
                </p:cNvPr>
                <p:cNvSpPr txBox="1"/>
                <p:nvPr/>
              </p:nvSpPr>
              <p:spPr>
                <a:xfrm>
                  <a:off x="2548567" y="2521100"/>
                  <a:ext cx="1326004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2000" dirty="0"/>
                    <a:t>UCB </a:t>
                  </a:r>
                  <a:r>
                    <a:rPr lang="zh-CN" altLang="en-US" sz="2000" dirty="0"/>
                    <a:t>教授</a:t>
                  </a:r>
                  <a:endParaRPr lang="en-US" altLang="zh-CN" sz="2000" dirty="0"/>
                </a:p>
              </p:txBody>
            </p:sp>
          </p:grpSp>
          <p:pic>
            <p:nvPicPr>
              <p:cNvPr id="19" name="图片 18">
                <a:extLst>
                  <a:ext uri="{FF2B5EF4-FFF2-40B4-BE49-F238E27FC236}">
                    <a16:creationId xmlns:a16="http://schemas.microsoft.com/office/drawing/2014/main" id="{11C11504-4549-28CC-034B-763F301AAE1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302564" y="1752146"/>
                <a:ext cx="1167702" cy="1332000"/>
              </a:xfrm>
              <a:prstGeom prst="rect">
                <a:avLst/>
              </a:prstGeom>
            </p:spPr>
          </p:pic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E5374E62-C79B-B373-E477-25603CCCE88F}"/>
                  </a:ext>
                </a:extLst>
              </p:cNvPr>
              <p:cNvSpPr txBox="1"/>
              <p:nvPr/>
            </p:nvSpPr>
            <p:spPr>
              <a:xfrm>
                <a:off x="5664067" y="1905443"/>
                <a:ext cx="4256153" cy="8739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dirty="0"/>
                  <a:t>智能体为可以</a:t>
                </a:r>
                <a:r>
                  <a:rPr lang="zh-CN" altLang="en-US" b="1" dirty="0">
                    <a:solidFill>
                      <a:schemeClr val="accent5">
                        <a:lumMod val="75000"/>
                      </a:schemeClr>
                    </a:solidFill>
                  </a:rPr>
                  <a:t>感知环境</a:t>
                </a:r>
                <a:r>
                  <a:rPr lang="zh-CN" altLang="en-US" dirty="0"/>
                  <a:t>并作出响应以</a:t>
                </a:r>
                <a:r>
                  <a:rPr lang="zh-CN" altLang="en-US" b="1" dirty="0">
                    <a:solidFill>
                      <a:schemeClr val="accent5">
                        <a:lumMod val="75000"/>
                      </a:schemeClr>
                    </a:solidFill>
                  </a:rPr>
                  <a:t>实现某些目标</a:t>
                </a:r>
                <a:r>
                  <a:rPr lang="zh-CN" altLang="en-US" dirty="0"/>
                  <a:t>的任何实体。</a:t>
                </a:r>
              </a:p>
            </p:txBody>
          </p:sp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E39BECC2-E3D7-1541-15E4-C0D0F311ADCC}"/>
                  </a:ext>
                </a:extLst>
              </p:cNvPr>
              <p:cNvSpPr txBox="1"/>
              <p:nvPr/>
            </p:nvSpPr>
            <p:spPr>
              <a:xfrm>
                <a:off x="9039947" y="2773094"/>
                <a:ext cx="115929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/>
                  <a:t>——1995</a:t>
                </a:r>
                <a:endParaRPr lang="zh-CN" altLang="en-US" dirty="0"/>
              </a:p>
            </p:txBody>
          </p:sp>
        </p:grpSp>
        <p:grpSp>
          <p:nvGrpSpPr>
            <p:cNvPr id="24" name="组合 23">
              <a:extLst>
                <a:ext uri="{FF2B5EF4-FFF2-40B4-BE49-F238E27FC236}">
                  <a16:creationId xmlns:a16="http://schemas.microsoft.com/office/drawing/2014/main" id="{17B07AB6-3E92-740C-0CC3-258259A0959B}"/>
                </a:ext>
              </a:extLst>
            </p:cNvPr>
            <p:cNvGrpSpPr/>
            <p:nvPr/>
          </p:nvGrpSpPr>
          <p:grpSpPr>
            <a:xfrm>
              <a:off x="1809887" y="4836384"/>
              <a:ext cx="8279312" cy="1570812"/>
              <a:chOff x="1973843" y="1626434"/>
              <a:chExt cx="8279312" cy="1570812"/>
            </a:xfrm>
          </p:grpSpPr>
          <p:sp>
            <p:nvSpPr>
              <p:cNvPr id="25" name="矩形 24">
                <a:extLst>
                  <a:ext uri="{FF2B5EF4-FFF2-40B4-BE49-F238E27FC236}">
                    <a16:creationId xmlns:a16="http://schemas.microsoft.com/office/drawing/2014/main" id="{71834842-3AAB-C8A8-64AD-56517C2D5863}"/>
                  </a:ext>
                </a:extLst>
              </p:cNvPr>
              <p:cNvSpPr/>
              <p:nvPr/>
            </p:nvSpPr>
            <p:spPr>
              <a:xfrm>
                <a:off x="1973843" y="1626434"/>
                <a:ext cx="8279312" cy="1570812"/>
              </a:xfrm>
              <a:prstGeom prst="rect">
                <a:avLst/>
              </a:prstGeom>
              <a:noFill/>
              <a:ln>
                <a:solidFill>
                  <a:schemeClr val="tx1">
                    <a:lumMod val="85000"/>
                    <a:lumOff val="15000"/>
                  </a:schemeClr>
                </a:solidFill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26" name="组合 25">
                <a:extLst>
                  <a:ext uri="{FF2B5EF4-FFF2-40B4-BE49-F238E27FC236}">
                    <a16:creationId xmlns:a16="http://schemas.microsoft.com/office/drawing/2014/main" id="{41DF665B-5C36-5DE6-8A14-AF56A6699F9B}"/>
                  </a:ext>
                </a:extLst>
              </p:cNvPr>
              <p:cNvGrpSpPr/>
              <p:nvPr/>
            </p:nvGrpSpPr>
            <p:grpSpPr>
              <a:xfrm>
                <a:off x="2198087" y="1967536"/>
                <a:ext cx="2050561" cy="976225"/>
                <a:chOff x="2248535" y="1967536"/>
                <a:chExt cx="2050561" cy="976225"/>
              </a:xfrm>
            </p:grpSpPr>
            <p:sp>
              <p:nvSpPr>
                <p:cNvPr id="30" name="文本框 29">
                  <a:extLst>
                    <a:ext uri="{FF2B5EF4-FFF2-40B4-BE49-F238E27FC236}">
                      <a16:creationId xmlns:a16="http://schemas.microsoft.com/office/drawing/2014/main" id="{2B939AD6-59A7-8253-7ADC-D61C3DFE4056}"/>
                    </a:ext>
                  </a:extLst>
                </p:cNvPr>
                <p:cNvSpPr txBox="1"/>
                <p:nvPr/>
              </p:nvSpPr>
              <p:spPr>
                <a:xfrm>
                  <a:off x="2257622" y="1967536"/>
                  <a:ext cx="1808508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2000" b="1" dirty="0"/>
                    <a:t>Stan Franklin</a:t>
                  </a:r>
                </a:p>
              </p:txBody>
            </p:sp>
            <p:sp>
              <p:nvSpPr>
                <p:cNvPr id="31" name="文本框 30">
                  <a:extLst>
                    <a:ext uri="{FF2B5EF4-FFF2-40B4-BE49-F238E27FC236}">
                      <a16:creationId xmlns:a16="http://schemas.microsoft.com/office/drawing/2014/main" id="{7EEE759D-39C3-9EEA-D509-AB1DAFAB4FC6}"/>
                    </a:ext>
                  </a:extLst>
                </p:cNvPr>
                <p:cNvSpPr txBox="1"/>
                <p:nvPr/>
              </p:nvSpPr>
              <p:spPr>
                <a:xfrm>
                  <a:off x="2248535" y="2543651"/>
                  <a:ext cx="2050561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zh-CN" altLang="en-US" sz="2000" dirty="0"/>
                    <a:t>孟菲斯大学</a:t>
                  </a:r>
                  <a:r>
                    <a:rPr lang="en-US" altLang="zh-CN" sz="2000" dirty="0"/>
                    <a:t> </a:t>
                  </a:r>
                  <a:r>
                    <a:rPr lang="zh-CN" altLang="en-US" sz="2000" dirty="0"/>
                    <a:t>教授</a:t>
                  </a:r>
                  <a:endParaRPr lang="en-US" altLang="zh-CN" sz="2000" dirty="0"/>
                </a:p>
              </p:txBody>
            </p:sp>
          </p:grpSp>
          <p:pic>
            <p:nvPicPr>
              <p:cNvPr id="27" name="图片 26">
                <a:extLst>
                  <a:ext uri="{FF2B5EF4-FFF2-40B4-BE49-F238E27FC236}">
                    <a16:creationId xmlns:a16="http://schemas.microsoft.com/office/drawing/2014/main" id="{9F2A4653-7E6A-759C-2E70-6F7D56BCA84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rcRect/>
              <a:stretch/>
            </p:blipFill>
            <p:spPr>
              <a:xfrm>
                <a:off x="4304986" y="1752146"/>
                <a:ext cx="1162857" cy="1332000"/>
              </a:xfrm>
              <a:prstGeom prst="rect">
                <a:avLst/>
              </a:prstGeom>
            </p:spPr>
          </p:pic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71390159-4889-EDA5-3B10-960FB8F48999}"/>
                  </a:ext>
                </a:extLst>
              </p:cNvPr>
              <p:cNvSpPr txBox="1"/>
              <p:nvPr/>
            </p:nvSpPr>
            <p:spPr>
              <a:xfrm>
                <a:off x="5653766" y="1722918"/>
                <a:ext cx="4474002" cy="12894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dirty="0"/>
                  <a:t>智能体是位于环境中的系统，能够</a:t>
                </a:r>
                <a:r>
                  <a:rPr lang="zh-CN" altLang="en-US" b="1" dirty="0">
                    <a:solidFill>
                      <a:schemeClr val="accent5">
                        <a:lumMod val="75000"/>
                      </a:schemeClr>
                    </a:solidFill>
                  </a:rPr>
                  <a:t>观察其环境</a:t>
                </a:r>
                <a:r>
                  <a:rPr lang="zh-CN" altLang="en-US" dirty="0"/>
                  <a:t>并根据观察的变化，持续不断地</a:t>
                </a:r>
                <a:r>
                  <a:rPr lang="zh-CN" altLang="en-US" b="1" dirty="0">
                    <a:solidFill>
                      <a:schemeClr val="accent5">
                        <a:lumMod val="75000"/>
                      </a:schemeClr>
                    </a:solidFill>
                  </a:rPr>
                  <a:t>行动</a:t>
                </a:r>
                <a:r>
                  <a:rPr lang="zh-CN" altLang="en-US" dirty="0"/>
                  <a:t>以</a:t>
                </a:r>
                <a:r>
                  <a:rPr lang="zh-CN" altLang="en-US" b="1" dirty="0">
                    <a:solidFill>
                      <a:schemeClr val="accent5">
                        <a:lumMod val="75000"/>
                      </a:schemeClr>
                    </a:solidFill>
                  </a:rPr>
                  <a:t>实现自己的目标</a:t>
                </a:r>
                <a:r>
                  <a:rPr lang="zh-CN" altLang="en-US" dirty="0"/>
                  <a:t>。</a:t>
                </a:r>
              </a:p>
            </p:txBody>
          </p:sp>
          <p:sp>
            <p:nvSpPr>
              <p:cNvPr id="29" name="文本框 28">
                <a:extLst>
                  <a:ext uri="{FF2B5EF4-FFF2-40B4-BE49-F238E27FC236}">
                    <a16:creationId xmlns:a16="http://schemas.microsoft.com/office/drawing/2014/main" id="{320439EE-15A0-8495-F80C-B8FD14013E8B}"/>
                  </a:ext>
                </a:extLst>
              </p:cNvPr>
              <p:cNvSpPr txBox="1"/>
              <p:nvPr/>
            </p:nvSpPr>
            <p:spPr>
              <a:xfrm>
                <a:off x="9039947" y="2773094"/>
                <a:ext cx="115929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/>
                  <a:t>——1999</a:t>
                </a:r>
                <a:endParaRPr lang="zh-CN" altLang="en-US" dirty="0"/>
              </a:p>
            </p:txBody>
          </p:sp>
        </p:grpSp>
        <p:grpSp>
          <p:nvGrpSpPr>
            <p:cNvPr id="32" name="组合 31">
              <a:extLst>
                <a:ext uri="{FF2B5EF4-FFF2-40B4-BE49-F238E27FC236}">
                  <a16:creationId xmlns:a16="http://schemas.microsoft.com/office/drawing/2014/main" id="{130197A9-6D5D-02EA-F7C6-E90AF7CE57EC}"/>
                </a:ext>
              </a:extLst>
            </p:cNvPr>
            <p:cNvGrpSpPr/>
            <p:nvPr/>
          </p:nvGrpSpPr>
          <p:grpSpPr>
            <a:xfrm>
              <a:off x="1809887" y="3215644"/>
              <a:ext cx="8279312" cy="1570812"/>
              <a:chOff x="1973843" y="1626434"/>
              <a:chExt cx="8279312" cy="1570812"/>
            </a:xfrm>
          </p:grpSpPr>
          <p:sp>
            <p:nvSpPr>
              <p:cNvPr id="33" name="矩形 32">
                <a:extLst>
                  <a:ext uri="{FF2B5EF4-FFF2-40B4-BE49-F238E27FC236}">
                    <a16:creationId xmlns:a16="http://schemas.microsoft.com/office/drawing/2014/main" id="{16691078-1CE2-94D1-A94D-0792D5C8DA9C}"/>
                  </a:ext>
                </a:extLst>
              </p:cNvPr>
              <p:cNvSpPr/>
              <p:nvPr/>
            </p:nvSpPr>
            <p:spPr>
              <a:xfrm>
                <a:off x="1973843" y="1626434"/>
                <a:ext cx="8279312" cy="1570812"/>
              </a:xfrm>
              <a:prstGeom prst="rect">
                <a:avLst/>
              </a:prstGeom>
              <a:noFill/>
              <a:ln>
                <a:solidFill>
                  <a:schemeClr val="tx1">
                    <a:lumMod val="85000"/>
                    <a:lumOff val="15000"/>
                  </a:schemeClr>
                </a:solidFill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34" name="组合 33">
                <a:extLst>
                  <a:ext uri="{FF2B5EF4-FFF2-40B4-BE49-F238E27FC236}">
                    <a16:creationId xmlns:a16="http://schemas.microsoft.com/office/drawing/2014/main" id="{E7F2D8FC-F9A4-4CC5-64F9-C770F4405ABE}"/>
                  </a:ext>
                </a:extLst>
              </p:cNvPr>
              <p:cNvGrpSpPr/>
              <p:nvPr/>
            </p:nvGrpSpPr>
            <p:grpSpPr>
              <a:xfrm>
                <a:off x="2271780" y="1809663"/>
                <a:ext cx="1794081" cy="1239133"/>
                <a:chOff x="2322228" y="1809663"/>
                <a:chExt cx="1794081" cy="1239133"/>
              </a:xfrm>
            </p:grpSpPr>
            <p:sp>
              <p:nvSpPr>
                <p:cNvPr id="38" name="文本框 37">
                  <a:extLst>
                    <a:ext uri="{FF2B5EF4-FFF2-40B4-BE49-F238E27FC236}">
                      <a16:creationId xmlns:a16="http://schemas.microsoft.com/office/drawing/2014/main" id="{2A4129EC-A0D7-A149-57F6-51BE44AE0190}"/>
                    </a:ext>
                  </a:extLst>
                </p:cNvPr>
                <p:cNvSpPr txBox="1"/>
                <p:nvPr/>
              </p:nvSpPr>
              <p:spPr>
                <a:xfrm>
                  <a:off x="2393306" y="1809663"/>
                  <a:ext cx="1590692" cy="70788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2000" b="1" dirty="0"/>
                    <a:t>   Michael</a:t>
                  </a:r>
                </a:p>
                <a:p>
                  <a:r>
                    <a:rPr lang="en-US" altLang="zh-CN" sz="2000" b="1" dirty="0"/>
                    <a:t>Wooldridge</a:t>
                  </a:r>
                </a:p>
              </p:txBody>
            </p:sp>
            <p:sp>
              <p:nvSpPr>
                <p:cNvPr id="39" name="文本框 38">
                  <a:extLst>
                    <a:ext uri="{FF2B5EF4-FFF2-40B4-BE49-F238E27FC236}">
                      <a16:creationId xmlns:a16="http://schemas.microsoft.com/office/drawing/2014/main" id="{1156CE0D-5D20-DD00-1530-7F29C367561D}"/>
                    </a:ext>
                  </a:extLst>
                </p:cNvPr>
                <p:cNvSpPr txBox="1"/>
                <p:nvPr/>
              </p:nvSpPr>
              <p:spPr>
                <a:xfrm>
                  <a:off x="2322228" y="2648686"/>
                  <a:ext cx="1794081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zh-CN" altLang="en-US" sz="2000" dirty="0"/>
                    <a:t>牛津大学 教授</a:t>
                  </a:r>
                  <a:endParaRPr lang="en-US" altLang="zh-CN" sz="2000" dirty="0"/>
                </a:p>
              </p:txBody>
            </p:sp>
          </p:grpSp>
          <p:pic>
            <p:nvPicPr>
              <p:cNvPr id="35" name="图片 34">
                <a:extLst>
                  <a:ext uri="{FF2B5EF4-FFF2-40B4-BE49-F238E27FC236}">
                    <a16:creationId xmlns:a16="http://schemas.microsoft.com/office/drawing/2014/main" id="{584C0B38-349B-FFC1-4D5B-7805A68FCCA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rcRect/>
              <a:stretch/>
            </p:blipFill>
            <p:spPr>
              <a:xfrm>
                <a:off x="4302564" y="1769041"/>
                <a:ext cx="1167702" cy="1298210"/>
              </a:xfrm>
              <a:prstGeom prst="rect">
                <a:avLst/>
              </a:prstGeom>
            </p:spPr>
          </p:pic>
          <p:sp>
            <p:nvSpPr>
              <p:cNvPr id="36" name="文本框 35">
                <a:extLst>
                  <a:ext uri="{FF2B5EF4-FFF2-40B4-BE49-F238E27FC236}">
                    <a16:creationId xmlns:a16="http://schemas.microsoft.com/office/drawing/2014/main" id="{0D6F8806-1E0F-23DD-43D3-9B77F30DBB78}"/>
                  </a:ext>
                </a:extLst>
              </p:cNvPr>
              <p:cNvSpPr txBox="1"/>
              <p:nvPr/>
            </p:nvSpPr>
            <p:spPr>
              <a:xfrm>
                <a:off x="5664067" y="1905443"/>
                <a:ext cx="4463701" cy="8739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dirty="0"/>
                  <a:t>智能体是指具有</a:t>
                </a:r>
                <a:r>
                  <a:rPr lang="zh-CN" altLang="en-US" b="1" dirty="0">
                    <a:solidFill>
                      <a:schemeClr val="accent5">
                        <a:lumMod val="75000"/>
                      </a:schemeClr>
                    </a:solidFill>
                  </a:rPr>
                  <a:t>自主性</a:t>
                </a:r>
                <a:r>
                  <a:rPr lang="zh-CN" altLang="en-US" dirty="0"/>
                  <a:t>、</a:t>
                </a:r>
                <a:r>
                  <a:rPr lang="zh-CN" altLang="en-US" b="1" dirty="0">
                    <a:solidFill>
                      <a:schemeClr val="accent5">
                        <a:lumMod val="75000"/>
                      </a:schemeClr>
                    </a:solidFill>
                  </a:rPr>
                  <a:t>社会性</a:t>
                </a:r>
                <a:r>
                  <a:rPr lang="zh-CN" altLang="en-US" dirty="0"/>
                  <a:t>、</a:t>
                </a:r>
                <a:r>
                  <a:rPr lang="zh-CN" altLang="en-US" b="1" dirty="0">
                    <a:solidFill>
                      <a:schemeClr val="accent5">
                        <a:lumMod val="75000"/>
                      </a:schemeClr>
                    </a:solidFill>
                  </a:rPr>
                  <a:t>反应性</a:t>
                </a:r>
                <a:r>
                  <a:rPr lang="zh-CN" altLang="en-US" dirty="0"/>
                  <a:t>和</a:t>
                </a:r>
                <a:r>
                  <a:rPr lang="zh-CN" altLang="en-US" b="1" dirty="0">
                    <a:solidFill>
                      <a:schemeClr val="accent5">
                        <a:lumMod val="75000"/>
                      </a:schemeClr>
                    </a:solidFill>
                  </a:rPr>
                  <a:t>能动性</a:t>
                </a:r>
                <a:r>
                  <a:rPr lang="zh-CN" altLang="en-US" dirty="0"/>
                  <a:t>等基本特性的计算机硬件或软件。</a:t>
                </a:r>
              </a:p>
            </p:txBody>
          </p:sp>
          <p:sp>
            <p:nvSpPr>
              <p:cNvPr id="37" name="文本框 36">
                <a:extLst>
                  <a:ext uri="{FF2B5EF4-FFF2-40B4-BE49-F238E27FC236}">
                    <a16:creationId xmlns:a16="http://schemas.microsoft.com/office/drawing/2014/main" id="{21719431-A70C-D1B8-8047-AD5F3C24EED7}"/>
                  </a:ext>
                </a:extLst>
              </p:cNvPr>
              <p:cNvSpPr txBox="1"/>
              <p:nvPr/>
            </p:nvSpPr>
            <p:spPr>
              <a:xfrm>
                <a:off x="9039947" y="2773094"/>
                <a:ext cx="115929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/>
                  <a:t>——1995</a:t>
                </a:r>
                <a:endParaRPr lang="zh-CN" altLang="en-US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4785267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5CE04A7E-6A81-3184-3911-FA9E729238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C3F9F7BC-6129-DC85-0EE1-EB1E8EBCD84A}"/>
              </a:ext>
            </a:extLst>
          </p:cNvPr>
          <p:cNvSpPr/>
          <p:nvPr/>
        </p:nvSpPr>
        <p:spPr>
          <a:xfrm>
            <a:off x="234082" y="393352"/>
            <a:ext cx="496852" cy="496851"/>
          </a:xfrm>
          <a:prstGeom prst="rect">
            <a:avLst/>
          </a:prstGeom>
          <a:solidFill>
            <a:srgbClr val="2E5696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05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3CB2D0D-500A-5D9E-44C8-732E00DF47F3}"/>
              </a:ext>
            </a:extLst>
          </p:cNvPr>
          <p:cNvSpPr/>
          <p:nvPr/>
        </p:nvSpPr>
        <p:spPr>
          <a:xfrm>
            <a:off x="478878" y="659757"/>
            <a:ext cx="331236" cy="331236"/>
          </a:xfrm>
          <a:prstGeom prst="rect">
            <a:avLst/>
          </a:prstGeom>
          <a:solidFill>
            <a:srgbClr val="2E5696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05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8" name="TextBox 28">
            <a:extLst>
              <a:ext uri="{FF2B5EF4-FFF2-40B4-BE49-F238E27FC236}">
                <a16:creationId xmlns:a16="http://schemas.microsoft.com/office/drawing/2014/main" id="{C97B1D4D-7F88-B52F-AA06-7832B31FA1D7}"/>
              </a:ext>
            </a:extLst>
          </p:cNvPr>
          <p:cNvSpPr txBox="1"/>
          <p:nvPr/>
        </p:nvSpPr>
        <p:spPr>
          <a:xfrm>
            <a:off x="830709" y="338774"/>
            <a:ext cx="9240303" cy="691316"/>
          </a:xfrm>
          <a:prstGeom prst="rect">
            <a:avLst/>
          </a:prstGeom>
          <a:noFill/>
        </p:spPr>
        <p:txBody>
          <a:bodyPr wrap="square" lIns="105509" tIns="52755" rIns="105509" bIns="52755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3800" b="1" spc="300" dirty="0">
                <a:solidFill>
                  <a:srgbClr val="2E5696"/>
                </a:solidFill>
                <a:latin typeface="微软雅黑" panose="020B0503020204020204" charset="-122"/>
                <a:ea typeface="微软雅黑" panose="020B0503020204020204" charset="-122"/>
              </a:rPr>
              <a:t>智能体的发展历程</a:t>
            </a:r>
            <a:endParaRPr kumimoji="0" lang="zh-CN" sz="3800" b="1" i="0" u="none" strike="noStrike" kern="1200" cap="none" spc="300" normalizeH="0" noProof="0" dirty="0">
              <a:ln>
                <a:noFill/>
              </a:ln>
              <a:solidFill>
                <a:srgbClr val="2E5696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cxnSp>
        <p:nvCxnSpPr>
          <p:cNvPr id="122" name="直接连接符 46">
            <a:extLst>
              <a:ext uri="{FF2B5EF4-FFF2-40B4-BE49-F238E27FC236}">
                <a16:creationId xmlns:a16="http://schemas.microsoft.com/office/drawing/2014/main" id="{72310C40-BA0C-AE52-21C8-70E2AA1826D6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810340" y="990891"/>
            <a:ext cx="11135003" cy="0"/>
          </a:xfrm>
          <a:prstGeom prst="line">
            <a:avLst/>
          </a:prstGeom>
          <a:noFill/>
          <a:ln w="9525" cmpd="sng">
            <a:solidFill>
              <a:srgbClr val="4D4948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7" name="文本框 6">
            <a:extLst>
              <a:ext uri="{FF2B5EF4-FFF2-40B4-BE49-F238E27FC236}">
                <a16:creationId xmlns:a16="http://schemas.microsoft.com/office/drawing/2014/main" id="{0CF61C0A-9400-E8AD-5D4C-DDE2FEB98532}"/>
              </a:ext>
            </a:extLst>
          </p:cNvPr>
          <p:cNvSpPr txBox="1"/>
          <p:nvPr/>
        </p:nvSpPr>
        <p:spPr>
          <a:xfrm>
            <a:off x="901201" y="1106161"/>
            <a:ext cx="10721138" cy="960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b="1" dirty="0">
                <a:solidFill>
                  <a:srgbClr val="7F7F7F"/>
                </a:solidFill>
              </a:rPr>
              <a:t>与人工智能发展类似，智能体技术也经历了基于</a:t>
            </a:r>
            <a:r>
              <a:rPr lang="zh-CN" altLang="en-US" sz="2000" b="1" dirty="0">
                <a:solidFill>
                  <a:schemeClr val="accent5">
                    <a:lumMod val="75000"/>
                  </a:schemeClr>
                </a:solidFill>
              </a:rPr>
              <a:t>符号规则</a:t>
            </a:r>
            <a:r>
              <a:rPr lang="zh-CN" altLang="en-US" sz="2000" b="1" dirty="0">
                <a:solidFill>
                  <a:srgbClr val="7F7F7F"/>
                </a:solidFill>
              </a:rPr>
              <a:t>的智能体时期，基于</a:t>
            </a:r>
            <a:r>
              <a:rPr lang="zh-CN" altLang="en-US" sz="2000" b="1" dirty="0">
                <a:solidFill>
                  <a:schemeClr val="accent5">
                    <a:lumMod val="75000"/>
                  </a:schemeClr>
                </a:solidFill>
              </a:rPr>
              <a:t>强化学习</a:t>
            </a:r>
            <a:r>
              <a:rPr lang="zh-CN" altLang="en-US" sz="2000" b="1" dirty="0">
                <a:solidFill>
                  <a:srgbClr val="7F7F7F"/>
                </a:solidFill>
              </a:rPr>
              <a:t>的智能体时期，发展到了以</a:t>
            </a:r>
            <a:r>
              <a:rPr lang="zh-CN" altLang="en-US" sz="2000" b="1" dirty="0">
                <a:solidFill>
                  <a:schemeClr val="accent5">
                    <a:lumMod val="75000"/>
                  </a:schemeClr>
                </a:solidFill>
              </a:rPr>
              <a:t>大模型</a:t>
            </a:r>
            <a:r>
              <a:rPr lang="zh-CN" altLang="en-US" sz="2000" b="1" dirty="0">
                <a:solidFill>
                  <a:srgbClr val="7F7F7F"/>
                </a:solidFill>
              </a:rPr>
              <a:t>为内核的智能体时期。</a:t>
            </a:r>
          </a:p>
        </p:txBody>
      </p:sp>
      <p:grpSp>
        <p:nvGrpSpPr>
          <p:cNvPr id="73" name="组合 72">
            <a:extLst>
              <a:ext uri="{FF2B5EF4-FFF2-40B4-BE49-F238E27FC236}">
                <a16:creationId xmlns:a16="http://schemas.microsoft.com/office/drawing/2014/main" id="{1131F18A-40EC-B9C4-8488-23A61E7AD2CF}"/>
              </a:ext>
            </a:extLst>
          </p:cNvPr>
          <p:cNvGrpSpPr/>
          <p:nvPr/>
        </p:nvGrpSpPr>
        <p:grpSpPr>
          <a:xfrm>
            <a:off x="381748" y="2135865"/>
            <a:ext cx="11601811" cy="4015182"/>
            <a:chOff x="381748" y="2257371"/>
            <a:chExt cx="11601811" cy="4015182"/>
          </a:xfrm>
        </p:grpSpPr>
        <p:sp>
          <p:nvSpPr>
            <p:cNvPr id="17" name="箭头: 右 63">
              <a:extLst>
                <a:ext uri="{FF2B5EF4-FFF2-40B4-BE49-F238E27FC236}">
                  <a16:creationId xmlns:a16="http://schemas.microsoft.com/office/drawing/2014/main" id="{4A617ED5-BA56-22AE-13BD-4FA42CE13447}"/>
                </a:ext>
              </a:extLst>
            </p:cNvPr>
            <p:cNvSpPr/>
            <p:nvPr/>
          </p:nvSpPr>
          <p:spPr>
            <a:xfrm>
              <a:off x="478878" y="2432172"/>
              <a:ext cx="11417552" cy="158648"/>
            </a:xfrm>
            <a:prstGeom prst="rightArrow">
              <a:avLst/>
            </a:prstGeom>
            <a:solidFill>
              <a:schemeClr val="tx2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grpSp>
          <p:nvGrpSpPr>
            <p:cNvPr id="48" name="组合 47">
              <a:extLst>
                <a:ext uri="{FF2B5EF4-FFF2-40B4-BE49-F238E27FC236}">
                  <a16:creationId xmlns:a16="http://schemas.microsoft.com/office/drawing/2014/main" id="{230D524C-CB10-3619-F504-4050E9A4FB50}"/>
                </a:ext>
              </a:extLst>
            </p:cNvPr>
            <p:cNvGrpSpPr/>
            <p:nvPr/>
          </p:nvGrpSpPr>
          <p:grpSpPr>
            <a:xfrm>
              <a:off x="381748" y="2257371"/>
              <a:ext cx="3780000" cy="4015182"/>
              <a:chOff x="934333" y="2257371"/>
              <a:chExt cx="3780000" cy="4015182"/>
            </a:xfrm>
          </p:grpSpPr>
          <p:sp>
            <p:nvSpPr>
              <p:cNvPr id="13" name="矩形 12">
                <a:extLst>
                  <a:ext uri="{FF2B5EF4-FFF2-40B4-BE49-F238E27FC236}">
                    <a16:creationId xmlns:a16="http://schemas.microsoft.com/office/drawing/2014/main" id="{F064BD13-1184-5AC9-02DA-81C9979C5AD6}"/>
                  </a:ext>
                </a:extLst>
              </p:cNvPr>
              <p:cNvSpPr/>
              <p:nvPr/>
            </p:nvSpPr>
            <p:spPr>
              <a:xfrm>
                <a:off x="934333" y="3000153"/>
                <a:ext cx="3780000" cy="3272400"/>
              </a:xfrm>
              <a:prstGeom prst="rect">
                <a:avLst/>
              </a:prstGeom>
              <a:noFill/>
              <a:ln>
                <a:solidFill>
                  <a:schemeClr val="tx1">
                    <a:lumMod val="85000"/>
                    <a:lumOff val="15000"/>
                  </a:schemeClr>
                </a:solidFill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" name="文本框 39">
                <a:extLst>
                  <a:ext uri="{FF2B5EF4-FFF2-40B4-BE49-F238E27FC236}">
                    <a16:creationId xmlns:a16="http://schemas.microsoft.com/office/drawing/2014/main" id="{EA96C8AD-5BDA-64C6-1555-4B8EF7A161FE}"/>
                  </a:ext>
                </a:extLst>
              </p:cNvPr>
              <p:cNvSpPr txBox="1"/>
              <p:nvPr/>
            </p:nvSpPr>
            <p:spPr>
              <a:xfrm>
                <a:off x="1445226" y="2257371"/>
                <a:ext cx="2502465" cy="456535"/>
              </a:xfrm>
              <a:prstGeom prst="rect">
                <a:avLst/>
              </a:prstGeom>
              <a:solidFill>
                <a:schemeClr val="bg2"/>
              </a:solidFill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dirty="0"/>
                  <a:t>基于符号规则的智能体</a:t>
                </a:r>
              </a:p>
            </p:txBody>
          </p:sp>
          <p:sp>
            <p:nvSpPr>
              <p:cNvPr id="41" name="矩形 40">
                <a:extLst>
                  <a:ext uri="{FF2B5EF4-FFF2-40B4-BE49-F238E27FC236}">
                    <a16:creationId xmlns:a16="http://schemas.microsoft.com/office/drawing/2014/main" id="{4D268EC7-8003-DAF3-5EB1-77C5CCCE1FA1}"/>
                  </a:ext>
                </a:extLst>
              </p:cNvPr>
              <p:cNvSpPr/>
              <p:nvPr/>
            </p:nvSpPr>
            <p:spPr>
              <a:xfrm>
                <a:off x="2748391" y="2698300"/>
                <a:ext cx="69368" cy="288822"/>
              </a:xfrm>
              <a:prstGeom prst="rect">
                <a:avLst/>
              </a:prstGeom>
              <a:solidFill>
                <a:srgbClr val="5E75BA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43" name="图片 42">
                <a:extLst>
                  <a:ext uri="{FF2B5EF4-FFF2-40B4-BE49-F238E27FC236}">
                    <a16:creationId xmlns:a16="http://schemas.microsoft.com/office/drawing/2014/main" id="{2E4134A0-A03B-0D58-F063-9F219021C45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648780" y="3658091"/>
                <a:ext cx="2337958" cy="1548000"/>
              </a:xfrm>
              <a:prstGeom prst="rect">
                <a:avLst/>
              </a:prstGeom>
            </p:spPr>
          </p:pic>
          <p:sp>
            <p:nvSpPr>
              <p:cNvPr id="45" name="文本框 44">
                <a:extLst>
                  <a:ext uri="{FF2B5EF4-FFF2-40B4-BE49-F238E27FC236}">
                    <a16:creationId xmlns:a16="http://schemas.microsoft.com/office/drawing/2014/main" id="{91D2A981-989F-DE3B-C97F-EA5F7E95652F}"/>
                  </a:ext>
                </a:extLst>
              </p:cNvPr>
              <p:cNvSpPr txBox="1"/>
              <p:nvPr/>
            </p:nvSpPr>
            <p:spPr>
              <a:xfrm>
                <a:off x="1958097" y="3016476"/>
                <a:ext cx="1915987" cy="61555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/>
                  <a:t>    </a:t>
                </a:r>
                <a:r>
                  <a:rPr lang="en-US" altLang="zh-CN" sz="1600" dirty="0"/>
                  <a:t>Deep Blue</a:t>
                </a:r>
              </a:p>
              <a:p>
                <a:r>
                  <a:rPr lang="zh-CN" altLang="en-US" sz="1600" dirty="0"/>
                  <a:t>国际象棋智能体</a:t>
                </a:r>
              </a:p>
            </p:txBody>
          </p:sp>
          <p:sp>
            <p:nvSpPr>
              <p:cNvPr id="47" name="文本框 46">
                <a:extLst>
                  <a:ext uri="{FF2B5EF4-FFF2-40B4-BE49-F238E27FC236}">
                    <a16:creationId xmlns:a16="http://schemas.microsoft.com/office/drawing/2014/main" id="{5A616276-205E-5C80-4E48-0F2D541BC95E}"/>
                  </a:ext>
                </a:extLst>
              </p:cNvPr>
              <p:cNvSpPr txBox="1"/>
              <p:nvPr/>
            </p:nvSpPr>
            <p:spPr>
              <a:xfrm>
                <a:off x="980672" y="5283683"/>
                <a:ext cx="3674175" cy="8771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700" dirty="0"/>
                  <a:t>智能体专家通过编写</a:t>
                </a:r>
                <a:r>
                  <a:rPr lang="zh-CN" altLang="en-US" sz="1700" b="1" dirty="0">
                    <a:solidFill>
                      <a:srgbClr val="E94520"/>
                    </a:solidFill>
                  </a:rPr>
                  <a:t>规则</a:t>
                </a:r>
                <a:r>
                  <a:rPr lang="zh-CN" altLang="en-US" sz="1700" dirty="0"/>
                  <a:t>或者</a:t>
                </a:r>
                <a:r>
                  <a:rPr lang="zh-CN" altLang="en-US" sz="1700" b="1" dirty="0">
                    <a:solidFill>
                      <a:srgbClr val="E94520"/>
                    </a:solidFill>
                  </a:rPr>
                  <a:t>算法</a:t>
                </a:r>
                <a:r>
                  <a:rPr lang="zh-CN" altLang="en-US" sz="1700" dirty="0"/>
                  <a:t>来实现智能体的自主控制与决策，有时还需要配合专用硬件。</a:t>
                </a:r>
              </a:p>
            </p:txBody>
          </p:sp>
        </p:grpSp>
        <p:grpSp>
          <p:nvGrpSpPr>
            <p:cNvPr id="56" name="组合 55">
              <a:extLst>
                <a:ext uri="{FF2B5EF4-FFF2-40B4-BE49-F238E27FC236}">
                  <a16:creationId xmlns:a16="http://schemas.microsoft.com/office/drawing/2014/main" id="{D3202C61-1213-BCB8-C290-F431435B02C6}"/>
                </a:ext>
              </a:extLst>
            </p:cNvPr>
            <p:cNvGrpSpPr/>
            <p:nvPr/>
          </p:nvGrpSpPr>
          <p:grpSpPr>
            <a:xfrm>
              <a:off x="4292653" y="2257371"/>
              <a:ext cx="3780000" cy="4015182"/>
              <a:chOff x="934333" y="2257371"/>
              <a:chExt cx="3780000" cy="4015182"/>
            </a:xfrm>
          </p:grpSpPr>
          <p:sp>
            <p:nvSpPr>
              <p:cNvPr id="57" name="矩形 56">
                <a:extLst>
                  <a:ext uri="{FF2B5EF4-FFF2-40B4-BE49-F238E27FC236}">
                    <a16:creationId xmlns:a16="http://schemas.microsoft.com/office/drawing/2014/main" id="{5BBCCB3A-5A1F-8CE9-2FC4-99FD1CDC6ED3}"/>
                  </a:ext>
                </a:extLst>
              </p:cNvPr>
              <p:cNvSpPr/>
              <p:nvPr/>
            </p:nvSpPr>
            <p:spPr>
              <a:xfrm>
                <a:off x="934333" y="3000153"/>
                <a:ext cx="3780000" cy="3272400"/>
              </a:xfrm>
              <a:prstGeom prst="rect">
                <a:avLst/>
              </a:prstGeom>
              <a:noFill/>
              <a:ln>
                <a:solidFill>
                  <a:schemeClr val="tx1">
                    <a:lumMod val="85000"/>
                    <a:lumOff val="15000"/>
                  </a:schemeClr>
                </a:solidFill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8" name="文本框 57">
                <a:extLst>
                  <a:ext uri="{FF2B5EF4-FFF2-40B4-BE49-F238E27FC236}">
                    <a16:creationId xmlns:a16="http://schemas.microsoft.com/office/drawing/2014/main" id="{D4BAE44B-9C98-0839-D992-B75D8D982AC8}"/>
                  </a:ext>
                </a:extLst>
              </p:cNvPr>
              <p:cNvSpPr txBox="1"/>
              <p:nvPr/>
            </p:nvSpPr>
            <p:spPr>
              <a:xfrm>
                <a:off x="1445226" y="2257371"/>
                <a:ext cx="2502465" cy="458459"/>
              </a:xfrm>
              <a:prstGeom prst="rect">
                <a:avLst/>
              </a:prstGeom>
              <a:solidFill>
                <a:schemeClr val="bg2"/>
              </a:solidFill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dirty="0"/>
                  <a:t>基于强化学习的智能体</a:t>
                </a:r>
              </a:p>
            </p:txBody>
          </p:sp>
          <p:sp>
            <p:nvSpPr>
              <p:cNvPr id="59" name="矩形 58">
                <a:extLst>
                  <a:ext uri="{FF2B5EF4-FFF2-40B4-BE49-F238E27FC236}">
                    <a16:creationId xmlns:a16="http://schemas.microsoft.com/office/drawing/2014/main" id="{838A6129-FB5E-47D5-EC88-7EC3C62935B5}"/>
                  </a:ext>
                </a:extLst>
              </p:cNvPr>
              <p:cNvSpPr/>
              <p:nvPr/>
            </p:nvSpPr>
            <p:spPr>
              <a:xfrm>
                <a:off x="2748391" y="2698300"/>
                <a:ext cx="69368" cy="288822"/>
              </a:xfrm>
              <a:prstGeom prst="rect">
                <a:avLst/>
              </a:prstGeom>
              <a:solidFill>
                <a:srgbClr val="5E75BA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60" name="图片 59">
                <a:extLst>
                  <a:ext uri="{FF2B5EF4-FFF2-40B4-BE49-F238E27FC236}">
                    <a16:creationId xmlns:a16="http://schemas.microsoft.com/office/drawing/2014/main" id="{6A06B94C-CF58-B52D-B0CF-309C277558F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rcRect/>
              <a:stretch/>
            </p:blipFill>
            <p:spPr>
              <a:xfrm>
                <a:off x="1648780" y="3712016"/>
                <a:ext cx="2674491" cy="1512000"/>
              </a:xfrm>
              <a:prstGeom prst="rect">
                <a:avLst/>
              </a:prstGeom>
            </p:spPr>
          </p:pic>
          <p:sp>
            <p:nvSpPr>
              <p:cNvPr id="61" name="文本框 60">
                <a:extLst>
                  <a:ext uri="{FF2B5EF4-FFF2-40B4-BE49-F238E27FC236}">
                    <a16:creationId xmlns:a16="http://schemas.microsoft.com/office/drawing/2014/main" id="{86153E38-4841-F0EE-97D3-B661C7B0D7FF}"/>
                  </a:ext>
                </a:extLst>
              </p:cNvPr>
              <p:cNvSpPr txBox="1"/>
              <p:nvPr/>
            </p:nvSpPr>
            <p:spPr>
              <a:xfrm>
                <a:off x="1958097" y="3016476"/>
                <a:ext cx="1915987" cy="61555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/>
                  <a:t>    </a:t>
                </a:r>
                <a:r>
                  <a:rPr lang="en-US" altLang="zh-CN" sz="1600" dirty="0"/>
                  <a:t>AlphaGo</a:t>
                </a:r>
              </a:p>
              <a:p>
                <a:r>
                  <a:rPr lang="zh-CN" altLang="en-US" sz="1600" dirty="0"/>
                  <a:t>   围棋智能体</a:t>
                </a:r>
              </a:p>
            </p:txBody>
          </p:sp>
          <p:sp>
            <p:nvSpPr>
              <p:cNvPr id="62" name="文本框 61">
                <a:extLst>
                  <a:ext uri="{FF2B5EF4-FFF2-40B4-BE49-F238E27FC236}">
                    <a16:creationId xmlns:a16="http://schemas.microsoft.com/office/drawing/2014/main" id="{3838D05C-0D47-26B6-21D9-5473EE8851A2}"/>
                  </a:ext>
                </a:extLst>
              </p:cNvPr>
              <p:cNvSpPr txBox="1"/>
              <p:nvPr/>
            </p:nvSpPr>
            <p:spPr>
              <a:xfrm>
                <a:off x="980672" y="5283683"/>
                <a:ext cx="3674175" cy="8771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700" b="1" dirty="0">
                    <a:solidFill>
                      <a:srgbClr val="E94520"/>
                    </a:solidFill>
                  </a:rPr>
                  <a:t>强化学习</a:t>
                </a:r>
                <a:r>
                  <a:rPr lang="zh-CN" altLang="en-US" sz="1700" dirty="0"/>
                  <a:t>方法进入智能体，智能体通过不断尝试根据</a:t>
                </a:r>
                <a:r>
                  <a:rPr lang="zh-CN" altLang="en-US" sz="1700" b="1" dirty="0">
                    <a:solidFill>
                      <a:srgbClr val="E94520"/>
                    </a:solidFill>
                  </a:rPr>
                  <a:t>环境反馈</a:t>
                </a:r>
                <a:r>
                  <a:rPr lang="zh-CN" altLang="en-US" sz="1700" dirty="0"/>
                  <a:t>信息自主学习如何决策。</a:t>
                </a:r>
              </a:p>
            </p:txBody>
          </p:sp>
        </p:grpSp>
        <p:grpSp>
          <p:nvGrpSpPr>
            <p:cNvPr id="72" name="组合 71">
              <a:extLst>
                <a:ext uri="{FF2B5EF4-FFF2-40B4-BE49-F238E27FC236}">
                  <a16:creationId xmlns:a16="http://schemas.microsoft.com/office/drawing/2014/main" id="{751277BD-842F-9DFD-8857-9A32951465A6}"/>
                </a:ext>
              </a:extLst>
            </p:cNvPr>
            <p:cNvGrpSpPr/>
            <p:nvPr/>
          </p:nvGrpSpPr>
          <p:grpSpPr>
            <a:xfrm>
              <a:off x="8203559" y="2257371"/>
              <a:ext cx="3780000" cy="4015182"/>
              <a:chOff x="8203559" y="2257371"/>
              <a:chExt cx="3780000" cy="4015182"/>
            </a:xfrm>
          </p:grpSpPr>
          <p:grpSp>
            <p:nvGrpSpPr>
              <p:cNvPr id="63" name="组合 62">
                <a:extLst>
                  <a:ext uri="{FF2B5EF4-FFF2-40B4-BE49-F238E27FC236}">
                    <a16:creationId xmlns:a16="http://schemas.microsoft.com/office/drawing/2014/main" id="{CF5256E7-BDF2-1BDB-944D-EBEC0B5F3BC1}"/>
                  </a:ext>
                </a:extLst>
              </p:cNvPr>
              <p:cNvGrpSpPr/>
              <p:nvPr/>
            </p:nvGrpSpPr>
            <p:grpSpPr>
              <a:xfrm>
                <a:off x="8203559" y="2257371"/>
                <a:ext cx="3780000" cy="4015182"/>
                <a:chOff x="934333" y="2257371"/>
                <a:chExt cx="3780000" cy="4015182"/>
              </a:xfrm>
            </p:grpSpPr>
            <p:sp>
              <p:nvSpPr>
                <p:cNvPr id="64" name="矩形 63">
                  <a:extLst>
                    <a:ext uri="{FF2B5EF4-FFF2-40B4-BE49-F238E27FC236}">
                      <a16:creationId xmlns:a16="http://schemas.microsoft.com/office/drawing/2014/main" id="{0DDDFCCE-30A0-A250-399F-4EC7059ED239}"/>
                    </a:ext>
                  </a:extLst>
                </p:cNvPr>
                <p:cNvSpPr/>
                <p:nvPr/>
              </p:nvSpPr>
              <p:spPr>
                <a:xfrm>
                  <a:off x="934333" y="3000153"/>
                  <a:ext cx="3780000" cy="3272400"/>
                </a:xfrm>
                <a:prstGeom prst="rect">
                  <a:avLst/>
                </a:prstGeom>
                <a:noFill/>
                <a:ln>
                  <a:solidFill>
                    <a:schemeClr val="tx1">
                      <a:lumMod val="85000"/>
                      <a:lumOff val="15000"/>
                    </a:schemeClr>
                  </a:solidFill>
                  <a:prstDash val="dash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65" name="文本框 64">
                  <a:extLst>
                    <a:ext uri="{FF2B5EF4-FFF2-40B4-BE49-F238E27FC236}">
                      <a16:creationId xmlns:a16="http://schemas.microsoft.com/office/drawing/2014/main" id="{45066C2D-93B9-197F-FD38-6009627566EF}"/>
                    </a:ext>
                  </a:extLst>
                </p:cNvPr>
                <p:cNvSpPr txBox="1"/>
                <p:nvPr/>
              </p:nvSpPr>
              <p:spPr>
                <a:xfrm>
                  <a:off x="1445226" y="2257371"/>
                  <a:ext cx="2502465" cy="458459"/>
                </a:xfrm>
                <a:prstGeom prst="rect">
                  <a:avLst/>
                </a:prstGeom>
                <a:solidFill>
                  <a:schemeClr val="bg2"/>
                </a:solidFill>
              </p:spPr>
              <p:txBody>
                <a:bodyPr wrap="square" rtlCol="0">
                  <a:spAutoFit/>
                </a:bodyPr>
                <a:lstStyle/>
                <a:p>
                  <a:pPr>
                    <a:lnSpc>
                      <a:spcPct val="150000"/>
                    </a:lnSpc>
                  </a:pPr>
                  <a:r>
                    <a:rPr lang="zh-CN" altLang="en-US" dirty="0"/>
                    <a:t>基于大模型的智能体</a:t>
                  </a:r>
                </a:p>
              </p:txBody>
            </p:sp>
            <p:sp>
              <p:nvSpPr>
                <p:cNvPr id="66" name="矩形 65">
                  <a:extLst>
                    <a:ext uri="{FF2B5EF4-FFF2-40B4-BE49-F238E27FC236}">
                      <a16:creationId xmlns:a16="http://schemas.microsoft.com/office/drawing/2014/main" id="{EB005ABE-266E-AC1C-9984-26FEEFAE1AEF}"/>
                    </a:ext>
                  </a:extLst>
                </p:cNvPr>
                <p:cNvSpPr/>
                <p:nvPr/>
              </p:nvSpPr>
              <p:spPr>
                <a:xfrm>
                  <a:off x="2748391" y="2698300"/>
                  <a:ext cx="69368" cy="288822"/>
                </a:xfrm>
                <a:prstGeom prst="rect">
                  <a:avLst/>
                </a:prstGeom>
                <a:solidFill>
                  <a:srgbClr val="5E75BA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68" name="文本框 67">
                  <a:extLst>
                    <a:ext uri="{FF2B5EF4-FFF2-40B4-BE49-F238E27FC236}">
                      <a16:creationId xmlns:a16="http://schemas.microsoft.com/office/drawing/2014/main" id="{70C87F6B-0F06-762A-CFF5-F1383B85632A}"/>
                    </a:ext>
                  </a:extLst>
                </p:cNvPr>
                <p:cNvSpPr txBox="1"/>
                <p:nvPr/>
              </p:nvSpPr>
              <p:spPr>
                <a:xfrm>
                  <a:off x="1958097" y="3016476"/>
                  <a:ext cx="1915987" cy="61555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dirty="0"/>
                    <a:t>    </a:t>
                  </a:r>
                  <a:r>
                    <a:rPr lang="en-US" altLang="zh-CN" sz="1600" dirty="0" err="1"/>
                    <a:t>AutoGPT</a:t>
                  </a:r>
                  <a:endParaRPr lang="en-US" altLang="zh-CN" sz="1600" dirty="0"/>
                </a:p>
                <a:p>
                  <a:r>
                    <a:rPr lang="zh-CN" altLang="en-US" sz="1600" dirty="0"/>
                    <a:t>  大模型智能体</a:t>
                  </a:r>
                </a:p>
              </p:txBody>
            </p:sp>
            <p:sp>
              <p:nvSpPr>
                <p:cNvPr id="69" name="文本框 68">
                  <a:extLst>
                    <a:ext uri="{FF2B5EF4-FFF2-40B4-BE49-F238E27FC236}">
                      <a16:creationId xmlns:a16="http://schemas.microsoft.com/office/drawing/2014/main" id="{6B559B1F-966A-3DD6-49E0-5C89271AB94E}"/>
                    </a:ext>
                  </a:extLst>
                </p:cNvPr>
                <p:cNvSpPr txBox="1"/>
                <p:nvPr/>
              </p:nvSpPr>
              <p:spPr>
                <a:xfrm>
                  <a:off x="980672" y="5283683"/>
                  <a:ext cx="3674175" cy="87716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sz="1700" dirty="0"/>
                    <a:t>将</a:t>
                  </a:r>
                  <a:r>
                    <a:rPr lang="zh-CN" altLang="en-US" sz="1700" b="1" dirty="0">
                      <a:solidFill>
                        <a:srgbClr val="E94520"/>
                      </a:solidFill>
                    </a:rPr>
                    <a:t>大模型</a:t>
                  </a:r>
                  <a:r>
                    <a:rPr lang="zh-CN" altLang="en-US" sz="1700" dirty="0"/>
                    <a:t>作为智能体的大脑或内核实现了通用的自主规划，并通过</a:t>
                  </a:r>
                  <a:r>
                    <a:rPr lang="zh-CN" altLang="en-US" sz="1700" b="1" dirty="0">
                      <a:solidFill>
                        <a:srgbClr val="E94520"/>
                      </a:solidFill>
                    </a:rPr>
                    <a:t>使用工具</a:t>
                  </a:r>
                  <a:r>
                    <a:rPr lang="zh-CN" altLang="en-US" sz="1700" dirty="0"/>
                    <a:t>实现与环境的交互。</a:t>
                  </a:r>
                </a:p>
              </p:txBody>
            </p:sp>
          </p:grpSp>
          <p:pic>
            <p:nvPicPr>
              <p:cNvPr id="71" name="图片 70">
                <a:extLst>
                  <a:ext uri="{FF2B5EF4-FFF2-40B4-BE49-F238E27FC236}">
                    <a16:creationId xmlns:a16="http://schemas.microsoft.com/office/drawing/2014/main" id="{20758E97-9D8C-CE95-48BA-4B5D2E3339C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444728" y="3664919"/>
                <a:ext cx="3284505" cy="1531753"/>
              </a:xfrm>
              <a:prstGeom prst="rect">
                <a:avLst/>
              </a:prstGeom>
            </p:spPr>
          </p:pic>
        </p:grpSp>
      </p:grpSp>
      <p:sp>
        <p:nvSpPr>
          <p:cNvPr id="5" name="文本框 4">
            <a:extLst>
              <a:ext uri="{FF2B5EF4-FFF2-40B4-BE49-F238E27FC236}">
                <a16:creationId xmlns:a16="http://schemas.microsoft.com/office/drawing/2014/main" id="{70126555-22DB-0ADF-4710-ED822CD655C1}"/>
              </a:ext>
            </a:extLst>
          </p:cNvPr>
          <p:cNvSpPr txBox="1"/>
          <p:nvPr/>
        </p:nvSpPr>
        <p:spPr>
          <a:xfrm>
            <a:off x="1171792" y="6229914"/>
            <a:ext cx="9654704" cy="4991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b="1" dirty="0">
                <a:solidFill>
                  <a:srgbClr val="FF0000"/>
                </a:solidFill>
              </a:rPr>
              <a:t>智能体的核心目标并未改变，变化的是驱动智能体进行决策、学习和执行的技术手段。</a:t>
            </a:r>
          </a:p>
        </p:txBody>
      </p:sp>
    </p:spTree>
    <p:extLst>
      <p:ext uri="{BB962C8B-B14F-4D97-AF65-F5344CB8AC3E}">
        <p14:creationId xmlns:p14="http://schemas.microsoft.com/office/powerpoint/2010/main" val="24413322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77E7276-E31C-CBC9-8D44-98903376A5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49">
            <a:extLst>
              <a:ext uri="{FF2B5EF4-FFF2-40B4-BE49-F238E27FC236}">
                <a16:creationId xmlns:a16="http://schemas.microsoft.com/office/drawing/2014/main" id="{3CF9B49A-097D-64FC-2512-7F875F44B612}"/>
              </a:ext>
            </a:extLst>
          </p:cNvPr>
          <p:cNvGrpSpPr/>
          <p:nvPr/>
        </p:nvGrpSpPr>
        <p:grpSpPr bwMode="auto">
          <a:xfrm>
            <a:off x="2077085" y="2609215"/>
            <a:ext cx="1616075" cy="1639570"/>
            <a:chOff x="3861535" y="2819400"/>
            <a:chExt cx="1218704" cy="1218704"/>
          </a:xfrm>
        </p:grpSpPr>
        <p:grpSp>
          <p:nvGrpSpPr>
            <p:cNvPr id="15" name="组合 50">
              <a:extLst>
                <a:ext uri="{FF2B5EF4-FFF2-40B4-BE49-F238E27FC236}">
                  <a16:creationId xmlns:a16="http://schemas.microsoft.com/office/drawing/2014/main" id="{A5F3F59B-F57D-4DE1-0A9D-966237527FC7}"/>
                </a:ext>
              </a:extLst>
            </p:cNvPr>
            <p:cNvGrpSpPr/>
            <p:nvPr/>
          </p:nvGrpSpPr>
          <p:grpSpPr>
            <a:xfrm>
              <a:off x="3861535" y="2819400"/>
              <a:ext cx="1218704" cy="1218704"/>
              <a:chOff x="-27110" y="673100"/>
              <a:chExt cx="4000500" cy="4000500"/>
            </a:xfrm>
            <a:effectLst>
              <a:outerShdw blurRad="444500" dist="254000" dir="8100000" algn="tr" rotWithShape="0">
                <a:prstClr val="black">
                  <a:alpha val="50000"/>
                </a:prstClr>
              </a:outerShdw>
            </a:effectLst>
          </p:grpSpPr>
          <p:sp>
            <p:nvSpPr>
              <p:cNvPr id="16" name="同心圆 45">
                <a:extLst>
                  <a:ext uri="{FF2B5EF4-FFF2-40B4-BE49-F238E27FC236}">
                    <a16:creationId xmlns:a16="http://schemas.microsoft.com/office/drawing/2014/main" id="{B97FFA71-4EC2-2516-F1B5-4A2FEAFFD93A}"/>
                  </a:ext>
                </a:extLst>
              </p:cNvPr>
              <p:cNvSpPr/>
              <p:nvPr/>
            </p:nvSpPr>
            <p:spPr>
              <a:xfrm>
                <a:off x="-27110" y="673100"/>
                <a:ext cx="4000500" cy="4000500"/>
              </a:xfrm>
              <a:prstGeom prst="donut">
                <a:avLst>
                  <a:gd name="adj" fmla="val 4879"/>
                </a:avLst>
              </a:prstGeom>
              <a:gradFill>
                <a:gsLst>
                  <a:gs pos="0">
                    <a:sysClr val="window" lastClr="FFFFFF"/>
                  </a:gs>
                  <a:gs pos="55000">
                    <a:sysClr val="window" lastClr="FFFFFF">
                      <a:lumMod val="95000"/>
                    </a:sysClr>
                  </a:gs>
                  <a:gs pos="100000">
                    <a:sysClr val="window" lastClr="FFFFFF">
                      <a:lumMod val="65000"/>
                    </a:sysClr>
                  </a:gs>
                </a:gsLst>
                <a:lin ang="8100000" scaled="0"/>
              </a:gradFill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0" lang="zh-CN" altLang="en-US" sz="2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Franklin Gothic Medium" panose="020B0603020102020204"/>
                  <a:ea typeface="微软雅黑" panose="020B0503020204020204" charset="-122"/>
                  <a:cs typeface="微软雅黑" panose="020B0503020204020204" charset="-122"/>
                  <a:sym typeface="Franklin Gothic Medium" panose="020B0603020102020204" charset="0"/>
                </a:endParaRPr>
              </a:p>
            </p:txBody>
          </p:sp>
          <p:sp>
            <p:nvSpPr>
              <p:cNvPr id="17" name="椭圆 53">
                <a:extLst>
                  <a:ext uri="{FF2B5EF4-FFF2-40B4-BE49-F238E27FC236}">
                    <a16:creationId xmlns:a16="http://schemas.microsoft.com/office/drawing/2014/main" id="{DAFB4078-968D-1ABE-D67D-ED2BA0DFD896}"/>
                  </a:ext>
                </a:extLst>
              </p:cNvPr>
              <p:cNvSpPr/>
              <p:nvPr/>
            </p:nvSpPr>
            <p:spPr>
              <a:xfrm>
                <a:off x="60202" y="760412"/>
                <a:ext cx="3825874" cy="3825874"/>
              </a:xfrm>
              <a:prstGeom prst="ellipse">
                <a:avLst/>
              </a:prstGeom>
              <a:gradFill>
                <a:gsLst>
                  <a:gs pos="0">
                    <a:sysClr val="window" lastClr="FFFFFF"/>
                  </a:gs>
                  <a:gs pos="51000">
                    <a:sysClr val="window" lastClr="FFFFFF">
                      <a:lumMod val="95000"/>
                    </a:sysClr>
                  </a:gs>
                  <a:gs pos="100000">
                    <a:sysClr val="window" lastClr="FFFFFF">
                      <a:lumMod val="75000"/>
                    </a:sysClr>
                  </a:gs>
                </a:gsLst>
                <a:lin ang="18900000" scaled="0"/>
              </a:gradFill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0" lang="zh-CN" altLang="en-US" sz="2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Franklin Gothic Medium" panose="020B0603020102020204"/>
                  <a:ea typeface="微软雅黑" panose="020B0503020204020204" charset="-122"/>
                  <a:cs typeface="微软雅黑" panose="020B0503020204020204" charset="-122"/>
                  <a:sym typeface="Franklin Gothic Medium" panose="020B0603020102020204" charset="0"/>
                </a:endParaRPr>
              </a:p>
            </p:txBody>
          </p:sp>
        </p:grpSp>
        <p:sp>
          <p:nvSpPr>
            <p:cNvPr id="18" name="TextBox 5">
              <a:extLst>
                <a:ext uri="{FF2B5EF4-FFF2-40B4-BE49-F238E27FC236}">
                  <a16:creationId xmlns:a16="http://schemas.microsoft.com/office/drawing/2014/main" id="{C2258970-5F81-7110-5E3F-78D376E7FA49}"/>
                </a:ext>
              </a:extLst>
            </p:cNvPr>
            <p:cNvSpPr txBox="1"/>
            <p:nvPr/>
          </p:nvSpPr>
          <p:spPr>
            <a:xfrm>
              <a:off x="3905470" y="3211868"/>
              <a:ext cx="1130834" cy="43376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en-US" sz="3200" b="1" i="0" u="none" strike="noStrike" kern="1200" cap="none" spc="225" normalizeH="0" baseline="0" noProof="0" dirty="0">
                  <a:ln>
                    <a:noFill/>
                  </a:ln>
                  <a:solidFill>
                    <a:srgbClr val="012E57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Franklin Gothic Medium" panose="020B0603020102020204" charset="0"/>
                </a:rPr>
                <a:t>目</a:t>
              </a:r>
              <a:r>
                <a:rPr kumimoji="0" lang="en-US" altLang="zh-CN" sz="3200" b="1" i="0" u="none" strike="noStrike" kern="1200" cap="none" spc="225" normalizeH="0" baseline="0" noProof="0" dirty="0">
                  <a:ln>
                    <a:noFill/>
                  </a:ln>
                  <a:solidFill>
                    <a:srgbClr val="012E57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Franklin Gothic Medium" panose="020B0603020102020204" charset="0"/>
                </a:rPr>
                <a:t> </a:t>
              </a:r>
              <a:r>
                <a:rPr kumimoji="0" lang="zh-CN" altLang="en-US" sz="3200" b="1" i="0" u="none" strike="noStrike" kern="1200" cap="none" spc="225" normalizeH="0" baseline="0" noProof="0" dirty="0">
                  <a:ln>
                    <a:noFill/>
                  </a:ln>
                  <a:solidFill>
                    <a:srgbClr val="012E57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Franklin Gothic Medium" panose="020B0603020102020204" charset="0"/>
                </a:rPr>
                <a:t>录</a:t>
              </a:r>
            </a:p>
          </p:txBody>
        </p:sp>
      </p:grpSp>
      <p:grpSp>
        <p:nvGrpSpPr>
          <p:cNvPr id="3" name="组合 2">
            <a:extLst>
              <a:ext uri="{FF2B5EF4-FFF2-40B4-BE49-F238E27FC236}">
                <a16:creationId xmlns:a16="http://schemas.microsoft.com/office/drawing/2014/main" id="{38758019-6996-CA9B-6018-2D91A0CB8025}"/>
              </a:ext>
            </a:extLst>
          </p:cNvPr>
          <p:cNvGrpSpPr/>
          <p:nvPr/>
        </p:nvGrpSpPr>
        <p:grpSpPr>
          <a:xfrm>
            <a:off x="4582160" y="1770736"/>
            <a:ext cx="4913630" cy="3167380"/>
            <a:chOff x="4582160" y="1304392"/>
            <a:chExt cx="4913630" cy="3167380"/>
          </a:xfrm>
        </p:grpSpPr>
        <p:sp>
          <p:nvSpPr>
            <p:cNvPr id="2" name="圆角矩形 50">
              <a:extLst>
                <a:ext uri="{FF2B5EF4-FFF2-40B4-BE49-F238E27FC236}">
                  <a16:creationId xmlns:a16="http://schemas.microsoft.com/office/drawing/2014/main" id="{2E1875FE-025D-B620-4F14-7EE4BF53876C}"/>
                </a:ext>
              </a:extLst>
            </p:cNvPr>
            <p:cNvSpPr/>
            <p:nvPr>
              <p:custDataLst>
                <p:tags r:id="rId1"/>
              </p:custDataLst>
            </p:nvPr>
          </p:nvSpPr>
          <p:spPr bwMode="auto">
            <a:xfrm>
              <a:off x="5398135" y="1304392"/>
              <a:ext cx="3995420" cy="591820"/>
            </a:xfrm>
            <a:prstGeom prst="roundRect">
              <a:avLst/>
            </a:prstGeom>
            <a:solidFill>
              <a:sysClr val="window" lastClr="FFFFFF"/>
            </a:solidFill>
            <a:ln w="25400" cap="flat" cmpd="sng" algn="ctr">
              <a:noFill/>
              <a:prstDash val="solid"/>
            </a:ln>
            <a:effectLst/>
          </p:spPr>
          <p:txBody>
            <a:bodyPr lIns="72313" tIns="36156" rIns="72313" bIns="36156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Medium" panose="020B0603020102020204"/>
                <a:ea typeface="微软雅黑" panose="020B0503020204020204" charset="-122"/>
                <a:cs typeface="+mn-ea"/>
              </a:endParaRPr>
            </a:p>
          </p:txBody>
        </p:sp>
        <p:sp>
          <p:nvSpPr>
            <p:cNvPr id="4" name="矩形 22">
              <a:extLst>
                <a:ext uri="{FF2B5EF4-FFF2-40B4-BE49-F238E27FC236}">
                  <a16:creationId xmlns:a16="http://schemas.microsoft.com/office/drawing/2014/main" id="{B3A5E390-04C2-6F39-B781-25C8EF851133}"/>
                </a:ext>
              </a:extLst>
            </p:cNvPr>
            <p:cNvSpPr/>
            <p:nvPr>
              <p:custDataLst>
                <p:tags r:id="rId2"/>
              </p:custDataLst>
            </p:nvPr>
          </p:nvSpPr>
          <p:spPr>
            <a:xfrm>
              <a:off x="5398134" y="1385672"/>
              <a:ext cx="3813175" cy="534035"/>
            </a:xfrm>
            <a:prstGeom prst="rect">
              <a:avLst/>
            </a:prstGeom>
            <a:effectLst/>
          </p:spPr>
          <p:txBody>
            <a:bodyPr wrap="square">
              <a:noAutofit/>
            </a:bodyPr>
            <a:lstStyle/>
            <a:p>
              <a:pPr lvl="0" algn="l">
                <a:lnSpc>
                  <a:spcPct val="120000"/>
                </a:lnSpc>
              </a:pPr>
              <a:r>
                <a:rPr lang="zh-CN" altLang="en-US" sz="2400" b="1" dirty="0">
                  <a:solidFill>
                    <a:schemeClr val="bg1">
                      <a:lumMod val="65000"/>
                    </a:schemeClr>
                  </a:solidFill>
                  <a:ea typeface="微软雅黑" panose="020B0503020204020204" charset="-122"/>
                  <a:sym typeface="Arial" panose="020B0604020202020204" pitchFamily="34" charset="0"/>
                </a:rPr>
                <a:t>什么是智能体</a:t>
              </a:r>
            </a:p>
          </p:txBody>
        </p:sp>
        <p:sp>
          <p:nvSpPr>
            <p:cNvPr id="5" name="圆角矩形 55">
              <a:extLst>
                <a:ext uri="{FF2B5EF4-FFF2-40B4-BE49-F238E27FC236}">
                  <a16:creationId xmlns:a16="http://schemas.microsoft.com/office/drawing/2014/main" id="{F658E1E8-5708-A755-42A7-45AE948438A2}"/>
                </a:ext>
              </a:extLst>
            </p:cNvPr>
            <p:cNvSpPr/>
            <p:nvPr>
              <p:custDataLst>
                <p:tags r:id="rId3"/>
              </p:custDataLst>
            </p:nvPr>
          </p:nvSpPr>
          <p:spPr bwMode="auto">
            <a:xfrm>
              <a:off x="4582160" y="1369162"/>
              <a:ext cx="685800" cy="567055"/>
            </a:xfrm>
            <a:prstGeom prst="roundRect">
              <a:avLst/>
            </a:prstGeom>
            <a:solidFill>
              <a:srgbClr val="012E57"/>
            </a:solidFill>
            <a:ln w="38100" cap="flat" cmpd="sng" algn="ctr">
              <a:noFill/>
              <a:prstDash val="solid"/>
            </a:ln>
            <a:effectLst>
              <a:outerShdw blurRad="203200" dist="88900" dir="8100000" sx="102000" sy="102000" algn="tr" rotWithShape="0">
                <a:prstClr val="black">
                  <a:alpha val="30000"/>
                </a:prstClr>
              </a:outerShdw>
            </a:effectLst>
          </p:spPr>
          <p:txBody>
            <a:bodyPr anchor="ctr"/>
            <a:lstStyle/>
            <a:p>
              <a:pPr marL="0" marR="0" lvl="0" indent="0" algn="ctr" defTabSz="914400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Impact" panose="020B0806030902050204" pitchFamily="34" charset="0"/>
                  <a:ea typeface="微软雅黑" panose="020B0503020204020204" charset="-122"/>
                  <a:cs typeface="微软雅黑" panose="020B0503020204020204" charset="-122"/>
                  <a:sym typeface="Franklin Gothic Medium" panose="020B0603020102020204" charset="0"/>
                </a:rPr>
                <a:t>1</a:t>
              </a:r>
            </a:p>
          </p:txBody>
        </p:sp>
        <p:sp>
          <p:nvSpPr>
            <p:cNvPr id="6" name="圆角矩形 56">
              <a:extLst>
                <a:ext uri="{FF2B5EF4-FFF2-40B4-BE49-F238E27FC236}">
                  <a16:creationId xmlns:a16="http://schemas.microsoft.com/office/drawing/2014/main" id="{0AAB976E-9980-D202-DFDD-554B64CB9515}"/>
                </a:ext>
              </a:extLst>
            </p:cNvPr>
            <p:cNvSpPr/>
            <p:nvPr>
              <p:custDataLst>
                <p:tags r:id="rId4"/>
              </p:custDataLst>
            </p:nvPr>
          </p:nvSpPr>
          <p:spPr bwMode="auto">
            <a:xfrm>
              <a:off x="5398134" y="2171643"/>
              <a:ext cx="3995420" cy="592455"/>
            </a:xfrm>
            <a:prstGeom prst="roundRect">
              <a:avLst/>
            </a:prstGeom>
            <a:solidFill>
              <a:sysClr val="window" lastClr="FFFFFF"/>
            </a:solidFill>
            <a:ln w="25400" cap="flat" cmpd="sng" algn="ctr">
              <a:noFill/>
              <a:prstDash val="solid"/>
            </a:ln>
            <a:effectLst/>
          </p:spPr>
          <p:txBody>
            <a:bodyPr lIns="72313" tIns="36156" rIns="72313" bIns="36156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Medium" panose="020B0603020102020204"/>
                <a:ea typeface="微软雅黑" panose="020B0503020204020204" charset="-122"/>
                <a:cs typeface="+mn-ea"/>
              </a:endParaRPr>
            </a:p>
          </p:txBody>
        </p:sp>
        <p:sp>
          <p:nvSpPr>
            <p:cNvPr id="8" name="矩形 29">
              <a:extLst>
                <a:ext uri="{FF2B5EF4-FFF2-40B4-BE49-F238E27FC236}">
                  <a16:creationId xmlns:a16="http://schemas.microsoft.com/office/drawing/2014/main" id="{36CF9F2A-38BB-4F4A-09A1-3043684AEE01}"/>
                </a:ext>
              </a:extLst>
            </p:cNvPr>
            <p:cNvSpPr/>
            <p:nvPr>
              <p:custDataLst>
                <p:tags r:id="rId5"/>
              </p:custDataLst>
            </p:nvPr>
          </p:nvSpPr>
          <p:spPr>
            <a:xfrm>
              <a:off x="5398135" y="2231492"/>
              <a:ext cx="3813175" cy="497205"/>
            </a:xfrm>
            <a:prstGeom prst="rect">
              <a:avLst/>
            </a:prstGeom>
            <a:effectLst/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zh-CN" sz="2400" b="1" dirty="0">
                  <a:ea typeface="微软雅黑" panose="020B0503020204020204" charset="-122"/>
                  <a:sym typeface="Arial" panose="020B0604020202020204" pitchFamily="34" charset="0"/>
                </a:rPr>
                <a:t>LLM</a:t>
              </a:r>
              <a:r>
                <a:rPr lang="zh-CN" altLang="en-US" sz="2400" b="1" dirty="0">
                  <a:ea typeface="微软雅黑" panose="020B0503020204020204" charset="-122"/>
                  <a:sym typeface="Arial" panose="020B0604020202020204" pitchFamily="34" charset="0"/>
                </a:rPr>
                <a:t> </a:t>
              </a:r>
              <a:r>
                <a:rPr lang="en-US" altLang="zh-CN" sz="2400" b="1" dirty="0">
                  <a:ea typeface="微软雅黑" panose="020B0503020204020204" charset="-122"/>
                  <a:sym typeface="Arial" panose="020B0604020202020204" pitchFamily="34" charset="0"/>
                </a:rPr>
                <a:t>Agent</a:t>
              </a:r>
              <a:r>
                <a:rPr lang="zh-CN" altLang="en-US" sz="2400" b="1" dirty="0">
                  <a:ea typeface="微软雅黑" panose="020B0503020204020204" charset="-122"/>
                  <a:sym typeface="Arial" panose="020B0604020202020204" pitchFamily="34" charset="0"/>
                </a:rPr>
                <a:t>的核心架构</a:t>
              </a:r>
              <a:endParaRPr lang="en-US" altLang="zh-CN" sz="2400" b="1" dirty="0"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9" name="圆角矩形 74">
              <a:extLst>
                <a:ext uri="{FF2B5EF4-FFF2-40B4-BE49-F238E27FC236}">
                  <a16:creationId xmlns:a16="http://schemas.microsoft.com/office/drawing/2014/main" id="{6543CED4-A6A8-0ED2-454D-0C08A4491BC4}"/>
                </a:ext>
              </a:extLst>
            </p:cNvPr>
            <p:cNvSpPr/>
            <p:nvPr>
              <p:custDataLst>
                <p:tags r:id="rId6"/>
              </p:custDataLst>
            </p:nvPr>
          </p:nvSpPr>
          <p:spPr bwMode="auto">
            <a:xfrm>
              <a:off x="4582160" y="2216252"/>
              <a:ext cx="685800" cy="565150"/>
            </a:xfrm>
            <a:prstGeom prst="roundRect">
              <a:avLst/>
            </a:prstGeom>
            <a:solidFill>
              <a:srgbClr val="012E57">
                <a:alpha val="65000"/>
              </a:srgbClr>
            </a:solidFill>
            <a:ln w="38100" cap="flat" cmpd="sng" algn="ctr">
              <a:noFill/>
              <a:prstDash val="solid"/>
            </a:ln>
            <a:effectLst>
              <a:outerShdw blurRad="203200" dist="88900" dir="8100000" sx="102000" sy="102000" algn="tr" rotWithShape="0">
                <a:prstClr val="black">
                  <a:alpha val="30000"/>
                </a:prstClr>
              </a:outerShdw>
            </a:effectLst>
          </p:spPr>
          <p:txBody>
            <a:bodyPr anchor="ctr"/>
            <a:lstStyle/>
            <a:p>
              <a:pPr marL="0" marR="0" lvl="0" indent="0" algn="ctr" defTabSz="914400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Impact" panose="020B0806030902050204" pitchFamily="34" charset="0"/>
                  <a:ea typeface="微软雅黑" panose="020B0503020204020204" charset="-122"/>
                  <a:cs typeface="微软雅黑" panose="020B0503020204020204" charset="-122"/>
                  <a:sym typeface="Franklin Gothic Medium" panose="020B0603020102020204" charset="0"/>
                </a:rPr>
                <a:t>2</a:t>
              </a:r>
            </a:p>
          </p:txBody>
        </p:sp>
        <p:sp>
          <p:nvSpPr>
            <p:cNvPr id="30" name="圆角矩形 56">
              <a:extLst>
                <a:ext uri="{FF2B5EF4-FFF2-40B4-BE49-F238E27FC236}">
                  <a16:creationId xmlns:a16="http://schemas.microsoft.com/office/drawing/2014/main" id="{287170B5-E8EE-018D-0E8E-B945DED12B0D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 bwMode="auto">
            <a:xfrm>
              <a:off x="5398134" y="3016034"/>
              <a:ext cx="3995420" cy="592455"/>
            </a:xfrm>
            <a:prstGeom prst="roundRect">
              <a:avLst/>
            </a:prstGeom>
            <a:solidFill>
              <a:sysClr val="window" lastClr="FFFFFF"/>
            </a:solidFill>
            <a:ln w="25400" cap="flat" cmpd="sng" algn="ctr">
              <a:noFill/>
              <a:prstDash val="solid"/>
            </a:ln>
            <a:effectLst/>
          </p:spPr>
          <p:txBody>
            <a:bodyPr lIns="72313" tIns="36156" rIns="72313" bIns="36156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Medium" panose="020B0603020102020204"/>
                <a:ea typeface="微软雅黑" panose="020B0503020204020204" charset="-122"/>
                <a:cs typeface="+mn-ea"/>
              </a:endParaRPr>
            </a:p>
          </p:txBody>
        </p:sp>
        <p:sp>
          <p:nvSpPr>
            <p:cNvPr id="31" name="矩形 29">
              <a:extLst>
                <a:ext uri="{FF2B5EF4-FFF2-40B4-BE49-F238E27FC236}">
                  <a16:creationId xmlns:a16="http://schemas.microsoft.com/office/drawing/2014/main" id="{01043ECE-1864-FCD7-C4A1-1AEBAE0AD7F3}"/>
                </a:ext>
              </a:extLst>
            </p:cNvPr>
            <p:cNvSpPr/>
            <p:nvPr>
              <p:custDataLst>
                <p:tags r:id="rId8"/>
              </p:custDataLst>
            </p:nvPr>
          </p:nvSpPr>
          <p:spPr>
            <a:xfrm>
              <a:off x="5398135" y="3077312"/>
              <a:ext cx="4097655" cy="497205"/>
            </a:xfrm>
            <a:prstGeom prst="rect">
              <a:avLst/>
            </a:prstGeom>
            <a:effectLst/>
          </p:spPr>
          <p:txBody>
            <a:bodyPr wrap="square">
              <a:spAutoFit/>
            </a:bodyPr>
            <a:lstStyle/>
            <a:p>
              <a:pPr lvl="0" algn="l">
                <a:lnSpc>
                  <a:spcPct val="120000"/>
                </a:lnSpc>
              </a:pPr>
              <a:r>
                <a:rPr lang="zh-CN" altLang="en-US" sz="2400" b="1" dirty="0">
                  <a:solidFill>
                    <a:schemeClr val="bg1">
                      <a:lumMod val="65000"/>
                    </a:schemeClr>
                  </a:solidFill>
                  <a:ea typeface="微软雅黑" panose="020B0503020204020204" charset="-122"/>
                  <a:cs typeface="微软雅黑" panose="020B0503020204020204" charset="-122"/>
                  <a:sym typeface="Arial" panose="020B0604020202020204" pitchFamily="34" charset="0"/>
                </a:rPr>
                <a:t>代表性研究工作</a:t>
              </a:r>
            </a:p>
          </p:txBody>
        </p:sp>
        <p:sp>
          <p:nvSpPr>
            <p:cNvPr id="32" name="圆角矩形 74">
              <a:extLst>
                <a:ext uri="{FF2B5EF4-FFF2-40B4-BE49-F238E27FC236}">
                  <a16:creationId xmlns:a16="http://schemas.microsoft.com/office/drawing/2014/main" id="{9F00AC86-DBDB-1D54-A5FB-905AF8E4CDEA}"/>
                </a:ext>
              </a:extLst>
            </p:cNvPr>
            <p:cNvSpPr/>
            <p:nvPr>
              <p:custDataLst>
                <p:tags r:id="rId9"/>
              </p:custDataLst>
            </p:nvPr>
          </p:nvSpPr>
          <p:spPr bwMode="auto">
            <a:xfrm>
              <a:off x="4582160" y="3061437"/>
              <a:ext cx="685800" cy="565150"/>
            </a:xfrm>
            <a:prstGeom prst="roundRect">
              <a:avLst/>
            </a:prstGeom>
            <a:solidFill>
              <a:srgbClr val="012E57">
                <a:alpha val="65000"/>
              </a:srgbClr>
            </a:solidFill>
            <a:ln w="38100" cap="flat" cmpd="sng" algn="ctr">
              <a:noFill/>
              <a:prstDash val="solid"/>
            </a:ln>
            <a:effectLst>
              <a:outerShdw blurRad="203200" dist="88900" dir="8100000" sx="102000" sy="102000" algn="tr" rotWithShape="0">
                <a:prstClr val="black">
                  <a:alpha val="30000"/>
                </a:prstClr>
              </a:outerShdw>
            </a:effectLst>
          </p:spPr>
          <p:txBody>
            <a:bodyPr anchor="ctr"/>
            <a:lstStyle/>
            <a:p>
              <a:pPr marL="0" marR="0" lvl="0" indent="0" algn="ctr" defTabSz="914400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Impact" panose="020B0806030902050204" pitchFamily="34" charset="0"/>
                  <a:ea typeface="微软雅黑" panose="020B0503020204020204" charset="-122"/>
                  <a:cs typeface="微软雅黑" panose="020B0503020204020204" charset="-122"/>
                  <a:sym typeface="Franklin Gothic Medium" panose="020B0603020102020204" charset="0"/>
                </a:rPr>
                <a:t>3</a:t>
              </a:r>
            </a:p>
          </p:txBody>
        </p:sp>
        <p:sp>
          <p:nvSpPr>
            <p:cNvPr id="34" name="圆角矩形 56">
              <a:extLst>
                <a:ext uri="{FF2B5EF4-FFF2-40B4-BE49-F238E27FC236}">
                  <a16:creationId xmlns:a16="http://schemas.microsoft.com/office/drawing/2014/main" id="{CD1CB4D6-B134-1D8C-51ED-F6AF3B403D1E}"/>
                </a:ext>
              </a:extLst>
            </p:cNvPr>
            <p:cNvSpPr/>
            <p:nvPr>
              <p:custDataLst>
                <p:tags r:id="rId10"/>
              </p:custDataLst>
            </p:nvPr>
          </p:nvSpPr>
          <p:spPr bwMode="auto">
            <a:xfrm>
              <a:off x="5398134" y="3860425"/>
              <a:ext cx="3995420" cy="591820"/>
            </a:xfrm>
            <a:prstGeom prst="roundRect">
              <a:avLst/>
            </a:prstGeom>
            <a:solidFill>
              <a:sysClr val="window" lastClr="FFFFFF"/>
            </a:solidFill>
            <a:ln w="25400" cap="flat" cmpd="sng" algn="ctr">
              <a:noFill/>
              <a:prstDash val="solid"/>
            </a:ln>
            <a:effectLst/>
          </p:spPr>
          <p:txBody>
            <a:bodyPr lIns="72313" tIns="36156" rIns="72313" bIns="36156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Medium" panose="020B0603020102020204"/>
                <a:ea typeface="微软雅黑" panose="020B0503020204020204" charset="-122"/>
                <a:cs typeface="+mn-ea"/>
              </a:endParaRPr>
            </a:p>
          </p:txBody>
        </p:sp>
        <p:sp>
          <p:nvSpPr>
            <p:cNvPr id="35" name="矩形 29">
              <a:extLst>
                <a:ext uri="{FF2B5EF4-FFF2-40B4-BE49-F238E27FC236}">
                  <a16:creationId xmlns:a16="http://schemas.microsoft.com/office/drawing/2014/main" id="{DA339C61-845F-84DC-B7DC-36B6074C0C44}"/>
                </a:ext>
              </a:extLst>
            </p:cNvPr>
            <p:cNvSpPr/>
            <p:nvPr>
              <p:custDataLst>
                <p:tags r:id="rId11"/>
              </p:custDataLst>
            </p:nvPr>
          </p:nvSpPr>
          <p:spPr>
            <a:xfrm>
              <a:off x="5398135" y="3923132"/>
              <a:ext cx="3166745" cy="497205"/>
            </a:xfrm>
            <a:prstGeom prst="rect">
              <a:avLst/>
            </a:prstGeom>
            <a:effectLst/>
          </p:spPr>
          <p:txBody>
            <a:bodyPr wrap="square">
              <a:spAutoFit/>
            </a:bodyPr>
            <a:lstStyle/>
            <a:p>
              <a:pPr lvl="0" algn="l">
                <a:lnSpc>
                  <a:spcPct val="120000"/>
                </a:lnSpc>
              </a:pPr>
              <a:r>
                <a:rPr lang="zh-CN" altLang="en-US" sz="2400" b="1" dirty="0">
                  <a:solidFill>
                    <a:schemeClr val="bg1">
                      <a:lumMod val="65000"/>
                    </a:schemeClr>
                  </a:solidFill>
                  <a:ea typeface="微软雅黑" panose="020B0503020204020204" charset="-122"/>
                  <a:cs typeface="微软雅黑" panose="020B0503020204020204" charset="-122"/>
                  <a:sym typeface="Arial" panose="020B0604020202020204" pitchFamily="34" charset="0"/>
                </a:rPr>
                <a:t>智能体的应用</a:t>
              </a:r>
            </a:p>
          </p:txBody>
        </p:sp>
        <p:sp>
          <p:nvSpPr>
            <p:cNvPr id="36" name="圆角矩形 74">
              <a:extLst>
                <a:ext uri="{FF2B5EF4-FFF2-40B4-BE49-F238E27FC236}">
                  <a16:creationId xmlns:a16="http://schemas.microsoft.com/office/drawing/2014/main" id="{EBBB4013-7384-47C6-8744-C04D810DDFDF}"/>
                </a:ext>
              </a:extLst>
            </p:cNvPr>
            <p:cNvSpPr/>
            <p:nvPr>
              <p:custDataLst>
                <p:tags r:id="rId12"/>
              </p:custDataLst>
            </p:nvPr>
          </p:nvSpPr>
          <p:spPr bwMode="auto">
            <a:xfrm>
              <a:off x="4582160" y="3906622"/>
              <a:ext cx="685800" cy="565150"/>
            </a:xfrm>
            <a:prstGeom prst="roundRect">
              <a:avLst/>
            </a:prstGeom>
            <a:solidFill>
              <a:srgbClr val="012E57">
                <a:alpha val="65000"/>
              </a:srgbClr>
            </a:solidFill>
            <a:ln w="38100" cap="flat" cmpd="sng" algn="ctr">
              <a:noFill/>
              <a:prstDash val="solid"/>
            </a:ln>
            <a:effectLst>
              <a:outerShdw blurRad="203200" dist="88900" dir="8100000" sx="102000" sy="102000" algn="tr" rotWithShape="0">
                <a:prstClr val="black">
                  <a:alpha val="30000"/>
                </a:prstClr>
              </a:outerShdw>
            </a:effectLst>
          </p:spPr>
          <p:txBody>
            <a:bodyPr anchor="ctr"/>
            <a:lstStyle/>
            <a:p>
              <a:pPr marL="0" marR="0" lvl="0" indent="0" algn="ctr" defTabSz="914400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Impact" panose="020B0806030902050204" pitchFamily="34" charset="0"/>
                  <a:ea typeface="微软雅黑" panose="020B0503020204020204" charset="-122"/>
                  <a:cs typeface="微软雅黑" panose="020B0503020204020204" charset="-122"/>
                  <a:sym typeface="Franklin Gothic Medium" panose="020B0603020102020204" charset="0"/>
                </a:rPr>
                <a:t>4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37704110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F52C882B-03AC-5B7F-9BFF-DBBA9BD4C8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480C5235-55AB-5CB2-5884-FF8544836032}"/>
              </a:ext>
            </a:extLst>
          </p:cNvPr>
          <p:cNvSpPr/>
          <p:nvPr/>
        </p:nvSpPr>
        <p:spPr>
          <a:xfrm>
            <a:off x="234082" y="387044"/>
            <a:ext cx="496852" cy="496851"/>
          </a:xfrm>
          <a:prstGeom prst="rect">
            <a:avLst/>
          </a:prstGeom>
          <a:solidFill>
            <a:srgbClr val="2E5696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05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EBC807E-CCCE-3076-254E-472AAF3C629B}"/>
              </a:ext>
            </a:extLst>
          </p:cNvPr>
          <p:cNvSpPr/>
          <p:nvPr/>
        </p:nvSpPr>
        <p:spPr>
          <a:xfrm>
            <a:off x="478878" y="653449"/>
            <a:ext cx="331236" cy="331236"/>
          </a:xfrm>
          <a:prstGeom prst="rect">
            <a:avLst/>
          </a:prstGeom>
          <a:solidFill>
            <a:srgbClr val="2E5696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05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8" name="TextBox 28">
            <a:extLst>
              <a:ext uri="{FF2B5EF4-FFF2-40B4-BE49-F238E27FC236}">
                <a16:creationId xmlns:a16="http://schemas.microsoft.com/office/drawing/2014/main" id="{923BEE05-62DC-D3C0-6A75-468EC88C04F6}"/>
              </a:ext>
            </a:extLst>
          </p:cNvPr>
          <p:cNvSpPr txBox="1"/>
          <p:nvPr/>
        </p:nvSpPr>
        <p:spPr>
          <a:xfrm>
            <a:off x="830709" y="332466"/>
            <a:ext cx="9094687" cy="691316"/>
          </a:xfrm>
          <a:prstGeom prst="rect">
            <a:avLst/>
          </a:prstGeom>
          <a:noFill/>
        </p:spPr>
        <p:txBody>
          <a:bodyPr wrap="square" lIns="105509" tIns="52755" rIns="105509" bIns="52755" rtlCol="0">
            <a:spAutoFit/>
          </a:bodyPr>
          <a:lstStyle/>
          <a:p>
            <a:pPr>
              <a:defRPr/>
            </a:pPr>
            <a:r>
              <a:rPr lang="zh-CN" altLang="en-US" sz="3800" b="1" spc="300" dirty="0">
                <a:solidFill>
                  <a:srgbClr val="2E5696"/>
                </a:solidFill>
                <a:latin typeface="微软雅黑" panose="020B0503020204020204" charset="-122"/>
                <a:ea typeface="微软雅黑" panose="020B0503020204020204" charset="-122"/>
              </a:rPr>
              <a:t>什么是智能体？</a:t>
            </a:r>
          </a:p>
        </p:txBody>
      </p:sp>
      <p:cxnSp>
        <p:nvCxnSpPr>
          <p:cNvPr id="122" name="直接连接符 46">
            <a:extLst>
              <a:ext uri="{FF2B5EF4-FFF2-40B4-BE49-F238E27FC236}">
                <a16:creationId xmlns:a16="http://schemas.microsoft.com/office/drawing/2014/main" id="{CCB4B4A0-E726-FA45-9CEB-6E5D93864A2F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810340" y="984583"/>
            <a:ext cx="11135003" cy="0"/>
          </a:xfrm>
          <a:prstGeom prst="line">
            <a:avLst/>
          </a:prstGeom>
          <a:noFill/>
          <a:ln w="9525" cmpd="sng">
            <a:solidFill>
              <a:srgbClr val="4D4948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78" name="文本框 77">
            <a:extLst>
              <a:ext uri="{FF2B5EF4-FFF2-40B4-BE49-F238E27FC236}">
                <a16:creationId xmlns:a16="http://schemas.microsoft.com/office/drawing/2014/main" id="{94C68DA7-AA73-ECF3-7A0C-FF56C5062400}"/>
              </a:ext>
            </a:extLst>
          </p:cNvPr>
          <p:cNvSpPr txBox="1"/>
          <p:nvPr/>
        </p:nvSpPr>
        <p:spPr>
          <a:xfrm>
            <a:off x="1164564" y="5629433"/>
            <a:ext cx="1165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b="1" dirty="0">
                <a:solidFill>
                  <a:schemeClr val="bg1"/>
                </a:solidFill>
              </a:rPr>
              <a:t>自主性</a:t>
            </a:r>
          </a:p>
        </p:txBody>
      </p:sp>
      <p:sp>
        <p:nvSpPr>
          <p:cNvPr id="80" name="文本框 79">
            <a:extLst>
              <a:ext uri="{FF2B5EF4-FFF2-40B4-BE49-F238E27FC236}">
                <a16:creationId xmlns:a16="http://schemas.microsoft.com/office/drawing/2014/main" id="{31DA445D-BB96-C918-4E76-9ED3A4803970}"/>
              </a:ext>
            </a:extLst>
          </p:cNvPr>
          <p:cNvSpPr txBox="1"/>
          <p:nvPr/>
        </p:nvSpPr>
        <p:spPr>
          <a:xfrm>
            <a:off x="3595217" y="5629433"/>
            <a:ext cx="1165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b="1" dirty="0">
                <a:solidFill>
                  <a:schemeClr val="bg1"/>
                </a:solidFill>
              </a:rPr>
              <a:t>响应性</a:t>
            </a:r>
          </a:p>
        </p:txBody>
      </p:sp>
      <p:sp>
        <p:nvSpPr>
          <p:cNvPr id="82" name="文本框 81">
            <a:extLst>
              <a:ext uri="{FF2B5EF4-FFF2-40B4-BE49-F238E27FC236}">
                <a16:creationId xmlns:a16="http://schemas.microsoft.com/office/drawing/2014/main" id="{74B0101C-88FF-874E-3AC1-958BFA48C0B5}"/>
              </a:ext>
            </a:extLst>
          </p:cNvPr>
          <p:cNvSpPr txBox="1"/>
          <p:nvPr/>
        </p:nvSpPr>
        <p:spPr>
          <a:xfrm>
            <a:off x="6025870" y="5629433"/>
            <a:ext cx="1165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b="1" dirty="0">
                <a:solidFill>
                  <a:schemeClr val="bg1"/>
                </a:solidFill>
              </a:rPr>
              <a:t>主动性</a:t>
            </a:r>
          </a:p>
        </p:txBody>
      </p:sp>
      <p:sp>
        <p:nvSpPr>
          <p:cNvPr id="84" name="文本框 83">
            <a:extLst>
              <a:ext uri="{FF2B5EF4-FFF2-40B4-BE49-F238E27FC236}">
                <a16:creationId xmlns:a16="http://schemas.microsoft.com/office/drawing/2014/main" id="{CE4C6FF2-BDB0-36AF-FB35-1683101109C8}"/>
              </a:ext>
            </a:extLst>
          </p:cNvPr>
          <p:cNvSpPr txBox="1"/>
          <p:nvPr/>
        </p:nvSpPr>
        <p:spPr>
          <a:xfrm>
            <a:off x="8456524" y="5629433"/>
            <a:ext cx="1165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b="1" dirty="0">
                <a:solidFill>
                  <a:schemeClr val="bg1"/>
                </a:solidFill>
              </a:rPr>
              <a:t>社会性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7F417241-26C6-52C2-82AF-99A402E889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0600" y="1139877"/>
            <a:ext cx="9479057" cy="565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66810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7721693E-BB99-1494-FD62-DDE7E7BF54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CDBDC0B9-3071-0418-2147-602EB71667B7}"/>
              </a:ext>
            </a:extLst>
          </p:cNvPr>
          <p:cNvSpPr/>
          <p:nvPr/>
        </p:nvSpPr>
        <p:spPr>
          <a:xfrm>
            <a:off x="234082" y="387044"/>
            <a:ext cx="496852" cy="496851"/>
          </a:xfrm>
          <a:prstGeom prst="rect">
            <a:avLst/>
          </a:prstGeom>
          <a:solidFill>
            <a:srgbClr val="2E5696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05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9E93EEA-F343-AA89-0F41-4EC769507BDA}"/>
              </a:ext>
            </a:extLst>
          </p:cNvPr>
          <p:cNvSpPr/>
          <p:nvPr/>
        </p:nvSpPr>
        <p:spPr>
          <a:xfrm>
            <a:off x="478878" y="653449"/>
            <a:ext cx="331236" cy="331236"/>
          </a:xfrm>
          <a:prstGeom prst="rect">
            <a:avLst/>
          </a:prstGeom>
          <a:solidFill>
            <a:srgbClr val="2E5696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05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8" name="TextBox 28">
            <a:extLst>
              <a:ext uri="{FF2B5EF4-FFF2-40B4-BE49-F238E27FC236}">
                <a16:creationId xmlns:a16="http://schemas.microsoft.com/office/drawing/2014/main" id="{7C79FEC6-2182-CFF6-C719-D9F81B242D57}"/>
              </a:ext>
            </a:extLst>
          </p:cNvPr>
          <p:cNvSpPr txBox="1"/>
          <p:nvPr/>
        </p:nvSpPr>
        <p:spPr>
          <a:xfrm>
            <a:off x="830709" y="332466"/>
            <a:ext cx="9094687" cy="691316"/>
          </a:xfrm>
          <a:prstGeom prst="rect">
            <a:avLst/>
          </a:prstGeom>
          <a:noFill/>
        </p:spPr>
        <p:txBody>
          <a:bodyPr wrap="square" lIns="105509" tIns="52755" rIns="105509" bIns="52755" rtlCol="0">
            <a:spAutoFit/>
          </a:bodyPr>
          <a:lstStyle/>
          <a:p>
            <a:pPr>
              <a:defRPr/>
            </a:pPr>
            <a:r>
              <a:rPr lang="zh-CN" altLang="en-US" sz="3800" b="1" spc="300" dirty="0">
                <a:solidFill>
                  <a:srgbClr val="2E5696"/>
                </a:solidFill>
                <a:latin typeface="微软雅黑" panose="020B0503020204020204" charset="-122"/>
                <a:ea typeface="微软雅黑" panose="020B0503020204020204" charset="-122"/>
              </a:rPr>
              <a:t>什么是智能体？</a:t>
            </a:r>
          </a:p>
        </p:txBody>
      </p:sp>
      <p:cxnSp>
        <p:nvCxnSpPr>
          <p:cNvPr id="122" name="直接连接符 46">
            <a:extLst>
              <a:ext uri="{FF2B5EF4-FFF2-40B4-BE49-F238E27FC236}">
                <a16:creationId xmlns:a16="http://schemas.microsoft.com/office/drawing/2014/main" id="{1D58E4AC-2B68-D643-6ED6-AB2E55BFE5BA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810340" y="984583"/>
            <a:ext cx="11135003" cy="0"/>
          </a:xfrm>
          <a:prstGeom prst="line">
            <a:avLst/>
          </a:prstGeom>
          <a:noFill/>
          <a:ln w="9525" cmpd="sng">
            <a:solidFill>
              <a:srgbClr val="4D4948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78" name="文本框 77">
            <a:extLst>
              <a:ext uri="{FF2B5EF4-FFF2-40B4-BE49-F238E27FC236}">
                <a16:creationId xmlns:a16="http://schemas.microsoft.com/office/drawing/2014/main" id="{F54CD833-3387-48AD-27A4-0F8A9F851647}"/>
              </a:ext>
            </a:extLst>
          </p:cNvPr>
          <p:cNvSpPr txBox="1"/>
          <p:nvPr/>
        </p:nvSpPr>
        <p:spPr>
          <a:xfrm>
            <a:off x="1164564" y="5629433"/>
            <a:ext cx="1165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b="1" dirty="0">
                <a:solidFill>
                  <a:schemeClr val="bg1"/>
                </a:solidFill>
              </a:rPr>
              <a:t>自主性</a:t>
            </a:r>
          </a:p>
        </p:txBody>
      </p:sp>
      <p:sp>
        <p:nvSpPr>
          <p:cNvPr id="80" name="文本框 79">
            <a:extLst>
              <a:ext uri="{FF2B5EF4-FFF2-40B4-BE49-F238E27FC236}">
                <a16:creationId xmlns:a16="http://schemas.microsoft.com/office/drawing/2014/main" id="{6DBC3249-7FFE-4AB9-AE49-92851DAB0C42}"/>
              </a:ext>
            </a:extLst>
          </p:cNvPr>
          <p:cNvSpPr txBox="1"/>
          <p:nvPr/>
        </p:nvSpPr>
        <p:spPr>
          <a:xfrm>
            <a:off x="3595217" y="5629433"/>
            <a:ext cx="1165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b="1" dirty="0">
                <a:solidFill>
                  <a:schemeClr val="bg1"/>
                </a:solidFill>
              </a:rPr>
              <a:t>响应性</a:t>
            </a:r>
          </a:p>
        </p:txBody>
      </p:sp>
      <p:sp>
        <p:nvSpPr>
          <p:cNvPr id="82" name="文本框 81">
            <a:extLst>
              <a:ext uri="{FF2B5EF4-FFF2-40B4-BE49-F238E27FC236}">
                <a16:creationId xmlns:a16="http://schemas.microsoft.com/office/drawing/2014/main" id="{3B1D5E47-5A15-3258-F5C1-88C30F2CAC40}"/>
              </a:ext>
            </a:extLst>
          </p:cNvPr>
          <p:cNvSpPr txBox="1"/>
          <p:nvPr/>
        </p:nvSpPr>
        <p:spPr>
          <a:xfrm>
            <a:off x="6025870" y="5629433"/>
            <a:ext cx="1165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b="1" dirty="0">
                <a:solidFill>
                  <a:schemeClr val="bg1"/>
                </a:solidFill>
              </a:rPr>
              <a:t>主动性</a:t>
            </a:r>
          </a:p>
        </p:txBody>
      </p:sp>
      <p:sp>
        <p:nvSpPr>
          <p:cNvPr id="84" name="文本框 83">
            <a:extLst>
              <a:ext uri="{FF2B5EF4-FFF2-40B4-BE49-F238E27FC236}">
                <a16:creationId xmlns:a16="http://schemas.microsoft.com/office/drawing/2014/main" id="{B79FA703-C3EE-CB5D-6E3F-37C65AADE302}"/>
              </a:ext>
            </a:extLst>
          </p:cNvPr>
          <p:cNvSpPr txBox="1"/>
          <p:nvPr/>
        </p:nvSpPr>
        <p:spPr>
          <a:xfrm>
            <a:off x="8456524" y="5629433"/>
            <a:ext cx="1165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b="1" dirty="0">
                <a:solidFill>
                  <a:schemeClr val="bg1"/>
                </a:solidFill>
              </a:rPr>
              <a:t>社会性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D88C7269-B307-C5C4-DABE-AC7188F433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0628" y="1122481"/>
            <a:ext cx="9030483" cy="4412362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1E78315D-83B0-72B8-8A2E-12C93353ACA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-379" t="1" b="1628"/>
          <a:stretch>
            <a:fillRect/>
          </a:stretch>
        </p:blipFill>
        <p:spPr>
          <a:xfrm>
            <a:off x="6999890" y="5261151"/>
            <a:ext cx="2784451" cy="1544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14102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EC94F18E-69FE-93CB-0DEF-C1B30934B2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BEEE70A0-0931-8F4E-D370-1610D161276A}"/>
              </a:ext>
            </a:extLst>
          </p:cNvPr>
          <p:cNvSpPr/>
          <p:nvPr/>
        </p:nvSpPr>
        <p:spPr>
          <a:xfrm>
            <a:off x="234082" y="387044"/>
            <a:ext cx="496852" cy="496851"/>
          </a:xfrm>
          <a:prstGeom prst="rect">
            <a:avLst/>
          </a:prstGeom>
          <a:solidFill>
            <a:srgbClr val="2E5696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05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F59A3AE-B426-FA73-86B1-2E576D15C394}"/>
              </a:ext>
            </a:extLst>
          </p:cNvPr>
          <p:cNvSpPr/>
          <p:nvPr/>
        </p:nvSpPr>
        <p:spPr>
          <a:xfrm>
            <a:off x="478878" y="653449"/>
            <a:ext cx="331236" cy="331236"/>
          </a:xfrm>
          <a:prstGeom prst="rect">
            <a:avLst/>
          </a:prstGeom>
          <a:solidFill>
            <a:srgbClr val="2E5696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05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8" name="TextBox 28">
            <a:extLst>
              <a:ext uri="{FF2B5EF4-FFF2-40B4-BE49-F238E27FC236}">
                <a16:creationId xmlns:a16="http://schemas.microsoft.com/office/drawing/2014/main" id="{E9558761-7FEE-A40F-3B47-A97E31BB0A79}"/>
              </a:ext>
            </a:extLst>
          </p:cNvPr>
          <p:cNvSpPr txBox="1"/>
          <p:nvPr/>
        </p:nvSpPr>
        <p:spPr>
          <a:xfrm>
            <a:off x="830709" y="332466"/>
            <a:ext cx="9094687" cy="691316"/>
          </a:xfrm>
          <a:prstGeom prst="rect">
            <a:avLst/>
          </a:prstGeom>
          <a:noFill/>
        </p:spPr>
        <p:txBody>
          <a:bodyPr wrap="square" lIns="105509" tIns="52755" rIns="105509" bIns="52755" rtlCol="0">
            <a:spAutoFit/>
          </a:bodyPr>
          <a:lstStyle/>
          <a:p>
            <a:pPr>
              <a:defRPr/>
            </a:pPr>
            <a:r>
              <a:rPr lang="zh-CN" altLang="en-US" sz="3800" b="1" spc="300" dirty="0">
                <a:solidFill>
                  <a:srgbClr val="2E5696"/>
                </a:solidFill>
                <a:latin typeface="微软雅黑" panose="020B0503020204020204" charset="-122"/>
                <a:ea typeface="微软雅黑" panose="020B0503020204020204" charset="-122"/>
              </a:rPr>
              <a:t>什么是智能体？</a:t>
            </a:r>
          </a:p>
        </p:txBody>
      </p:sp>
      <p:cxnSp>
        <p:nvCxnSpPr>
          <p:cNvPr id="122" name="直接连接符 46">
            <a:extLst>
              <a:ext uri="{FF2B5EF4-FFF2-40B4-BE49-F238E27FC236}">
                <a16:creationId xmlns:a16="http://schemas.microsoft.com/office/drawing/2014/main" id="{471E37F2-465F-AC67-8E37-FE4098F7FCD5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810340" y="984583"/>
            <a:ext cx="11135003" cy="0"/>
          </a:xfrm>
          <a:prstGeom prst="line">
            <a:avLst/>
          </a:prstGeom>
          <a:noFill/>
          <a:ln w="9525" cmpd="sng">
            <a:solidFill>
              <a:srgbClr val="4D4948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78" name="文本框 77">
            <a:extLst>
              <a:ext uri="{FF2B5EF4-FFF2-40B4-BE49-F238E27FC236}">
                <a16:creationId xmlns:a16="http://schemas.microsoft.com/office/drawing/2014/main" id="{E9F332AB-2C83-9E65-43C8-A56367D9A8F0}"/>
              </a:ext>
            </a:extLst>
          </p:cNvPr>
          <p:cNvSpPr txBox="1"/>
          <p:nvPr/>
        </p:nvSpPr>
        <p:spPr>
          <a:xfrm>
            <a:off x="1164564" y="5629433"/>
            <a:ext cx="1165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b="1" dirty="0">
                <a:solidFill>
                  <a:schemeClr val="bg1"/>
                </a:solidFill>
              </a:rPr>
              <a:t>自主性</a:t>
            </a:r>
          </a:p>
        </p:txBody>
      </p:sp>
      <p:sp>
        <p:nvSpPr>
          <p:cNvPr id="80" name="文本框 79">
            <a:extLst>
              <a:ext uri="{FF2B5EF4-FFF2-40B4-BE49-F238E27FC236}">
                <a16:creationId xmlns:a16="http://schemas.microsoft.com/office/drawing/2014/main" id="{11219153-54E2-591A-C09A-8420882375C9}"/>
              </a:ext>
            </a:extLst>
          </p:cNvPr>
          <p:cNvSpPr txBox="1"/>
          <p:nvPr/>
        </p:nvSpPr>
        <p:spPr>
          <a:xfrm>
            <a:off x="3595217" y="5629433"/>
            <a:ext cx="1165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b="1" dirty="0">
                <a:solidFill>
                  <a:schemeClr val="bg1"/>
                </a:solidFill>
              </a:rPr>
              <a:t>响应性</a:t>
            </a:r>
          </a:p>
        </p:txBody>
      </p:sp>
      <p:sp>
        <p:nvSpPr>
          <p:cNvPr id="82" name="文本框 81">
            <a:extLst>
              <a:ext uri="{FF2B5EF4-FFF2-40B4-BE49-F238E27FC236}">
                <a16:creationId xmlns:a16="http://schemas.microsoft.com/office/drawing/2014/main" id="{544A6514-EEE0-2F2E-92B1-B6A9BBC40EC2}"/>
              </a:ext>
            </a:extLst>
          </p:cNvPr>
          <p:cNvSpPr txBox="1"/>
          <p:nvPr/>
        </p:nvSpPr>
        <p:spPr>
          <a:xfrm>
            <a:off x="6025870" y="5629433"/>
            <a:ext cx="1165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b="1" dirty="0">
                <a:solidFill>
                  <a:schemeClr val="bg1"/>
                </a:solidFill>
              </a:rPr>
              <a:t>主动性</a:t>
            </a:r>
          </a:p>
        </p:txBody>
      </p:sp>
      <p:sp>
        <p:nvSpPr>
          <p:cNvPr id="84" name="文本框 83">
            <a:extLst>
              <a:ext uri="{FF2B5EF4-FFF2-40B4-BE49-F238E27FC236}">
                <a16:creationId xmlns:a16="http://schemas.microsoft.com/office/drawing/2014/main" id="{2A3556F9-AD7F-DD67-CFE8-9D9A6274BAF0}"/>
              </a:ext>
            </a:extLst>
          </p:cNvPr>
          <p:cNvSpPr txBox="1"/>
          <p:nvPr/>
        </p:nvSpPr>
        <p:spPr>
          <a:xfrm>
            <a:off x="8456524" y="5629433"/>
            <a:ext cx="1165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b="1" dirty="0">
                <a:solidFill>
                  <a:schemeClr val="bg1"/>
                </a:solidFill>
              </a:rPr>
              <a:t>社会性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169404A5-9952-AD22-840C-6FCCF03030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973" y="1218284"/>
            <a:ext cx="10163768" cy="54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61184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CF6073D4-FCCD-D234-7037-D47104E587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BFEC68F7-335C-08AE-3CB3-D4C0950BBB04}"/>
              </a:ext>
            </a:extLst>
          </p:cNvPr>
          <p:cNvSpPr/>
          <p:nvPr/>
        </p:nvSpPr>
        <p:spPr>
          <a:xfrm>
            <a:off x="234082" y="387044"/>
            <a:ext cx="496852" cy="496851"/>
          </a:xfrm>
          <a:prstGeom prst="rect">
            <a:avLst/>
          </a:prstGeom>
          <a:solidFill>
            <a:srgbClr val="2E5696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05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8333682-CE7A-E65A-2B53-4E0630F10404}"/>
              </a:ext>
            </a:extLst>
          </p:cNvPr>
          <p:cNvSpPr/>
          <p:nvPr/>
        </p:nvSpPr>
        <p:spPr>
          <a:xfrm>
            <a:off x="478878" y="653449"/>
            <a:ext cx="331236" cy="331236"/>
          </a:xfrm>
          <a:prstGeom prst="rect">
            <a:avLst/>
          </a:prstGeom>
          <a:solidFill>
            <a:srgbClr val="2E5696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05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8" name="TextBox 28">
            <a:extLst>
              <a:ext uri="{FF2B5EF4-FFF2-40B4-BE49-F238E27FC236}">
                <a16:creationId xmlns:a16="http://schemas.microsoft.com/office/drawing/2014/main" id="{552086F5-A9B2-EAAC-3F5D-6D869F322B1A}"/>
              </a:ext>
            </a:extLst>
          </p:cNvPr>
          <p:cNvSpPr txBox="1"/>
          <p:nvPr/>
        </p:nvSpPr>
        <p:spPr>
          <a:xfrm>
            <a:off x="830709" y="332466"/>
            <a:ext cx="9094687" cy="691316"/>
          </a:xfrm>
          <a:prstGeom prst="rect">
            <a:avLst/>
          </a:prstGeom>
          <a:noFill/>
        </p:spPr>
        <p:txBody>
          <a:bodyPr wrap="square" lIns="105509" tIns="52755" rIns="105509" bIns="52755" rtlCol="0">
            <a:spAutoFit/>
          </a:bodyPr>
          <a:lstStyle/>
          <a:p>
            <a:pPr>
              <a:defRPr/>
            </a:pPr>
            <a:r>
              <a:rPr lang="zh-CN" altLang="en-US" sz="3800" b="1" spc="300" dirty="0">
                <a:solidFill>
                  <a:srgbClr val="2E5696"/>
                </a:solidFill>
                <a:latin typeface="微软雅黑" panose="020B0503020204020204" charset="-122"/>
                <a:ea typeface="微软雅黑" panose="020B0503020204020204" charset="-122"/>
              </a:rPr>
              <a:t>智能体是如何运行的？</a:t>
            </a:r>
          </a:p>
        </p:txBody>
      </p:sp>
      <p:cxnSp>
        <p:nvCxnSpPr>
          <p:cNvPr id="122" name="直接连接符 46">
            <a:extLst>
              <a:ext uri="{FF2B5EF4-FFF2-40B4-BE49-F238E27FC236}">
                <a16:creationId xmlns:a16="http://schemas.microsoft.com/office/drawing/2014/main" id="{A867A363-ABCC-07C7-A17E-52C22091C315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810340" y="984583"/>
            <a:ext cx="11135003" cy="0"/>
          </a:xfrm>
          <a:prstGeom prst="line">
            <a:avLst/>
          </a:prstGeom>
          <a:noFill/>
          <a:ln w="9525" cmpd="sng">
            <a:solidFill>
              <a:srgbClr val="4D4948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78" name="文本框 77">
            <a:extLst>
              <a:ext uri="{FF2B5EF4-FFF2-40B4-BE49-F238E27FC236}">
                <a16:creationId xmlns:a16="http://schemas.microsoft.com/office/drawing/2014/main" id="{D6EB23FF-0DEC-93EA-9CF9-07698142E7E7}"/>
              </a:ext>
            </a:extLst>
          </p:cNvPr>
          <p:cNvSpPr txBox="1"/>
          <p:nvPr/>
        </p:nvSpPr>
        <p:spPr>
          <a:xfrm>
            <a:off x="1164564" y="5629433"/>
            <a:ext cx="1165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b="1" dirty="0">
                <a:solidFill>
                  <a:schemeClr val="bg1"/>
                </a:solidFill>
              </a:rPr>
              <a:t>自主性</a:t>
            </a:r>
          </a:p>
        </p:txBody>
      </p:sp>
      <p:sp>
        <p:nvSpPr>
          <p:cNvPr id="80" name="文本框 79">
            <a:extLst>
              <a:ext uri="{FF2B5EF4-FFF2-40B4-BE49-F238E27FC236}">
                <a16:creationId xmlns:a16="http://schemas.microsoft.com/office/drawing/2014/main" id="{877637B2-B966-F689-D795-802BFB11D492}"/>
              </a:ext>
            </a:extLst>
          </p:cNvPr>
          <p:cNvSpPr txBox="1"/>
          <p:nvPr/>
        </p:nvSpPr>
        <p:spPr>
          <a:xfrm>
            <a:off x="3595217" y="5629433"/>
            <a:ext cx="1165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b="1" dirty="0">
                <a:solidFill>
                  <a:schemeClr val="bg1"/>
                </a:solidFill>
              </a:rPr>
              <a:t>响应性</a:t>
            </a:r>
          </a:p>
        </p:txBody>
      </p:sp>
      <p:sp>
        <p:nvSpPr>
          <p:cNvPr id="82" name="文本框 81">
            <a:extLst>
              <a:ext uri="{FF2B5EF4-FFF2-40B4-BE49-F238E27FC236}">
                <a16:creationId xmlns:a16="http://schemas.microsoft.com/office/drawing/2014/main" id="{F7444DF4-7E85-AE79-5ED7-1E70AD674E1D}"/>
              </a:ext>
            </a:extLst>
          </p:cNvPr>
          <p:cNvSpPr txBox="1"/>
          <p:nvPr/>
        </p:nvSpPr>
        <p:spPr>
          <a:xfrm>
            <a:off x="6025870" y="5629433"/>
            <a:ext cx="1165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b="1" dirty="0">
                <a:solidFill>
                  <a:schemeClr val="bg1"/>
                </a:solidFill>
              </a:rPr>
              <a:t>主动性</a:t>
            </a:r>
          </a:p>
        </p:txBody>
      </p:sp>
      <p:sp>
        <p:nvSpPr>
          <p:cNvPr id="84" name="文本框 83">
            <a:extLst>
              <a:ext uri="{FF2B5EF4-FFF2-40B4-BE49-F238E27FC236}">
                <a16:creationId xmlns:a16="http://schemas.microsoft.com/office/drawing/2014/main" id="{D4A0BE44-3C56-853F-0A52-7E9A6752DA68}"/>
              </a:ext>
            </a:extLst>
          </p:cNvPr>
          <p:cNvSpPr txBox="1"/>
          <p:nvPr/>
        </p:nvSpPr>
        <p:spPr>
          <a:xfrm>
            <a:off x="8456524" y="5629433"/>
            <a:ext cx="1165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b="1" dirty="0">
                <a:solidFill>
                  <a:schemeClr val="bg1"/>
                </a:solidFill>
              </a:rPr>
              <a:t>社会性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1B411B41-B2DE-6196-F88A-28A201D207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1130" y="1342399"/>
            <a:ext cx="7441036" cy="5472000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2803ACA8-DC0C-B151-6AC5-E21381AB018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71546"/>
          <a:stretch>
            <a:fillRect/>
          </a:stretch>
        </p:blipFill>
        <p:spPr>
          <a:xfrm>
            <a:off x="3595217" y="1045499"/>
            <a:ext cx="4259949" cy="299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0060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CC46C4A9-974F-7B2D-29EA-EFEF9B39D5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49">
            <a:extLst>
              <a:ext uri="{FF2B5EF4-FFF2-40B4-BE49-F238E27FC236}">
                <a16:creationId xmlns:a16="http://schemas.microsoft.com/office/drawing/2014/main" id="{8C000727-E115-1D05-99B4-0FA7A7D3F593}"/>
              </a:ext>
            </a:extLst>
          </p:cNvPr>
          <p:cNvGrpSpPr/>
          <p:nvPr/>
        </p:nvGrpSpPr>
        <p:grpSpPr bwMode="auto">
          <a:xfrm>
            <a:off x="2077085" y="2609215"/>
            <a:ext cx="1616075" cy="1639570"/>
            <a:chOff x="3861535" y="2819400"/>
            <a:chExt cx="1218704" cy="1218704"/>
          </a:xfrm>
        </p:grpSpPr>
        <p:grpSp>
          <p:nvGrpSpPr>
            <p:cNvPr id="15" name="组合 50">
              <a:extLst>
                <a:ext uri="{FF2B5EF4-FFF2-40B4-BE49-F238E27FC236}">
                  <a16:creationId xmlns:a16="http://schemas.microsoft.com/office/drawing/2014/main" id="{71F6BF46-7A97-B606-70CD-34F249DC9981}"/>
                </a:ext>
              </a:extLst>
            </p:cNvPr>
            <p:cNvGrpSpPr/>
            <p:nvPr/>
          </p:nvGrpSpPr>
          <p:grpSpPr>
            <a:xfrm>
              <a:off x="3861535" y="2819400"/>
              <a:ext cx="1218704" cy="1218704"/>
              <a:chOff x="-27110" y="673100"/>
              <a:chExt cx="4000500" cy="4000500"/>
            </a:xfrm>
            <a:effectLst>
              <a:outerShdw blurRad="444500" dist="254000" dir="8100000" algn="tr" rotWithShape="0">
                <a:prstClr val="black">
                  <a:alpha val="50000"/>
                </a:prstClr>
              </a:outerShdw>
            </a:effectLst>
          </p:grpSpPr>
          <p:sp>
            <p:nvSpPr>
              <p:cNvPr id="16" name="同心圆 45">
                <a:extLst>
                  <a:ext uri="{FF2B5EF4-FFF2-40B4-BE49-F238E27FC236}">
                    <a16:creationId xmlns:a16="http://schemas.microsoft.com/office/drawing/2014/main" id="{1128928E-D40E-8F95-EAE5-2ABFB99F7A9F}"/>
                  </a:ext>
                </a:extLst>
              </p:cNvPr>
              <p:cNvSpPr/>
              <p:nvPr/>
            </p:nvSpPr>
            <p:spPr>
              <a:xfrm>
                <a:off x="-27110" y="673100"/>
                <a:ext cx="4000500" cy="4000500"/>
              </a:xfrm>
              <a:prstGeom prst="donut">
                <a:avLst>
                  <a:gd name="adj" fmla="val 4879"/>
                </a:avLst>
              </a:prstGeom>
              <a:gradFill>
                <a:gsLst>
                  <a:gs pos="0">
                    <a:sysClr val="window" lastClr="FFFFFF"/>
                  </a:gs>
                  <a:gs pos="55000">
                    <a:sysClr val="window" lastClr="FFFFFF">
                      <a:lumMod val="95000"/>
                    </a:sysClr>
                  </a:gs>
                  <a:gs pos="100000">
                    <a:sysClr val="window" lastClr="FFFFFF">
                      <a:lumMod val="65000"/>
                    </a:sysClr>
                  </a:gs>
                </a:gsLst>
                <a:lin ang="8100000" scaled="0"/>
              </a:gradFill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0" lang="zh-CN" altLang="en-US" sz="2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Franklin Gothic Medium" panose="020B0603020102020204"/>
                  <a:ea typeface="微软雅黑" panose="020B0503020204020204" charset="-122"/>
                  <a:cs typeface="微软雅黑" panose="020B0503020204020204" charset="-122"/>
                  <a:sym typeface="Franklin Gothic Medium" panose="020B0603020102020204" charset="0"/>
                </a:endParaRPr>
              </a:p>
            </p:txBody>
          </p:sp>
          <p:sp>
            <p:nvSpPr>
              <p:cNvPr id="17" name="椭圆 53">
                <a:extLst>
                  <a:ext uri="{FF2B5EF4-FFF2-40B4-BE49-F238E27FC236}">
                    <a16:creationId xmlns:a16="http://schemas.microsoft.com/office/drawing/2014/main" id="{F694ACD7-CF1A-F019-CB73-5BD7C44248BD}"/>
                  </a:ext>
                </a:extLst>
              </p:cNvPr>
              <p:cNvSpPr/>
              <p:nvPr/>
            </p:nvSpPr>
            <p:spPr>
              <a:xfrm>
                <a:off x="60202" y="760412"/>
                <a:ext cx="3825874" cy="3825874"/>
              </a:xfrm>
              <a:prstGeom prst="ellipse">
                <a:avLst/>
              </a:prstGeom>
              <a:gradFill>
                <a:gsLst>
                  <a:gs pos="0">
                    <a:sysClr val="window" lastClr="FFFFFF"/>
                  </a:gs>
                  <a:gs pos="51000">
                    <a:sysClr val="window" lastClr="FFFFFF">
                      <a:lumMod val="95000"/>
                    </a:sysClr>
                  </a:gs>
                  <a:gs pos="100000">
                    <a:sysClr val="window" lastClr="FFFFFF">
                      <a:lumMod val="75000"/>
                    </a:sysClr>
                  </a:gs>
                </a:gsLst>
                <a:lin ang="18900000" scaled="0"/>
              </a:gradFill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0" lang="zh-CN" altLang="en-US" sz="2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Franklin Gothic Medium" panose="020B0603020102020204"/>
                  <a:ea typeface="微软雅黑" panose="020B0503020204020204" charset="-122"/>
                  <a:cs typeface="微软雅黑" panose="020B0503020204020204" charset="-122"/>
                  <a:sym typeface="Franklin Gothic Medium" panose="020B0603020102020204" charset="0"/>
                </a:endParaRPr>
              </a:p>
            </p:txBody>
          </p:sp>
        </p:grpSp>
        <p:sp>
          <p:nvSpPr>
            <p:cNvPr id="18" name="TextBox 5">
              <a:extLst>
                <a:ext uri="{FF2B5EF4-FFF2-40B4-BE49-F238E27FC236}">
                  <a16:creationId xmlns:a16="http://schemas.microsoft.com/office/drawing/2014/main" id="{F87B95C3-2E95-8636-5B9A-C287F76A0DCB}"/>
                </a:ext>
              </a:extLst>
            </p:cNvPr>
            <p:cNvSpPr txBox="1"/>
            <p:nvPr/>
          </p:nvSpPr>
          <p:spPr>
            <a:xfrm>
              <a:off x="3905470" y="3211868"/>
              <a:ext cx="1130834" cy="43376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en-US" sz="3200" b="1" i="0" u="none" strike="noStrike" kern="1200" cap="none" spc="225" normalizeH="0" baseline="0" noProof="0" dirty="0">
                  <a:ln>
                    <a:noFill/>
                  </a:ln>
                  <a:solidFill>
                    <a:srgbClr val="012E57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Franklin Gothic Medium" panose="020B0603020102020204" charset="0"/>
                </a:rPr>
                <a:t>目</a:t>
              </a:r>
              <a:r>
                <a:rPr kumimoji="0" lang="en-US" altLang="zh-CN" sz="3200" b="1" i="0" u="none" strike="noStrike" kern="1200" cap="none" spc="225" normalizeH="0" baseline="0" noProof="0" dirty="0">
                  <a:ln>
                    <a:noFill/>
                  </a:ln>
                  <a:solidFill>
                    <a:srgbClr val="012E57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Franklin Gothic Medium" panose="020B0603020102020204" charset="0"/>
                </a:rPr>
                <a:t> </a:t>
              </a:r>
              <a:r>
                <a:rPr kumimoji="0" lang="zh-CN" altLang="en-US" sz="3200" b="1" i="0" u="none" strike="noStrike" kern="1200" cap="none" spc="225" normalizeH="0" baseline="0" noProof="0" dirty="0">
                  <a:ln>
                    <a:noFill/>
                  </a:ln>
                  <a:solidFill>
                    <a:srgbClr val="012E57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Franklin Gothic Medium" panose="020B0603020102020204" charset="0"/>
                </a:rPr>
                <a:t>录</a:t>
              </a:r>
            </a:p>
          </p:txBody>
        </p:sp>
      </p:grpSp>
      <p:grpSp>
        <p:nvGrpSpPr>
          <p:cNvPr id="3" name="组合 2">
            <a:extLst>
              <a:ext uri="{FF2B5EF4-FFF2-40B4-BE49-F238E27FC236}">
                <a16:creationId xmlns:a16="http://schemas.microsoft.com/office/drawing/2014/main" id="{5579F1E8-4C73-0426-B2A0-B9D8CD60AD77}"/>
              </a:ext>
            </a:extLst>
          </p:cNvPr>
          <p:cNvGrpSpPr/>
          <p:nvPr/>
        </p:nvGrpSpPr>
        <p:grpSpPr>
          <a:xfrm>
            <a:off x="4582160" y="1770736"/>
            <a:ext cx="4913630" cy="3167380"/>
            <a:chOff x="4582160" y="1304392"/>
            <a:chExt cx="4913630" cy="3167380"/>
          </a:xfrm>
        </p:grpSpPr>
        <p:sp>
          <p:nvSpPr>
            <p:cNvPr id="2" name="圆角矩形 50">
              <a:extLst>
                <a:ext uri="{FF2B5EF4-FFF2-40B4-BE49-F238E27FC236}">
                  <a16:creationId xmlns:a16="http://schemas.microsoft.com/office/drawing/2014/main" id="{9105B0D8-F92F-F414-01DD-9CE374DF9829}"/>
                </a:ext>
              </a:extLst>
            </p:cNvPr>
            <p:cNvSpPr/>
            <p:nvPr>
              <p:custDataLst>
                <p:tags r:id="rId1"/>
              </p:custDataLst>
            </p:nvPr>
          </p:nvSpPr>
          <p:spPr bwMode="auto">
            <a:xfrm>
              <a:off x="5398135" y="1304392"/>
              <a:ext cx="3995420" cy="591820"/>
            </a:xfrm>
            <a:prstGeom prst="roundRect">
              <a:avLst/>
            </a:prstGeom>
            <a:solidFill>
              <a:sysClr val="window" lastClr="FFFFFF"/>
            </a:solidFill>
            <a:ln w="25400" cap="flat" cmpd="sng" algn="ctr">
              <a:noFill/>
              <a:prstDash val="solid"/>
            </a:ln>
            <a:effectLst/>
          </p:spPr>
          <p:txBody>
            <a:bodyPr lIns="72313" tIns="36156" rIns="72313" bIns="36156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Medium" panose="020B0603020102020204"/>
                <a:ea typeface="微软雅黑" panose="020B0503020204020204" charset="-122"/>
                <a:cs typeface="+mn-ea"/>
              </a:endParaRPr>
            </a:p>
          </p:txBody>
        </p:sp>
        <p:sp>
          <p:nvSpPr>
            <p:cNvPr id="4" name="矩形 22">
              <a:extLst>
                <a:ext uri="{FF2B5EF4-FFF2-40B4-BE49-F238E27FC236}">
                  <a16:creationId xmlns:a16="http://schemas.microsoft.com/office/drawing/2014/main" id="{5B68811D-D7A8-FB10-4E89-306DC544BAA0}"/>
                </a:ext>
              </a:extLst>
            </p:cNvPr>
            <p:cNvSpPr/>
            <p:nvPr>
              <p:custDataLst>
                <p:tags r:id="rId2"/>
              </p:custDataLst>
            </p:nvPr>
          </p:nvSpPr>
          <p:spPr>
            <a:xfrm>
              <a:off x="5398134" y="1385672"/>
              <a:ext cx="3813175" cy="534035"/>
            </a:xfrm>
            <a:prstGeom prst="rect">
              <a:avLst/>
            </a:prstGeom>
            <a:effectLst/>
          </p:spPr>
          <p:txBody>
            <a:bodyPr wrap="square">
              <a:noAutofit/>
            </a:bodyPr>
            <a:lstStyle/>
            <a:p>
              <a:pPr lvl="0" algn="l">
                <a:lnSpc>
                  <a:spcPct val="120000"/>
                </a:lnSpc>
              </a:pPr>
              <a:r>
                <a:rPr lang="zh-CN" altLang="en-US" sz="2400" b="1" dirty="0">
                  <a:solidFill>
                    <a:schemeClr val="bg1">
                      <a:lumMod val="65000"/>
                    </a:schemeClr>
                  </a:solidFill>
                  <a:ea typeface="微软雅黑" panose="020B0503020204020204" charset="-122"/>
                  <a:sym typeface="Arial" panose="020B0604020202020204" pitchFamily="34" charset="0"/>
                </a:rPr>
                <a:t>什么是智能体</a:t>
              </a:r>
            </a:p>
          </p:txBody>
        </p:sp>
        <p:sp>
          <p:nvSpPr>
            <p:cNvPr id="5" name="圆角矩形 55">
              <a:extLst>
                <a:ext uri="{FF2B5EF4-FFF2-40B4-BE49-F238E27FC236}">
                  <a16:creationId xmlns:a16="http://schemas.microsoft.com/office/drawing/2014/main" id="{BE5D70A1-B526-1F93-E86A-F3B87144B44F}"/>
                </a:ext>
              </a:extLst>
            </p:cNvPr>
            <p:cNvSpPr/>
            <p:nvPr>
              <p:custDataLst>
                <p:tags r:id="rId3"/>
              </p:custDataLst>
            </p:nvPr>
          </p:nvSpPr>
          <p:spPr bwMode="auto">
            <a:xfrm>
              <a:off x="4582160" y="1369162"/>
              <a:ext cx="685800" cy="567055"/>
            </a:xfrm>
            <a:prstGeom prst="roundRect">
              <a:avLst/>
            </a:prstGeom>
            <a:solidFill>
              <a:srgbClr val="012E57"/>
            </a:solidFill>
            <a:ln w="38100" cap="flat" cmpd="sng" algn="ctr">
              <a:noFill/>
              <a:prstDash val="solid"/>
            </a:ln>
            <a:effectLst>
              <a:outerShdw blurRad="203200" dist="88900" dir="8100000" sx="102000" sy="102000" algn="tr" rotWithShape="0">
                <a:prstClr val="black">
                  <a:alpha val="30000"/>
                </a:prstClr>
              </a:outerShdw>
            </a:effectLst>
          </p:spPr>
          <p:txBody>
            <a:bodyPr anchor="ctr"/>
            <a:lstStyle/>
            <a:p>
              <a:pPr marL="0" marR="0" lvl="0" indent="0" algn="ctr" defTabSz="914400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Impact" panose="020B0806030902050204" pitchFamily="34" charset="0"/>
                  <a:ea typeface="微软雅黑" panose="020B0503020204020204" charset="-122"/>
                  <a:cs typeface="微软雅黑" panose="020B0503020204020204" charset="-122"/>
                  <a:sym typeface="Franklin Gothic Medium" panose="020B0603020102020204" charset="0"/>
                </a:rPr>
                <a:t>1</a:t>
              </a:r>
            </a:p>
          </p:txBody>
        </p:sp>
        <p:sp>
          <p:nvSpPr>
            <p:cNvPr id="6" name="圆角矩形 56">
              <a:extLst>
                <a:ext uri="{FF2B5EF4-FFF2-40B4-BE49-F238E27FC236}">
                  <a16:creationId xmlns:a16="http://schemas.microsoft.com/office/drawing/2014/main" id="{51618D9A-D8F1-2FAA-DB32-1290DB79B4FB}"/>
                </a:ext>
              </a:extLst>
            </p:cNvPr>
            <p:cNvSpPr/>
            <p:nvPr>
              <p:custDataLst>
                <p:tags r:id="rId4"/>
              </p:custDataLst>
            </p:nvPr>
          </p:nvSpPr>
          <p:spPr bwMode="auto">
            <a:xfrm>
              <a:off x="5398134" y="2171643"/>
              <a:ext cx="3995420" cy="592455"/>
            </a:xfrm>
            <a:prstGeom prst="roundRect">
              <a:avLst/>
            </a:prstGeom>
            <a:solidFill>
              <a:sysClr val="window" lastClr="FFFFFF"/>
            </a:solidFill>
            <a:ln w="25400" cap="flat" cmpd="sng" algn="ctr">
              <a:noFill/>
              <a:prstDash val="solid"/>
            </a:ln>
            <a:effectLst/>
          </p:spPr>
          <p:txBody>
            <a:bodyPr lIns="72313" tIns="36156" rIns="72313" bIns="36156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Medium" panose="020B0603020102020204"/>
                <a:ea typeface="微软雅黑" panose="020B0503020204020204" charset="-122"/>
                <a:cs typeface="+mn-ea"/>
              </a:endParaRPr>
            </a:p>
          </p:txBody>
        </p:sp>
        <p:sp>
          <p:nvSpPr>
            <p:cNvPr id="8" name="矩形 29">
              <a:extLst>
                <a:ext uri="{FF2B5EF4-FFF2-40B4-BE49-F238E27FC236}">
                  <a16:creationId xmlns:a16="http://schemas.microsoft.com/office/drawing/2014/main" id="{023F7F82-B568-0BDA-58BA-AAC84150CCB7}"/>
                </a:ext>
              </a:extLst>
            </p:cNvPr>
            <p:cNvSpPr/>
            <p:nvPr>
              <p:custDataLst>
                <p:tags r:id="rId5"/>
              </p:custDataLst>
            </p:nvPr>
          </p:nvSpPr>
          <p:spPr>
            <a:xfrm>
              <a:off x="5398135" y="2231492"/>
              <a:ext cx="3813175" cy="497205"/>
            </a:xfrm>
            <a:prstGeom prst="rect">
              <a:avLst/>
            </a:prstGeom>
            <a:effectLst/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zh-CN" sz="2400" b="1" dirty="0">
                  <a:solidFill>
                    <a:schemeClr val="bg1">
                      <a:lumMod val="65000"/>
                    </a:schemeClr>
                  </a:solidFill>
                  <a:ea typeface="微软雅黑" panose="020B0503020204020204" charset="-122"/>
                  <a:sym typeface="Arial" panose="020B0604020202020204" pitchFamily="34" charset="0"/>
                </a:rPr>
                <a:t>LLM</a:t>
              </a:r>
              <a:r>
                <a:rPr lang="zh-CN" altLang="en-US" sz="2400" b="1" dirty="0">
                  <a:solidFill>
                    <a:schemeClr val="bg1">
                      <a:lumMod val="65000"/>
                    </a:schemeClr>
                  </a:solidFill>
                  <a:ea typeface="微软雅黑" panose="020B0503020204020204" charset="-122"/>
                  <a:sym typeface="Arial" panose="020B0604020202020204" pitchFamily="34" charset="0"/>
                </a:rPr>
                <a:t> </a:t>
              </a:r>
              <a:r>
                <a:rPr lang="en-US" altLang="zh-CN" sz="2400" b="1" dirty="0">
                  <a:solidFill>
                    <a:schemeClr val="bg1">
                      <a:lumMod val="65000"/>
                    </a:schemeClr>
                  </a:solidFill>
                  <a:ea typeface="微软雅黑" panose="020B0503020204020204" charset="-122"/>
                  <a:sym typeface="Arial" panose="020B0604020202020204" pitchFamily="34" charset="0"/>
                </a:rPr>
                <a:t>Agent</a:t>
              </a:r>
              <a:r>
                <a:rPr lang="zh-CN" altLang="en-US" sz="2400" b="1" dirty="0">
                  <a:solidFill>
                    <a:schemeClr val="bg1">
                      <a:lumMod val="65000"/>
                    </a:schemeClr>
                  </a:solidFill>
                  <a:ea typeface="微软雅黑" panose="020B0503020204020204" charset="-122"/>
                  <a:sym typeface="Arial" panose="020B0604020202020204" pitchFamily="34" charset="0"/>
                </a:rPr>
                <a:t>的核心架构</a:t>
              </a:r>
              <a:endParaRPr lang="en-US" altLang="zh-CN" sz="2400" b="1" dirty="0">
                <a:solidFill>
                  <a:schemeClr val="bg1">
                    <a:lumMod val="65000"/>
                  </a:schemeClr>
                </a:solidFill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9" name="圆角矩形 74">
              <a:extLst>
                <a:ext uri="{FF2B5EF4-FFF2-40B4-BE49-F238E27FC236}">
                  <a16:creationId xmlns:a16="http://schemas.microsoft.com/office/drawing/2014/main" id="{B22317F9-6F9B-F786-C25A-CDA20C6A6875}"/>
                </a:ext>
              </a:extLst>
            </p:cNvPr>
            <p:cNvSpPr/>
            <p:nvPr>
              <p:custDataLst>
                <p:tags r:id="rId6"/>
              </p:custDataLst>
            </p:nvPr>
          </p:nvSpPr>
          <p:spPr bwMode="auto">
            <a:xfrm>
              <a:off x="4582160" y="2216252"/>
              <a:ext cx="685800" cy="565150"/>
            </a:xfrm>
            <a:prstGeom prst="roundRect">
              <a:avLst/>
            </a:prstGeom>
            <a:solidFill>
              <a:srgbClr val="012E57">
                <a:alpha val="65000"/>
              </a:srgbClr>
            </a:solidFill>
            <a:ln w="38100" cap="flat" cmpd="sng" algn="ctr">
              <a:noFill/>
              <a:prstDash val="solid"/>
            </a:ln>
            <a:effectLst>
              <a:outerShdw blurRad="203200" dist="88900" dir="8100000" sx="102000" sy="102000" algn="tr" rotWithShape="0">
                <a:prstClr val="black">
                  <a:alpha val="30000"/>
                </a:prstClr>
              </a:outerShdw>
            </a:effectLst>
          </p:spPr>
          <p:txBody>
            <a:bodyPr anchor="ctr"/>
            <a:lstStyle/>
            <a:p>
              <a:pPr marL="0" marR="0" lvl="0" indent="0" algn="ctr" defTabSz="914400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Impact" panose="020B0806030902050204" pitchFamily="34" charset="0"/>
                  <a:ea typeface="微软雅黑" panose="020B0503020204020204" charset="-122"/>
                  <a:cs typeface="微软雅黑" panose="020B0503020204020204" charset="-122"/>
                  <a:sym typeface="Franklin Gothic Medium" panose="020B0603020102020204" charset="0"/>
                </a:rPr>
                <a:t>2</a:t>
              </a:r>
            </a:p>
          </p:txBody>
        </p:sp>
        <p:sp>
          <p:nvSpPr>
            <p:cNvPr id="30" name="圆角矩形 56">
              <a:extLst>
                <a:ext uri="{FF2B5EF4-FFF2-40B4-BE49-F238E27FC236}">
                  <a16:creationId xmlns:a16="http://schemas.microsoft.com/office/drawing/2014/main" id="{EADAAD4E-6BB9-8D1B-D3A1-8D260FC4C38E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 bwMode="auto">
            <a:xfrm>
              <a:off x="5398134" y="3016034"/>
              <a:ext cx="3995420" cy="592455"/>
            </a:xfrm>
            <a:prstGeom prst="roundRect">
              <a:avLst/>
            </a:prstGeom>
            <a:solidFill>
              <a:sysClr val="window" lastClr="FFFFFF"/>
            </a:solidFill>
            <a:ln w="25400" cap="flat" cmpd="sng" algn="ctr">
              <a:noFill/>
              <a:prstDash val="solid"/>
            </a:ln>
            <a:effectLst/>
          </p:spPr>
          <p:txBody>
            <a:bodyPr lIns="72313" tIns="36156" rIns="72313" bIns="36156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Medium" panose="020B0603020102020204"/>
                <a:ea typeface="微软雅黑" panose="020B0503020204020204" charset="-122"/>
                <a:cs typeface="+mn-ea"/>
              </a:endParaRPr>
            </a:p>
          </p:txBody>
        </p:sp>
        <p:sp>
          <p:nvSpPr>
            <p:cNvPr id="31" name="矩形 29">
              <a:extLst>
                <a:ext uri="{FF2B5EF4-FFF2-40B4-BE49-F238E27FC236}">
                  <a16:creationId xmlns:a16="http://schemas.microsoft.com/office/drawing/2014/main" id="{65A421E0-0279-46B6-D087-87B3265D385A}"/>
                </a:ext>
              </a:extLst>
            </p:cNvPr>
            <p:cNvSpPr/>
            <p:nvPr>
              <p:custDataLst>
                <p:tags r:id="rId8"/>
              </p:custDataLst>
            </p:nvPr>
          </p:nvSpPr>
          <p:spPr>
            <a:xfrm>
              <a:off x="5398135" y="3077312"/>
              <a:ext cx="4097655" cy="497205"/>
            </a:xfrm>
            <a:prstGeom prst="rect">
              <a:avLst/>
            </a:prstGeom>
            <a:effectLst/>
          </p:spPr>
          <p:txBody>
            <a:bodyPr wrap="square">
              <a:spAutoFit/>
            </a:bodyPr>
            <a:lstStyle/>
            <a:p>
              <a:pPr lvl="0" algn="l">
                <a:lnSpc>
                  <a:spcPct val="120000"/>
                </a:lnSpc>
              </a:pPr>
              <a:r>
                <a:rPr lang="zh-CN" altLang="en-US" sz="2400" b="1" dirty="0">
                  <a:ea typeface="微软雅黑" panose="020B0503020204020204" charset="-122"/>
                  <a:sym typeface="Arial" panose="020B0604020202020204" pitchFamily="34" charset="0"/>
                </a:rPr>
                <a:t>代表性研究工作</a:t>
              </a:r>
            </a:p>
          </p:txBody>
        </p:sp>
        <p:sp>
          <p:nvSpPr>
            <p:cNvPr id="32" name="圆角矩形 74">
              <a:extLst>
                <a:ext uri="{FF2B5EF4-FFF2-40B4-BE49-F238E27FC236}">
                  <a16:creationId xmlns:a16="http://schemas.microsoft.com/office/drawing/2014/main" id="{A5D4CAC6-25F9-8124-F533-80B5DEF3E2D3}"/>
                </a:ext>
              </a:extLst>
            </p:cNvPr>
            <p:cNvSpPr/>
            <p:nvPr>
              <p:custDataLst>
                <p:tags r:id="rId9"/>
              </p:custDataLst>
            </p:nvPr>
          </p:nvSpPr>
          <p:spPr bwMode="auto">
            <a:xfrm>
              <a:off x="4582160" y="3061437"/>
              <a:ext cx="685800" cy="565150"/>
            </a:xfrm>
            <a:prstGeom prst="roundRect">
              <a:avLst/>
            </a:prstGeom>
            <a:solidFill>
              <a:srgbClr val="012E57">
                <a:alpha val="65000"/>
              </a:srgbClr>
            </a:solidFill>
            <a:ln w="38100" cap="flat" cmpd="sng" algn="ctr">
              <a:noFill/>
              <a:prstDash val="solid"/>
            </a:ln>
            <a:effectLst>
              <a:outerShdw blurRad="203200" dist="88900" dir="8100000" sx="102000" sy="102000" algn="tr" rotWithShape="0">
                <a:prstClr val="black">
                  <a:alpha val="30000"/>
                </a:prstClr>
              </a:outerShdw>
            </a:effectLst>
          </p:spPr>
          <p:txBody>
            <a:bodyPr anchor="ctr"/>
            <a:lstStyle/>
            <a:p>
              <a:pPr marL="0" marR="0" lvl="0" indent="0" algn="ctr" defTabSz="914400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Impact" panose="020B0806030902050204" pitchFamily="34" charset="0"/>
                  <a:ea typeface="微软雅黑" panose="020B0503020204020204" charset="-122"/>
                  <a:cs typeface="微软雅黑" panose="020B0503020204020204" charset="-122"/>
                  <a:sym typeface="Franklin Gothic Medium" panose="020B0603020102020204" charset="0"/>
                </a:rPr>
                <a:t>3</a:t>
              </a:r>
            </a:p>
          </p:txBody>
        </p:sp>
        <p:sp>
          <p:nvSpPr>
            <p:cNvPr id="34" name="圆角矩形 56">
              <a:extLst>
                <a:ext uri="{FF2B5EF4-FFF2-40B4-BE49-F238E27FC236}">
                  <a16:creationId xmlns:a16="http://schemas.microsoft.com/office/drawing/2014/main" id="{00E88A63-BA10-0F2F-6E04-56ADB7F69830}"/>
                </a:ext>
              </a:extLst>
            </p:cNvPr>
            <p:cNvSpPr/>
            <p:nvPr>
              <p:custDataLst>
                <p:tags r:id="rId10"/>
              </p:custDataLst>
            </p:nvPr>
          </p:nvSpPr>
          <p:spPr bwMode="auto">
            <a:xfrm>
              <a:off x="5398134" y="3860425"/>
              <a:ext cx="3995420" cy="591820"/>
            </a:xfrm>
            <a:prstGeom prst="roundRect">
              <a:avLst/>
            </a:prstGeom>
            <a:solidFill>
              <a:sysClr val="window" lastClr="FFFFFF"/>
            </a:solidFill>
            <a:ln w="25400" cap="flat" cmpd="sng" algn="ctr">
              <a:noFill/>
              <a:prstDash val="solid"/>
            </a:ln>
            <a:effectLst/>
          </p:spPr>
          <p:txBody>
            <a:bodyPr lIns="72313" tIns="36156" rIns="72313" bIns="36156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Medium" panose="020B0603020102020204"/>
                <a:ea typeface="微软雅黑" panose="020B0503020204020204" charset="-122"/>
                <a:cs typeface="+mn-ea"/>
              </a:endParaRPr>
            </a:p>
          </p:txBody>
        </p:sp>
        <p:sp>
          <p:nvSpPr>
            <p:cNvPr id="35" name="矩形 29">
              <a:extLst>
                <a:ext uri="{FF2B5EF4-FFF2-40B4-BE49-F238E27FC236}">
                  <a16:creationId xmlns:a16="http://schemas.microsoft.com/office/drawing/2014/main" id="{722898C0-57F8-BE5C-DF76-E5AD375B96ED}"/>
                </a:ext>
              </a:extLst>
            </p:cNvPr>
            <p:cNvSpPr/>
            <p:nvPr>
              <p:custDataLst>
                <p:tags r:id="rId11"/>
              </p:custDataLst>
            </p:nvPr>
          </p:nvSpPr>
          <p:spPr>
            <a:xfrm>
              <a:off x="5398135" y="3923132"/>
              <a:ext cx="3166745" cy="497205"/>
            </a:xfrm>
            <a:prstGeom prst="rect">
              <a:avLst/>
            </a:prstGeom>
            <a:effectLst/>
          </p:spPr>
          <p:txBody>
            <a:bodyPr wrap="square">
              <a:spAutoFit/>
            </a:bodyPr>
            <a:lstStyle/>
            <a:p>
              <a:pPr lvl="0" algn="l">
                <a:lnSpc>
                  <a:spcPct val="120000"/>
                </a:lnSpc>
              </a:pPr>
              <a:r>
                <a:rPr lang="zh-CN" altLang="en-US" sz="2400" b="1" dirty="0">
                  <a:solidFill>
                    <a:schemeClr val="bg1">
                      <a:lumMod val="65000"/>
                    </a:schemeClr>
                  </a:solidFill>
                  <a:ea typeface="微软雅黑" panose="020B0503020204020204" charset="-122"/>
                  <a:cs typeface="微软雅黑" panose="020B0503020204020204" charset="-122"/>
                  <a:sym typeface="Arial" panose="020B0604020202020204" pitchFamily="34" charset="0"/>
                </a:rPr>
                <a:t>智能体的应用</a:t>
              </a:r>
            </a:p>
          </p:txBody>
        </p:sp>
        <p:sp>
          <p:nvSpPr>
            <p:cNvPr id="36" name="圆角矩形 74">
              <a:extLst>
                <a:ext uri="{FF2B5EF4-FFF2-40B4-BE49-F238E27FC236}">
                  <a16:creationId xmlns:a16="http://schemas.microsoft.com/office/drawing/2014/main" id="{3540313F-6AF4-C4D2-7762-A6C179EC1B93}"/>
                </a:ext>
              </a:extLst>
            </p:cNvPr>
            <p:cNvSpPr/>
            <p:nvPr>
              <p:custDataLst>
                <p:tags r:id="rId12"/>
              </p:custDataLst>
            </p:nvPr>
          </p:nvSpPr>
          <p:spPr bwMode="auto">
            <a:xfrm>
              <a:off x="4582160" y="3906622"/>
              <a:ext cx="685800" cy="565150"/>
            </a:xfrm>
            <a:prstGeom prst="roundRect">
              <a:avLst/>
            </a:prstGeom>
            <a:solidFill>
              <a:srgbClr val="012E57">
                <a:alpha val="65000"/>
              </a:srgbClr>
            </a:solidFill>
            <a:ln w="38100" cap="flat" cmpd="sng" algn="ctr">
              <a:noFill/>
              <a:prstDash val="solid"/>
            </a:ln>
            <a:effectLst>
              <a:outerShdw blurRad="203200" dist="88900" dir="8100000" sx="102000" sy="102000" algn="tr" rotWithShape="0">
                <a:prstClr val="black">
                  <a:alpha val="30000"/>
                </a:prstClr>
              </a:outerShdw>
            </a:effectLst>
          </p:spPr>
          <p:txBody>
            <a:bodyPr anchor="ctr"/>
            <a:lstStyle/>
            <a:p>
              <a:pPr marL="0" marR="0" lvl="0" indent="0" algn="ctr" defTabSz="914400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Impact" panose="020B0806030902050204" pitchFamily="34" charset="0"/>
                  <a:ea typeface="微软雅黑" panose="020B0503020204020204" charset="-122"/>
                  <a:cs typeface="微软雅黑" panose="020B0503020204020204" charset="-122"/>
                  <a:sym typeface="Franklin Gothic Medium" panose="020B0603020102020204" charset="0"/>
                </a:rPr>
                <a:t>4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07713244"/>
      </p:ext>
    </p:extLst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582B2C23-66DA-CA8F-93B1-946043F812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49">
            <a:extLst>
              <a:ext uri="{FF2B5EF4-FFF2-40B4-BE49-F238E27FC236}">
                <a16:creationId xmlns:a16="http://schemas.microsoft.com/office/drawing/2014/main" id="{7A2F335D-EB74-A4E3-296B-1C207376798A}"/>
              </a:ext>
            </a:extLst>
          </p:cNvPr>
          <p:cNvGrpSpPr/>
          <p:nvPr/>
        </p:nvGrpSpPr>
        <p:grpSpPr bwMode="auto">
          <a:xfrm>
            <a:off x="2077085" y="2609215"/>
            <a:ext cx="1616075" cy="1639570"/>
            <a:chOff x="3861535" y="2819400"/>
            <a:chExt cx="1218704" cy="1218704"/>
          </a:xfrm>
        </p:grpSpPr>
        <p:grpSp>
          <p:nvGrpSpPr>
            <p:cNvPr id="15" name="组合 50">
              <a:extLst>
                <a:ext uri="{FF2B5EF4-FFF2-40B4-BE49-F238E27FC236}">
                  <a16:creationId xmlns:a16="http://schemas.microsoft.com/office/drawing/2014/main" id="{783C01AA-EC1B-74D2-F8A0-AFA6C6279B9C}"/>
                </a:ext>
              </a:extLst>
            </p:cNvPr>
            <p:cNvGrpSpPr/>
            <p:nvPr/>
          </p:nvGrpSpPr>
          <p:grpSpPr>
            <a:xfrm>
              <a:off x="3861535" y="2819400"/>
              <a:ext cx="1218704" cy="1218704"/>
              <a:chOff x="-27110" y="673100"/>
              <a:chExt cx="4000500" cy="4000500"/>
            </a:xfrm>
            <a:effectLst>
              <a:outerShdw blurRad="444500" dist="254000" dir="8100000" algn="tr" rotWithShape="0">
                <a:prstClr val="black">
                  <a:alpha val="50000"/>
                </a:prstClr>
              </a:outerShdw>
            </a:effectLst>
          </p:grpSpPr>
          <p:sp>
            <p:nvSpPr>
              <p:cNvPr id="16" name="同心圆 45">
                <a:extLst>
                  <a:ext uri="{FF2B5EF4-FFF2-40B4-BE49-F238E27FC236}">
                    <a16:creationId xmlns:a16="http://schemas.microsoft.com/office/drawing/2014/main" id="{3977E932-BAB8-0391-8655-FF0DAF9A11BB}"/>
                  </a:ext>
                </a:extLst>
              </p:cNvPr>
              <p:cNvSpPr/>
              <p:nvPr/>
            </p:nvSpPr>
            <p:spPr>
              <a:xfrm>
                <a:off x="-27110" y="673100"/>
                <a:ext cx="4000500" cy="4000500"/>
              </a:xfrm>
              <a:prstGeom prst="donut">
                <a:avLst>
                  <a:gd name="adj" fmla="val 4879"/>
                </a:avLst>
              </a:prstGeom>
              <a:gradFill>
                <a:gsLst>
                  <a:gs pos="0">
                    <a:sysClr val="window" lastClr="FFFFFF"/>
                  </a:gs>
                  <a:gs pos="55000">
                    <a:sysClr val="window" lastClr="FFFFFF">
                      <a:lumMod val="95000"/>
                    </a:sysClr>
                  </a:gs>
                  <a:gs pos="100000">
                    <a:sysClr val="window" lastClr="FFFFFF">
                      <a:lumMod val="65000"/>
                    </a:sysClr>
                  </a:gs>
                </a:gsLst>
                <a:lin ang="8100000" scaled="0"/>
              </a:gradFill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0" lang="zh-CN" altLang="en-US" sz="2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Franklin Gothic Medium" panose="020B0603020102020204"/>
                  <a:ea typeface="微软雅黑" panose="020B0503020204020204" charset="-122"/>
                  <a:cs typeface="微软雅黑" panose="020B0503020204020204" charset="-122"/>
                  <a:sym typeface="Franklin Gothic Medium" panose="020B0603020102020204" charset="0"/>
                </a:endParaRPr>
              </a:p>
            </p:txBody>
          </p:sp>
          <p:sp>
            <p:nvSpPr>
              <p:cNvPr id="17" name="椭圆 53">
                <a:extLst>
                  <a:ext uri="{FF2B5EF4-FFF2-40B4-BE49-F238E27FC236}">
                    <a16:creationId xmlns:a16="http://schemas.microsoft.com/office/drawing/2014/main" id="{6CD03F4C-7D8F-1475-1783-74E22B2781B0}"/>
                  </a:ext>
                </a:extLst>
              </p:cNvPr>
              <p:cNvSpPr/>
              <p:nvPr/>
            </p:nvSpPr>
            <p:spPr>
              <a:xfrm>
                <a:off x="60202" y="760412"/>
                <a:ext cx="3825874" cy="3825874"/>
              </a:xfrm>
              <a:prstGeom prst="ellipse">
                <a:avLst/>
              </a:prstGeom>
              <a:gradFill>
                <a:gsLst>
                  <a:gs pos="0">
                    <a:sysClr val="window" lastClr="FFFFFF"/>
                  </a:gs>
                  <a:gs pos="51000">
                    <a:sysClr val="window" lastClr="FFFFFF">
                      <a:lumMod val="95000"/>
                    </a:sysClr>
                  </a:gs>
                  <a:gs pos="100000">
                    <a:sysClr val="window" lastClr="FFFFFF">
                      <a:lumMod val="75000"/>
                    </a:sysClr>
                  </a:gs>
                </a:gsLst>
                <a:lin ang="18900000" scaled="0"/>
              </a:gradFill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0" lang="zh-CN" altLang="en-US" sz="2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Franklin Gothic Medium" panose="020B0603020102020204"/>
                  <a:ea typeface="微软雅黑" panose="020B0503020204020204" charset="-122"/>
                  <a:cs typeface="微软雅黑" panose="020B0503020204020204" charset="-122"/>
                  <a:sym typeface="Franklin Gothic Medium" panose="020B0603020102020204" charset="0"/>
                </a:endParaRPr>
              </a:p>
            </p:txBody>
          </p:sp>
        </p:grpSp>
        <p:sp>
          <p:nvSpPr>
            <p:cNvPr id="18" name="TextBox 5">
              <a:extLst>
                <a:ext uri="{FF2B5EF4-FFF2-40B4-BE49-F238E27FC236}">
                  <a16:creationId xmlns:a16="http://schemas.microsoft.com/office/drawing/2014/main" id="{C9605119-8435-C3E2-537F-0EF727099924}"/>
                </a:ext>
              </a:extLst>
            </p:cNvPr>
            <p:cNvSpPr txBox="1"/>
            <p:nvPr/>
          </p:nvSpPr>
          <p:spPr>
            <a:xfrm>
              <a:off x="3905470" y="3211868"/>
              <a:ext cx="1130834" cy="43376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en-US" sz="3200" b="1" i="0" u="none" strike="noStrike" kern="1200" cap="none" spc="225" normalizeH="0" baseline="0" noProof="0" dirty="0">
                  <a:ln>
                    <a:noFill/>
                  </a:ln>
                  <a:solidFill>
                    <a:srgbClr val="012E57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Franklin Gothic Medium" panose="020B0603020102020204" charset="0"/>
                </a:rPr>
                <a:t>目</a:t>
              </a:r>
              <a:r>
                <a:rPr kumimoji="0" lang="en-US" altLang="zh-CN" sz="3200" b="1" i="0" u="none" strike="noStrike" kern="1200" cap="none" spc="225" normalizeH="0" baseline="0" noProof="0" dirty="0">
                  <a:ln>
                    <a:noFill/>
                  </a:ln>
                  <a:solidFill>
                    <a:srgbClr val="012E57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Franklin Gothic Medium" panose="020B0603020102020204" charset="0"/>
                </a:rPr>
                <a:t> </a:t>
              </a:r>
              <a:r>
                <a:rPr kumimoji="0" lang="zh-CN" altLang="en-US" sz="3200" b="1" i="0" u="none" strike="noStrike" kern="1200" cap="none" spc="225" normalizeH="0" baseline="0" noProof="0" dirty="0">
                  <a:ln>
                    <a:noFill/>
                  </a:ln>
                  <a:solidFill>
                    <a:srgbClr val="012E57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Franklin Gothic Medium" panose="020B0603020102020204" charset="0"/>
                </a:rPr>
                <a:t>录</a:t>
              </a:r>
            </a:p>
          </p:txBody>
        </p:sp>
      </p:grpSp>
      <p:grpSp>
        <p:nvGrpSpPr>
          <p:cNvPr id="3" name="组合 2">
            <a:extLst>
              <a:ext uri="{FF2B5EF4-FFF2-40B4-BE49-F238E27FC236}">
                <a16:creationId xmlns:a16="http://schemas.microsoft.com/office/drawing/2014/main" id="{C4EA5574-4585-23B5-32BE-EC032F25FACC}"/>
              </a:ext>
            </a:extLst>
          </p:cNvPr>
          <p:cNvGrpSpPr/>
          <p:nvPr/>
        </p:nvGrpSpPr>
        <p:grpSpPr>
          <a:xfrm>
            <a:off x="4582160" y="1770736"/>
            <a:ext cx="4913630" cy="3167380"/>
            <a:chOff x="4582160" y="1304392"/>
            <a:chExt cx="4913630" cy="3167380"/>
          </a:xfrm>
        </p:grpSpPr>
        <p:sp>
          <p:nvSpPr>
            <p:cNvPr id="2" name="圆角矩形 50">
              <a:extLst>
                <a:ext uri="{FF2B5EF4-FFF2-40B4-BE49-F238E27FC236}">
                  <a16:creationId xmlns:a16="http://schemas.microsoft.com/office/drawing/2014/main" id="{64A18A8D-928A-FC34-6A13-33DCB171F18B}"/>
                </a:ext>
              </a:extLst>
            </p:cNvPr>
            <p:cNvSpPr/>
            <p:nvPr>
              <p:custDataLst>
                <p:tags r:id="rId1"/>
              </p:custDataLst>
            </p:nvPr>
          </p:nvSpPr>
          <p:spPr bwMode="auto">
            <a:xfrm>
              <a:off x="5398135" y="1304392"/>
              <a:ext cx="3995420" cy="591820"/>
            </a:xfrm>
            <a:prstGeom prst="roundRect">
              <a:avLst/>
            </a:prstGeom>
            <a:solidFill>
              <a:sysClr val="window" lastClr="FFFFFF"/>
            </a:solidFill>
            <a:ln w="25400" cap="flat" cmpd="sng" algn="ctr">
              <a:noFill/>
              <a:prstDash val="solid"/>
            </a:ln>
            <a:effectLst/>
          </p:spPr>
          <p:txBody>
            <a:bodyPr lIns="72313" tIns="36156" rIns="72313" bIns="36156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Medium" panose="020B0603020102020204"/>
                <a:ea typeface="微软雅黑" panose="020B0503020204020204" charset="-122"/>
                <a:cs typeface="+mn-ea"/>
              </a:endParaRPr>
            </a:p>
          </p:txBody>
        </p:sp>
        <p:sp>
          <p:nvSpPr>
            <p:cNvPr id="4" name="矩形 22">
              <a:extLst>
                <a:ext uri="{FF2B5EF4-FFF2-40B4-BE49-F238E27FC236}">
                  <a16:creationId xmlns:a16="http://schemas.microsoft.com/office/drawing/2014/main" id="{0B3D5316-DED5-F365-39A0-EA9EE33E0EAA}"/>
                </a:ext>
              </a:extLst>
            </p:cNvPr>
            <p:cNvSpPr/>
            <p:nvPr>
              <p:custDataLst>
                <p:tags r:id="rId2"/>
              </p:custDataLst>
            </p:nvPr>
          </p:nvSpPr>
          <p:spPr>
            <a:xfrm>
              <a:off x="5398134" y="1385672"/>
              <a:ext cx="3813175" cy="534035"/>
            </a:xfrm>
            <a:prstGeom prst="rect">
              <a:avLst/>
            </a:prstGeom>
            <a:effectLst/>
          </p:spPr>
          <p:txBody>
            <a:bodyPr wrap="square">
              <a:noAutofit/>
            </a:bodyPr>
            <a:lstStyle/>
            <a:p>
              <a:pPr lvl="0" algn="l">
                <a:lnSpc>
                  <a:spcPct val="120000"/>
                </a:lnSpc>
              </a:pPr>
              <a:r>
                <a:rPr lang="zh-CN" altLang="en-US" sz="2400" b="1" dirty="0">
                  <a:solidFill>
                    <a:schemeClr val="bg1">
                      <a:lumMod val="65000"/>
                    </a:schemeClr>
                  </a:solidFill>
                  <a:ea typeface="微软雅黑" panose="020B0503020204020204" charset="-122"/>
                  <a:sym typeface="Arial" panose="020B0604020202020204" pitchFamily="34" charset="0"/>
                </a:rPr>
                <a:t>什么是智能体</a:t>
              </a:r>
            </a:p>
          </p:txBody>
        </p:sp>
        <p:sp>
          <p:nvSpPr>
            <p:cNvPr id="5" name="圆角矩形 55">
              <a:extLst>
                <a:ext uri="{FF2B5EF4-FFF2-40B4-BE49-F238E27FC236}">
                  <a16:creationId xmlns:a16="http://schemas.microsoft.com/office/drawing/2014/main" id="{46E90A37-4979-5287-F616-30E99FA4FF91}"/>
                </a:ext>
              </a:extLst>
            </p:cNvPr>
            <p:cNvSpPr/>
            <p:nvPr>
              <p:custDataLst>
                <p:tags r:id="rId3"/>
              </p:custDataLst>
            </p:nvPr>
          </p:nvSpPr>
          <p:spPr bwMode="auto">
            <a:xfrm>
              <a:off x="4582160" y="1369162"/>
              <a:ext cx="685800" cy="567055"/>
            </a:xfrm>
            <a:prstGeom prst="roundRect">
              <a:avLst/>
            </a:prstGeom>
            <a:solidFill>
              <a:srgbClr val="012E57"/>
            </a:solidFill>
            <a:ln w="38100" cap="flat" cmpd="sng" algn="ctr">
              <a:noFill/>
              <a:prstDash val="solid"/>
            </a:ln>
            <a:effectLst>
              <a:outerShdw blurRad="203200" dist="88900" dir="8100000" sx="102000" sy="102000" algn="tr" rotWithShape="0">
                <a:prstClr val="black">
                  <a:alpha val="30000"/>
                </a:prstClr>
              </a:outerShdw>
            </a:effectLst>
          </p:spPr>
          <p:txBody>
            <a:bodyPr anchor="ctr"/>
            <a:lstStyle/>
            <a:p>
              <a:pPr marL="0" marR="0" lvl="0" indent="0" algn="ctr" defTabSz="914400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Impact" panose="020B0806030902050204" pitchFamily="34" charset="0"/>
                  <a:ea typeface="微软雅黑" panose="020B0503020204020204" charset="-122"/>
                  <a:cs typeface="微软雅黑" panose="020B0503020204020204" charset="-122"/>
                  <a:sym typeface="Franklin Gothic Medium" panose="020B0603020102020204" charset="0"/>
                </a:rPr>
                <a:t>1</a:t>
              </a:r>
            </a:p>
          </p:txBody>
        </p:sp>
        <p:sp>
          <p:nvSpPr>
            <p:cNvPr id="6" name="圆角矩形 56">
              <a:extLst>
                <a:ext uri="{FF2B5EF4-FFF2-40B4-BE49-F238E27FC236}">
                  <a16:creationId xmlns:a16="http://schemas.microsoft.com/office/drawing/2014/main" id="{3E290FF2-796F-76A5-AD93-EC6D08EA0870}"/>
                </a:ext>
              </a:extLst>
            </p:cNvPr>
            <p:cNvSpPr/>
            <p:nvPr>
              <p:custDataLst>
                <p:tags r:id="rId4"/>
              </p:custDataLst>
            </p:nvPr>
          </p:nvSpPr>
          <p:spPr bwMode="auto">
            <a:xfrm>
              <a:off x="5398134" y="2171643"/>
              <a:ext cx="3995420" cy="592455"/>
            </a:xfrm>
            <a:prstGeom prst="roundRect">
              <a:avLst/>
            </a:prstGeom>
            <a:solidFill>
              <a:sysClr val="window" lastClr="FFFFFF"/>
            </a:solidFill>
            <a:ln w="25400" cap="flat" cmpd="sng" algn="ctr">
              <a:noFill/>
              <a:prstDash val="solid"/>
            </a:ln>
            <a:effectLst/>
          </p:spPr>
          <p:txBody>
            <a:bodyPr lIns="72313" tIns="36156" rIns="72313" bIns="36156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Medium" panose="020B0603020102020204"/>
                <a:ea typeface="微软雅黑" panose="020B0503020204020204" charset="-122"/>
                <a:cs typeface="+mn-ea"/>
              </a:endParaRPr>
            </a:p>
          </p:txBody>
        </p:sp>
        <p:sp>
          <p:nvSpPr>
            <p:cNvPr id="8" name="矩形 29">
              <a:extLst>
                <a:ext uri="{FF2B5EF4-FFF2-40B4-BE49-F238E27FC236}">
                  <a16:creationId xmlns:a16="http://schemas.microsoft.com/office/drawing/2014/main" id="{16C9CE06-2CCA-79CD-C4F3-403B1BEFABB4}"/>
                </a:ext>
              </a:extLst>
            </p:cNvPr>
            <p:cNvSpPr/>
            <p:nvPr>
              <p:custDataLst>
                <p:tags r:id="rId5"/>
              </p:custDataLst>
            </p:nvPr>
          </p:nvSpPr>
          <p:spPr>
            <a:xfrm>
              <a:off x="5398135" y="2231492"/>
              <a:ext cx="3813175" cy="497205"/>
            </a:xfrm>
            <a:prstGeom prst="rect">
              <a:avLst/>
            </a:prstGeom>
            <a:effectLst/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zh-CN" sz="2400" b="1" dirty="0">
                  <a:solidFill>
                    <a:schemeClr val="bg1">
                      <a:lumMod val="65000"/>
                    </a:schemeClr>
                  </a:solidFill>
                  <a:ea typeface="微软雅黑" panose="020B0503020204020204" charset="-122"/>
                  <a:sym typeface="Arial" panose="020B0604020202020204" pitchFamily="34" charset="0"/>
                </a:rPr>
                <a:t>LLM</a:t>
              </a:r>
              <a:r>
                <a:rPr lang="zh-CN" altLang="en-US" sz="2400" b="1" dirty="0">
                  <a:solidFill>
                    <a:schemeClr val="bg1">
                      <a:lumMod val="65000"/>
                    </a:schemeClr>
                  </a:solidFill>
                  <a:ea typeface="微软雅黑" panose="020B0503020204020204" charset="-122"/>
                  <a:sym typeface="Arial" panose="020B0604020202020204" pitchFamily="34" charset="0"/>
                </a:rPr>
                <a:t> </a:t>
              </a:r>
              <a:r>
                <a:rPr lang="en-US" altLang="zh-CN" sz="2400" b="1" dirty="0">
                  <a:solidFill>
                    <a:schemeClr val="bg1">
                      <a:lumMod val="65000"/>
                    </a:schemeClr>
                  </a:solidFill>
                  <a:ea typeface="微软雅黑" panose="020B0503020204020204" charset="-122"/>
                  <a:sym typeface="Arial" panose="020B0604020202020204" pitchFamily="34" charset="0"/>
                </a:rPr>
                <a:t>Agent</a:t>
              </a:r>
              <a:r>
                <a:rPr lang="zh-CN" altLang="en-US" sz="2400" b="1" dirty="0">
                  <a:solidFill>
                    <a:schemeClr val="bg1">
                      <a:lumMod val="65000"/>
                    </a:schemeClr>
                  </a:solidFill>
                  <a:ea typeface="微软雅黑" panose="020B0503020204020204" charset="-122"/>
                  <a:sym typeface="Arial" panose="020B0604020202020204" pitchFamily="34" charset="0"/>
                </a:rPr>
                <a:t>的核心架构</a:t>
              </a:r>
              <a:endParaRPr lang="en-US" altLang="zh-CN" sz="2400" b="1" dirty="0">
                <a:solidFill>
                  <a:schemeClr val="bg1">
                    <a:lumMod val="65000"/>
                  </a:schemeClr>
                </a:solidFill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9" name="圆角矩形 74">
              <a:extLst>
                <a:ext uri="{FF2B5EF4-FFF2-40B4-BE49-F238E27FC236}">
                  <a16:creationId xmlns:a16="http://schemas.microsoft.com/office/drawing/2014/main" id="{58F48F19-BE87-A93E-F4FA-9A246B39A512}"/>
                </a:ext>
              </a:extLst>
            </p:cNvPr>
            <p:cNvSpPr/>
            <p:nvPr>
              <p:custDataLst>
                <p:tags r:id="rId6"/>
              </p:custDataLst>
            </p:nvPr>
          </p:nvSpPr>
          <p:spPr bwMode="auto">
            <a:xfrm>
              <a:off x="4582160" y="2216252"/>
              <a:ext cx="685800" cy="565150"/>
            </a:xfrm>
            <a:prstGeom prst="roundRect">
              <a:avLst/>
            </a:prstGeom>
            <a:solidFill>
              <a:srgbClr val="012E57">
                <a:alpha val="65000"/>
              </a:srgbClr>
            </a:solidFill>
            <a:ln w="38100" cap="flat" cmpd="sng" algn="ctr">
              <a:noFill/>
              <a:prstDash val="solid"/>
            </a:ln>
            <a:effectLst>
              <a:outerShdw blurRad="203200" dist="88900" dir="8100000" sx="102000" sy="102000" algn="tr" rotWithShape="0">
                <a:prstClr val="black">
                  <a:alpha val="30000"/>
                </a:prstClr>
              </a:outerShdw>
            </a:effectLst>
          </p:spPr>
          <p:txBody>
            <a:bodyPr anchor="ctr"/>
            <a:lstStyle/>
            <a:p>
              <a:pPr marL="0" marR="0" lvl="0" indent="0" algn="ctr" defTabSz="914400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Impact" panose="020B0806030902050204" pitchFamily="34" charset="0"/>
                  <a:ea typeface="微软雅黑" panose="020B0503020204020204" charset="-122"/>
                  <a:cs typeface="微软雅黑" panose="020B0503020204020204" charset="-122"/>
                  <a:sym typeface="Franklin Gothic Medium" panose="020B0603020102020204" charset="0"/>
                </a:rPr>
                <a:t>2</a:t>
              </a:r>
            </a:p>
          </p:txBody>
        </p:sp>
        <p:sp>
          <p:nvSpPr>
            <p:cNvPr id="30" name="圆角矩形 56">
              <a:extLst>
                <a:ext uri="{FF2B5EF4-FFF2-40B4-BE49-F238E27FC236}">
                  <a16:creationId xmlns:a16="http://schemas.microsoft.com/office/drawing/2014/main" id="{500A8F4A-94A2-3054-1391-31D28A92E9F4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 bwMode="auto">
            <a:xfrm>
              <a:off x="5398134" y="3016034"/>
              <a:ext cx="3995420" cy="592455"/>
            </a:xfrm>
            <a:prstGeom prst="roundRect">
              <a:avLst/>
            </a:prstGeom>
            <a:solidFill>
              <a:sysClr val="window" lastClr="FFFFFF"/>
            </a:solidFill>
            <a:ln w="25400" cap="flat" cmpd="sng" algn="ctr">
              <a:noFill/>
              <a:prstDash val="solid"/>
            </a:ln>
            <a:effectLst/>
          </p:spPr>
          <p:txBody>
            <a:bodyPr lIns="72313" tIns="36156" rIns="72313" bIns="36156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Medium" panose="020B0603020102020204"/>
                <a:ea typeface="微软雅黑" panose="020B0503020204020204" charset="-122"/>
                <a:cs typeface="+mn-ea"/>
              </a:endParaRPr>
            </a:p>
          </p:txBody>
        </p:sp>
        <p:sp>
          <p:nvSpPr>
            <p:cNvPr id="31" name="矩形 29">
              <a:extLst>
                <a:ext uri="{FF2B5EF4-FFF2-40B4-BE49-F238E27FC236}">
                  <a16:creationId xmlns:a16="http://schemas.microsoft.com/office/drawing/2014/main" id="{9B3605A6-8FD4-B7A9-588D-321E78AE74E2}"/>
                </a:ext>
              </a:extLst>
            </p:cNvPr>
            <p:cNvSpPr/>
            <p:nvPr>
              <p:custDataLst>
                <p:tags r:id="rId8"/>
              </p:custDataLst>
            </p:nvPr>
          </p:nvSpPr>
          <p:spPr>
            <a:xfrm>
              <a:off x="5398135" y="3077312"/>
              <a:ext cx="4097655" cy="497205"/>
            </a:xfrm>
            <a:prstGeom prst="rect">
              <a:avLst/>
            </a:prstGeom>
            <a:effectLst/>
          </p:spPr>
          <p:txBody>
            <a:bodyPr wrap="square">
              <a:spAutoFit/>
            </a:bodyPr>
            <a:lstStyle/>
            <a:p>
              <a:pPr lvl="0" algn="l">
                <a:lnSpc>
                  <a:spcPct val="120000"/>
                </a:lnSpc>
              </a:pPr>
              <a:r>
                <a:rPr lang="zh-CN" altLang="en-US" sz="2400" b="1" dirty="0">
                  <a:solidFill>
                    <a:schemeClr val="bg1">
                      <a:lumMod val="65000"/>
                    </a:schemeClr>
                  </a:solidFill>
                  <a:ea typeface="微软雅黑" panose="020B0503020204020204" charset="-122"/>
                  <a:sym typeface="Arial" panose="020B0604020202020204" pitchFamily="34" charset="0"/>
                </a:rPr>
                <a:t>代表性研究工作</a:t>
              </a:r>
            </a:p>
          </p:txBody>
        </p:sp>
        <p:sp>
          <p:nvSpPr>
            <p:cNvPr id="32" name="圆角矩形 74">
              <a:extLst>
                <a:ext uri="{FF2B5EF4-FFF2-40B4-BE49-F238E27FC236}">
                  <a16:creationId xmlns:a16="http://schemas.microsoft.com/office/drawing/2014/main" id="{B460F4FF-FE81-2B87-3A8A-223ECDB174AC}"/>
                </a:ext>
              </a:extLst>
            </p:cNvPr>
            <p:cNvSpPr/>
            <p:nvPr>
              <p:custDataLst>
                <p:tags r:id="rId9"/>
              </p:custDataLst>
            </p:nvPr>
          </p:nvSpPr>
          <p:spPr bwMode="auto">
            <a:xfrm>
              <a:off x="4582160" y="3061437"/>
              <a:ext cx="685800" cy="565150"/>
            </a:xfrm>
            <a:prstGeom prst="roundRect">
              <a:avLst/>
            </a:prstGeom>
            <a:solidFill>
              <a:srgbClr val="012E57">
                <a:alpha val="65000"/>
              </a:srgbClr>
            </a:solidFill>
            <a:ln w="38100" cap="flat" cmpd="sng" algn="ctr">
              <a:noFill/>
              <a:prstDash val="solid"/>
            </a:ln>
            <a:effectLst>
              <a:outerShdw blurRad="203200" dist="88900" dir="8100000" sx="102000" sy="102000" algn="tr" rotWithShape="0">
                <a:prstClr val="black">
                  <a:alpha val="30000"/>
                </a:prstClr>
              </a:outerShdw>
            </a:effectLst>
          </p:spPr>
          <p:txBody>
            <a:bodyPr anchor="ctr"/>
            <a:lstStyle/>
            <a:p>
              <a:pPr marL="0" marR="0" lvl="0" indent="0" algn="ctr" defTabSz="914400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Impact" panose="020B0806030902050204" pitchFamily="34" charset="0"/>
                  <a:ea typeface="微软雅黑" panose="020B0503020204020204" charset="-122"/>
                  <a:cs typeface="微软雅黑" panose="020B0503020204020204" charset="-122"/>
                  <a:sym typeface="Franklin Gothic Medium" panose="020B0603020102020204" charset="0"/>
                </a:rPr>
                <a:t>3</a:t>
              </a:r>
            </a:p>
          </p:txBody>
        </p:sp>
        <p:sp>
          <p:nvSpPr>
            <p:cNvPr id="34" name="圆角矩形 56">
              <a:extLst>
                <a:ext uri="{FF2B5EF4-FFF2-40B4-BE49-F238E27FC236}">
                  <a16:creationId xmlns:a16="http://schemas.microsoft.com/office/drawing/2014/main" id="{FBF7CF14-189F-881B-92E3-E6B8C8FD04CC}"/>
                </a:ext>
              </a:extLst>
            </p:cNvPr>
            <p:cNvSpPr/>
            <p:nvPr>
              <p:custDataLst>
                <p:tags r:id="rId10"/>
              </p:custDataLst>
            </p:nvPr>
          </p:nvSpPr>
          <p:spPr bwMode="auto">
            <a:xfrm>
              <a:off x="5398134" y="3860425"/>
              <a:ext cx="3995420" cy="591820"/>
            </a:xfrm>
            <a:prstGeom prst="roundRect">
              <a:avLst/>
            </a:prstGeom>
            <a:solidFill>
              <a:sysClr val="window" lastClr="FFFFFF"/>
            </a:solidFill>
            <a:ln w="25400" cap="flat" cmpd="sng" algn="ctr">
              <a:noFill/>
              <a:prstDash val="solid"/>
            </a:ln>
            <a:effectLst/>
          </p:spPr>
          <p:txBody>
            <a:bodyPr lIns="72313" tIns="36156" rIns="72313" bIns="36156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Medium" panose="020B0603020102020204"/>
                <a:ea typeface="微软雅黑" panose="020B0503020204020204" charset="-122"/>
                <a:cs typeface="+mn-ea"/>
              </a:endParaRPr>
            </a:p>
          </p:txBody>
        </p:sp>
        <p:sp>
          <p:nvSpPr>
            <p:cNvPr id="35" name="矩形 29">
              <a:extLst>
                <a:ext uri="{FF2B5EF4-FFF2-40B4-BE49-F238E27FC236}">
                  <a16:creationId xmlns:a16="http://schemas.microsoft.com/office/drawing/2014/main" id="{1A668EEA-944C-7554-ED6B-20638D9FE78C}"/>
                </a:ext>
              </a:extLst>
            </p:cNvPr>
            <p:cNvSpPr/>
            <p:nvPr>
              <p:custDataLst>
                <p:tags r:id="rId11"/>
              </p:custDataLst>
            </p:nvPr>
          </p:nvSpPr>
          <p:spPr>
            <a:xfrm>
              <a:off x="5398135" y="3923132"/>
              <a:ext cx="3166745" cy="497205"/>
            </a:xfrm>
            <a:prstGeom prst="rect">
              <a:avLst/>
            </a:prstGeom>
            <a:effectLst/>
          </p:spPr>
          <p:txBody>
            <a:bodyPr wrap="square">
              <a:spAutoFit/>
            </a:bodyPr>
            <a:lstStyle/>
            <a:p>
              <a:pPr lvl="0" algn="l">
                <a:lnSpc>
                  <a:spcPct val="120000"/>
                </a:lnSpc>
              </a:pPr>
              <a:r>
                <a:rPr lang="zh-CN" altLang="en-US" sz="2400" b="1" dirty="0">
                  <a:ea typeface="微软雅黑" panose="020B0503020204020204" charset="-122"/>
                  <a:sym typeface="Arial" panose="020B0604020202020204" pitchFamily="34" charset="0"/>
                </a:rPr>
                <a:t>智能体的应用</a:t>
              </a:r>
            </a:p>
          </p:txBody>
        </p:sp>
        <p:sp>
          <p:nvSpPr>
            <p:cNvPr id="36" name="圆角矩形 74">
              <a:extLst>
                <a:ext uri="{FF2B5EF4-FFF2-40B4-BE49-F238E27FC236}">
                  <a16:creationId xmlns:a16="http://schemas.microsoft.com/office/drawing/2014/main" id="{0114AFB9-02B7-A922-81D9-A0CBE849F8E6}"/>
                </a:ext>
              </a:extLst>
            </p:cNvPr>
            <p:cNvSpPr/>
            <p:nvPr>
              <p:custDataLst>
                <p:tags r:id="rId12"/>
              </p:custDataLst>
            </p:nvPr>
          </p:nvSpPr>
          <p:spPr bwMode="auto">
            <a:xfrm>
              <a:off x="4582160" y="3906622"/>
              <a:ext cx="685800" cy="565150"/>
            </a:xfrm>
            <a:prstGeom prst="roundRect">
              <a:avLst/>
            </a:prstGeom>
            <a:solidFill>
              <a:srgbClr val="012E57">
                <a:alpha val="65000"/>
              </a:srgbClr>
            </a:solidFill>
            <a:ln w="38100" cap="flat" cmpd="sng" algn="ctr">
              <a:noFill/>
              <a:prstDash val="solid"/>
            </a:ln>
            <a:effectLst>
              <a:outerShdw blurRad="203200" dist="88900" dir="8100000" sx="102000" sy="102000" algn="tr" rotWithShape="0">
                <a:prstClr val="black">
                  <a:alpha val="30000"/>
                </a:prstClr>
              </a:outerShdw>
            </a:effectLst>
          </p:spPr>
          <p:txBody>
            <a:bodyPr anchor="ctr"/>
            <a:lstStyle/>
            <a:p>
              <a:pPr marL="0" marR="0" lvl="0" indent="0" algn="ctr" defTabSz="914400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Impact" panose="020B0806030902050204" pitchFamily="34" charset="0"/>
                  <a:ea typeface="微软雅黑" panose="020B0503020204020204" charset="-122"/>
                  <a:cs typeface="微软雅黑" panose="020B0503020204020204" charset="-122"/>
                  <a:sym typeface="Franklin Gothic Medium" panose="020B0603020102020204" charset="0"/>
                </a:rPr>
                <a:t>4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237452805"/>
      </p:ext>
    </p:extLst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615F6D-E3FF-68EB-1618-738FD4A906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D2ADD486-EECE-0F3A-1B33-AEC234A42317}"/>
              </a:ext>
            </a:extLst>
          </p:cNvPr>
          <p:cNvSpPr/>
          <p:nvPr/>
        </p:nvSpPr>
        <p:spPr>
          <a:xfrm>
            <a:off x="234082" y="391176"/>
            <a:ext cx="496852" cy="496851"/>
          </a:xfrm>
          <a:prstGeom prst="rect">
            <a:avLst/>
          </a:prstGeom>
          <a:solidFill>
            <a:srgbClr val="2E5696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05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F7C9EB9-B8AF-3B66-0EA7-9C1A240017C3}"/>
              </a:ext>
            </a:extLst>
          </p:cNvPr>
          <p:cNvSpPr/>
          <p:nvPr/>
        </p:nvSpPr>
        <p:spPr>
          <a:xfrm>
            <a:off x="478878" y="657581"/>
            <a:ext cx="331236" cy="331236"/>
          </a:xfrm>
          <a:prstGeom prst="rect">
            <a:avLst/>
          </a:prstGeom>
          <a:solidFill>
            <a:srgbClr val="2E5696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05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8" name="TextBox 28">
            <a:extLst>
              <a:ext uri="{FF2B5EF4-FFF2-40B4-BE49-F238E27FC236}">
                <a16:creationId xmlns:a16="http://schemas.microsoft.com/office/drawing/2014/main" id="{5FE2F6D3-0B88-0E97-1790-2C5ED9B63ADC}"/>
              </a:ext>
            </a:extLst>
          </p:cNvPr>
          <p:cNvSpPr txBox="1"/>
          <p:nvPr/>
        </p:nvSpPr>
        <p:spPr>
          <a:xfrm>
            <a:off x="830709" y="336598"/>
            <a:ext cx="9806592" cy="660538"/>
          </a:xfrm>
          <a:prstGeom prst="rect">
            <a:avLst/>
          </a:prstGeom>
          <a:noFill/>
        </p:spPr>
        <p:txBody>
          <a:bodyPr wrap="square" lIns="105509" tIns="52755" rIns="105509" bIns="52755" rtlCol="0">
            <a:spAutoFit/>
          </a:bodyPr>
          <a:lstStyle/>
          <a:p>
            <a:pPr lvl="0">
              <a:defRPr/>
            </a:pPr>
            <a:r>
              <a:rPr lang="zh-CN" altLang="en-US" sz="3600" b="1" spc="300" dirty="0">
                <a:solidFill>
                  <a:srgbClr val="2E5696"/>
                </a:solidFill>
                <a:latin typeface="微软雅黑" panose="020B0503020204020204" charset="-122"/>
                <a:ea typeface="微软雅黑" panose="020B0503020204020204" charset="-122"/>
              </a:rPr>
              <a:t>大语言模型智能体的应用领域</a:t>
            </a:r>
          </a:p>
        </p:txBody>
      </p:sp>
      <p:cxnSp>
        <p:nvCxnSpPr>
          <p:cNvPr id="122" name="直接连接符 46">
            <a:extLst>
              <a:ext uri="{FF2B5EF4-FFF2-40B4-BE49-F238E27FC236}">
                <a16:creationId xmlns:a16="http://schemas.microsoft.com/office/drawing/2014/main" id="{A57F85D3-904B-388B-5503-D2979CE2DA17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810340" y="988715"/>
            <a:ext cx="11135003" cy="0"/>
          </a:xfrm>
          <a:prstGeom prst="line">
            <a:avLst/>
          </a:prstGeom>
          <a:noFill/>
          <a:ln w="9525" cmpd="sng">
            <a:solidFill>
              <a:srgbClr val="4D4948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0" name="object 4">
            <a:extLst>
              <a:ext uri="{FF2B5EF4-FFF2-40B4-BE49-F238E27FC236}">
                <a16:creationId xmlns:a16="http://schemas.microsoft.com/office/drawing/2014/main" id="{7F572165-32C0-F851-AF7B-8F633565536A}"/>
              </a:ext>
            </a:extLst>
          </p:cNvPr>
          <p:cNvSpPr txBox="1"/>
          <p:nvPr/>
        </p:nvSpPr>
        <p:spPr>
          <a:xfrm>
            <a:off x="660298" y="1109133"/>
            <a:ext cx="1090676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354965" algn="l"/>
              </a:tabLst>
            </a:pPr>
            <a:r>
              <a:rPr sz="2400" dirty="0">
                <a:latin typeface="Microsoft YaHei"/>
                <a:cs typeface="Microsoft YaHei"/>
              </a:rPr>
              <a:t>ChemCrow</a:t>
            </a:r>
            <a:r>
              <a:rPr sz="2400" spc="-30" dirty="0">
                <a:latin typeface="Microsoft YaHei"/>
                <a:cs typeface="Microsoft YaHei"/>
              </a:rPr>
              <a:t> 智能体专门用于应对有机合成、药物发现和材料设计等领域任务。</a:t>
            </a:r>
            <a:endParaRPr sz="2400" dirty="0">
              <a:latin typeface="Microsoft YaHei"/>
              <a:cs typeface="Microsoft YaHei"/>
            </a:endParaRPr>
          </a:p>
        </p:txBody>
      </p:sp>
      <p:pic>
        <p:nvPicPr>
          <p:cNvPr id="22" name="object 5">
            <a:extLst>
              <a:ext uri="{FF2B5EF4-FFF2-40B4-BE49-F238E27FC236}">
                <a16:creationId xmlns:a16="http://schemas.microsoft.com/office/drawing/2014/main" id="{DF08DAA3-679A-481E-060A-63C0EBE3C30B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771226" y="1572861"/>
            <a:ext cx="5984683" cy="4338068"/>
          </a:xfrm>
          <a:prstGeom prst="rect">
            <a:avLst/>
          </a:prstGeom>
        </p:spPr>
      </p:pic>
      <p:sp>
        <p:nvSpPr>
          <p:cNvPr id="24" name="object 6">
            <a:extLst>
              <a:ext uri="{FF2B5EF4-FFF2-40B4-BE49-F238E27FC236}">
                <a16:creationId xmlns:a16="http://schemas.microsoft.com/office/drawing/2014/main" id="{F1AEF5F5-94A0-43A5-90F2-6D6DBC262722}"/>
              </a:ext>
            </a:extLst>
          </p:cNvPr>
          <p:cNvSpPr txBox="1"/>
          <p:nvPr/>
        </p:nvSpPr>
        <p:spPr>
          <a:xfrm>
            <a:off x="1566799" y="5889311"/>
            <a:ext cx="9853930" cy="7150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135"/>
              </a:lnSpc>
              <a:spcBef>
                <a:spcPts val="100"/>
              </a:spcBef>
            </a:pPr>
            <a:r>
              <a:rPr sz="1800" dirty="0">
                <a:solidFill>
                  <a:srgbClr val="212121"/>
                </a:solidFill>
                <a:latin typeface="Arial"/>
                <a:cs typeface="Arial"/>
              </a:rPr>
              <a:t>Bran,</a:t>
            </a:r>
            <a:r>
              <a:rPr sz="1800" spc="-120" dirty="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212121"/>
                </a:solidFill>
                <a:latin typeface="Arial"/>
                <a:cs typeface="Arial"/>
              </a:rPr>
              <a:t>A.</a:t>
            </a:r>
            <a:r>
              <a:rPr sz="1800" spc="-10" dirty="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212121"/>
                </a:solidFill>
                <a:latin typeface="Arial"/>
                <a:cs typeface="Arial"/>
              </a:rPr>
              <a:t>M.,</a:t>
            </a:r>
            <a:r>
              <a:rPr sz="1800" spc="-5" dirty="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212121"/>
                </a:solidFill>
                <a:latin typeface="Arial"/>
                <a:cs typeface="Arial"/>
              </a:rPr>
              <a:t>Cox,</a:t>
            </a:r>
            <a:r>
              <a:rPr sz="1800" spc="-10" dirty="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212121"/>
                </a:solidFill>
                <a:latin typeface="Arial"/>
                <a:cs typeface="Arial"/>
              </a:rPr>
              <a:t>S.,</a:t>
            </a:r>
            <a:r>
              <a:rPr sz="1800" spc="-15" dirty="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212121"/>
                </a:solidFill>
                <a:latin typeface="Arial"/>
                <a:cs typeface="Arial"/>
              </a:rPr>
              <a:t>Schilter,</a:t>
            </a:r>
            <a:r>
              <a:rPr sz="1800" spc="-15" dirty="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212121"/>
                </a:solidFill>
                <a:latin typeface="Arial"/>
                <a:cs typeface="Arial"/>
              </a:rPr>
              <a:t>O.,</a:t>
            </a:r>
            <a:r>
              <a:rPr sz="1800" spc="-5" dirty="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212121"/>
                </a:solidFill>
                <a:latin typeface="Arial"/>
                <a:cs typeface="Arial"/>
              </a:rPr>
              <a:t>Baldassari,</a:t>
            </a:r>
            <a:r>
              <a:rPr sz="1800" spc="-10" dirty="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212121"/>
                </a:solidFill>
                <a:latin typeface="Arial"/>
                <a:cs typeface="Arial"/>
              </a:rPr>
              <a:t>C.,</a:t>
            </a:r>
            <a:r>
              <a:rPr sz="1800" spc="-5" dirty="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212121"/>
                </a:solidFill>
                <a:latin typeface="Arial"/>
                <a:cs typeface="Arial"/>
              </a:rPr>
              <a:t>White,</a:t>
            </a:r>
            <a:r>
              <a:rPr sz="1800" spc="-114" dirty="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212121"/>
                </a:solidFill>
                <a:latin typeface="Arial"/>
                <a:cs typeface="Arial"/>
              </a:rPr>
              <a:t>A.</a:t>
            </a:r>
            <a:r>
              <a:rPr sz="1800" spc="-25" dirty="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212121"/>
                </a:solidFill>
                <a:latin typeface="Arial"/>
                <a:cs typeface="Arial"/>
              </a:rPr>
              <a:t>D.,</a:t>
            </a:r>
            <a:r>
              <a:rPr sz="1800" spc="-5" dirty="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212121"/>
                </a:solidFill>
                <a:latin typeface="Arial"/>
                <a:cs typeface="Arial"/>
              </a:rPr>
              <a:t>&amp;</a:t>
            </a:r>
            <a:r>
              <a:rPr sz="1800" spc="-10" dirty="0">
                <a:solidFill>
                  <a:srgbClr val="212121"/>
                </a:solidFill>
                <a:latin typeface="Arial"/>
                <a:cs typeface="Arial"/>
              </a:rPr>
              <a:t> Schwaller,</a:t>
            </a:r>
            <a:r>
              <a:rPr sz="1800" spc="-5" dirty="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sz="1800" spc="-120" dirty="0">
                <a:solidFill>
                  <a:srgbClr val="212121"/>
                </a:solidFill>
                <a:latin typeface="Arial"/>
                <a:cs typeface="Arial"/>
              </a:rPr>
              <a:t>P.</a:t>
            </a:r>
            <a:r>
              <a:rPr sz="1800" spc="-10" dirty="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212121"/>
                </a:solidFill>
                <a:latin typeface="Arial"/>
                <a:cs typeface="Arial"/>
              </a:rPr>
              <a:t>(2023).</a:t>
            </a:r>
            <a:r>
              <a:rPr sz="1800" spc="-10" dirty="0">
                <a:solidFill>
                  <a:srgbClr val="212121"/>
                </a:solidFill>
                <a:latin typeface="Arial"/>
                <a:cs typeface="Arial"/>
              </a:rPr>
              <a:t> ChemCrow: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ts val="1995"/>
              </a:lnSpc>
            </a:pPr>
            <a:r>
              <a:rPr sz="1800" dirty="0">
                <a:solidFill>
                  <a:srgbClr val="212121"/>
                </a:solidFill>
                <a:latin typeface="Arial"/>
                <a:cs typeface="Arial"/>
              </a:rPr>
              <a:t>Augmenting</a:t>
            </a:r>
            <a:r>
              <a:rPr sz="1800" spc="-45" dirty="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212121"/>
                </a:solidFill>
                <a:latin typeface="Arial"/>
                <a:cs typeface="Arial"/>
              </a:rPr>
              <a:t>large-</a:t>
            </a:r>
            <a:r>
              <a:rPr sz="1800" dirty="0">
                <a:solidFill>
                  <a:srgbClr val="212121"/>
                </a:solidFill>
                <a:latin typeface="Arial"/>
                <a:cs typeface="Arial"/>
              </a:rPr>
              <a:t>language</a:t>
            </a:r>
            <a:r>
              <a:rPr sz="1800" spc="-15" dirty="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212121"/>
                </a:solidFill>
                <a:latin typeface="Arial"/>
                <a:cs typeface="Arial"/>
              </a:rPr>
              <a:t>models</a:t>
            </a:r>
            <a:r>
              <a:rPr sz="1800" spc="-40" dirty="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212121"/>
                </a:solidFill>
                <a:latin typeface="Arial"/>
                <a:cs typeface="Arial"/>
              </a:rPr>
              <a:t>with</a:t>
            </a:r>
            <a:r>
              <a:rPr sz="1800" spc="-10" dirty="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212121"/>
                </a:solidFill>
                <a:latin typeface="Arial"/>
                <a:cs typeface="Arial"/>
              </a:rPr>
              <a:t>chemistry</a:t>
            </a:r>
            <a:r>
              <a:rPr sz="1800" spc="-40" dirty="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212121"/>
                </a:solidFill>
                <a:latin typeface="Arial"/>
                <a:cs typeface="Arial"/>
              </a:rPr>
              <a:t>tools.</a:t>
            </a:r>
            <a:r>
              <a:rPr sz="1800" spc="-40" dirty="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sz="1800" i="1" dirty="0">
                <a:solidFill>
                  <a:srgbClr val="212121"/>
                </a:solidFill>
                <a:latin typeface="Arial"/>
                <a:cs typeface="Arial"/>
              </a:rPr>
              <a:t>arXiv</a:t>
            </a:r>
            <a:r>
              <a:rPr sz="1800" i="1" spc="-45" dirty="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sz="1800" i="1" dirty="0">
                <a:solidFill>
                  <a:srgbClr val="212121"/>
                </a:solidFill>
                <a:latin typeface="Arial"/>
                <a:cs typeface="Arial"/>
              </a:rPr>
              <a:t>preprint</a:t>
            </a:r>
            <a:r>
              <a:rPr sz="1800" i="1" spc="-30" dirty="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sz="1800" i="1" spc="-10" dirty="0">
                <a:solidFill>
                  <a:srgbClr val="212121"/>
                </a:solidFill>
                <a:latin typeface="Arial"/>
                <a:cs typeface="Arial"/>
              </a:rPr>
              <a:t>arXiv:2304.05376</a:t>
            </a:r>
            <a:r>
              <a:rPr sz="1800" spc="-10" dirty="0">
                <a:solidFill>
                  <a:srgbClr val="212121"/>
                </a:solidFill>
                <a:latin typeface="Arial"/>
                <a:cs typeface="Arial"/>
              </a:rPr>
              <a:t>.</a:t>
            </a:r>
            <a:endParaRPr sz="1800">
              <a:latin typeface="Arial"/>
              <a:cs typeface="Arial"/>
            </a:endParaRPr>
          </a:p>
          <a:p>
            <a:pPr marR="150495" algn="r">
              <a:lnSpc>
                <a:spcPts val="1295"/>
              </a:lnSpc>
            </a:pPr>
            <a:r>
              <a:rPr sz="1200" spc="-25" dirty="0">
                <a:solidFill>
                  <a:srgbClr val="888888"/>
                </a:solidFill>
                <a:latin typeface="Calibri"/>
                <a:cs typeface="Calibri"/>
              </a:rPr>
              <a:t>33</a:t>
            </a:r>
            <a:endParaRPr sz="120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663774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423661-567C-F735-CE84-64B7C52F18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21D021DD-0EF4-2E29-A8DB-E89534D98D6A}"/>
              </a:ext>
            </a:extLst>
          </p:cNvPr>
          <p:cNvSpPr/>
          <p:nvPr/>
        </p:nvSpPr>
        <p:spPr>
          <a:xfrm>
            <a:off x="234082" y="391176"/>
            <a:ext cx="496852" cy="496851"/>
          </a:xfrm>
          <a:prstGeom prst="rect">
            <a:avLst/>
          </a:prstGeom>
          <a:solidFill>
            <a:srgbClr val="2E5696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05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4A42039-5210-931C-AD47-8FE827576325}"/>
              </a:ext>
            </a:extLst>
          </p:cNvPr>
          <p:cNvSpPr/>
          <p:nvPr/>
        </p:nvSpPr>
        <p:spPr>
          <a:xfrm>
            <a:off x="478878" y="657581"/>
            <a:ext cx="331236" cy="331236"/>
          </a:xfrm>
          <a:prstGeom prst="rect">
            <a:avLst/>
          </a:prstGeom>
          <a:solidFill>
            <a:srgbClr val="2E5696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05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8" name="TextBox 28">
            <a:extLst>
              <a:ext uri="{FF2B5EF4-FFF2-40B4-BE49-F238E27FC236}">
                <a16:creationId xmlns:a16="http://schemas.microsoft.com/office/drawing/2014/main" id="{A903C3A6-0BEF-06D8-C9FE-8ECCB96E3BA4}"/>
              </a:ext>
            </a:extLst>
          </p:cNvPr>
          <p:cNvSpPr txBox="1"/>
          <p:nvPr/>
        </p:nvSpPr>
        <p:spPr>
          <a:xfrm>
            <a:off x="830709" y="336598"/>
            <a:ext cx="9806592" cy="660538"/>
          </a:xfrm>
          <a:prstGeom prst="rect">
            <a:avLst/>
          </a:prstGeom>
          <a:noFill/>
        </p:spPr>
        <p:txBody>
          <a:bodyPr wrap="square" lIns="105509" tIns="52755" rIns="105509" bIns="52755" rtlCol="0">
            <a:spAutoFit/>
          </a:bodyPr>
          <a:lstStyle/>
          <a:p>
            <a:pPr lvl="0">
              <a:defRPr/>
            </a:pPr>
            <a:r>
              <a:rPr lang="zh-CN" altLang="en-US" sz="3600" b="1" spc="300" dirty="0">
                <a:solidFill>
                  <a:srgbClr val="2E5696"/>
                </a:solidFill>
                <a:latin typeface="微软雅黑" panose="020B0503020204020204" charset="-122"/>
                <a:ea typeface="微软雅黑" panose="020B0503020204020204" charset="-122"/>
              </a:rPr>
              <a:t>大语言模型智能体的应用领域</a:t>
            </a:r>
          </a:p>
        </p:txBody>
      </p:sp>
      <p:cxnSp>
        <p:nvCxnSpPr>
          <p:cNvPr id="122" name="直接连接符 46">
            <a:extLst>
              <a:ext uri="{FF2B5EF4-FFF2-40B4-BE49-F238E27FC236}">
                <a16:creationId xmlns:a16="http://schemas.microsoft.com/office/drawing/2014/main" id="{6CAEE755-4E49-69D6-BCF5-7B5666D0997C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810340" y="988715"/>
            <a:ext cx="11135003" cy="0"/>
          </a:xfrm>
          <a:prstGeom prst="line">
            <a:avLst/>
          </a:prstGeom>
          <a:noFill/>
          <a:ln w="9525" cmpd="sng">
            <a:solidFill>
              <a:srgbClr val="4D4948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" name="object 5">
            <a:extLst>
              <a:ext uri="{FF2B5EF4-FFF2-40B4-BE49-F238E27FC236}">
                <a16:creationId xmlns:a16="http://schemas.microsoft.com/office/drawing/2014/main" id="{5E0F89D8-1DF6-29F9-EFCA-8F1F583C0BF9}"/>
              </a:ext>
            </a:extLst>
          </p:cNvPr>
          <p:cNvSpPr txBox="1"/>
          <p:nvPr/>
        </p:nvSpPr>
        <p:spPr>
          <a:xfrm>
            <a:off x="660298" y="1090845"/>
            <a:ext cx="1078801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354965" algn="l"/>
              </a:tabLst>
            </a:pPr>
            <a:r>
              <a:rPr sz="2000" spc="-20" dirty="0">
                <a:latin typeface="Microsoft YaHei"/>
                <a:cs typeface="Microsoft YaHei"/>
              </a:rPr>
              <a:t>盲审判利用多智能体模拟判决过程，其对现实世界最高法院裁决的预测准确度高于随机水平。</a:t>
            </a:r>
            <a:endParaRPr sz="2000">
              <a:latin typeface="Microsoft YaHei"/>
              <a:cs typeface="Microsoft YaHei"/>
            </a:endParaRPr>
          </a:p>
        </p:txBody>
      </p:sp>
      <p:pic>
        <p:nvPicPr>
          <p:cNvPr id="7" name="object 8">
            <a:extLst>
              <a:ext uri="{FF2B5EF4-FFF2-40B4-BE49-F238E27FC236}">
                <a16:creationId xmlns:a16="http://schemas.microsoft.com/office/drawing/2014/main" id="{7D0C5433-A6E1-D426-24CE-9213581771D4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670810" y="1986906"/>
            <a:ext cx="6686550" cy="4191000"/>
          </a:xfrm>
          <a:prstGeom prst="rect">
            <a:avLst/>
          </a:prstGeom>
        </p:spPr>
      </p:pic>
      <p:sp>
        <p:nvSpPr>
          <p:cNvPr id="10" name="object 6">
            <a:extLst>
              <a:ext uri="{FF2B5EF4-FFF2-40B4-BE49-F238E27FC236}">
                <a16:creationId xmlns:a16="http://schemas.microsoft.com/office/drawing/2014/main" id="{CA721188-AD60-ED88-3D94-E43454E5D449}"/>
              </a:ext>
            </a:extLst>
          </p:cNvPr>
          <p:cNvSpPr txBox="1"/>
          <p:nvPr/>
        </p:nvSpPr>
        <p:spPr>
          <a:xfrm>
            <a:off x="3279394" y="6212704"/>
            <a:ext cx="81991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212121"/>
                </a:solidFill>
                <a:latin typeface="Arial"/>
                <a:cs typeface="Arial"/>
              </a:rPr>
              <a:t>Hamilton,</a:t>
            </a:r>
            <a:r>
              <a:rPr sz="1800" spc="-10" dirty="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212121"/>
                </a:solidFill>
                <a:latin typeface="Arial"/>
                <a:cs typeface="Arial"/>
              </a:rPr>
              <a:t>S.</a:t>
            </a:r>
            <a:r>
              <a:rPr sz="1800" spc="-35" dirty="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212121"/>
                </a:solidFill>
                <a:latin typeface="Arial"/>
                <a:cs typeface="Arial"/>
              </a:rPr>
              <a:t>(2023).</a:t>
            </a:r>
            <a:r>
              <a:rPr sz="1800" spc="-5" dirty="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212121"/>
                </a:solidFill>
                <a:latin typeface="Arial"/>
                <a:cs typeface="Arial"/>
              </a:rPr>
              <a:t>Blind</a:t>
            </a:r>
            <a:r>
              <a:rPr sz="1800" spc="-20" dirty="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212121"/>
                </a:solidFill>
                <a:latin typeface="Arial"/>
                <a:cs typeface="Arial"/>
              </a:rPr>
              <a:t>judgement:</a:t>
            </a:r>
            <a:r>
              <a:rPr sz="1800" spc="-100" dirty="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212121"/>
                </a:solidFill>
                <a:latin typeface="Arial"/>
                <a:cs typeface="Arial"/>
              </a:rPr>
              <a:t>Agent-</a:t>
            </a:r>
            <a:r>
              <a:rPr sz="1800" dirty="0">
                <a:solidFill>
                  <a:srgbClr val="212121"/>
                </a:solidFill>
                <a:latin typeface="Arial"/>
                <a:cs typeface="Arial"/>
              </a:rPr>
              <a:t>based</a:t>
            </a:r>
            <a:r>
              <a:rPr sz="1800" spc="-5" dirty="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212121"/>
                </a:solidFill>
                <a:latin typeface="Arial"/>
                <a:cs typeface="Arial"/>
              </a:rPr>
              <a:t>supreme</a:t>
            </a:r>
            <a:r>
              <a:rPr sz="1800" spc="-20" dirty="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212121"/>
                </a:solidFill>
                <a:latin typeface="Arial"/>
                <a:cs typeface="Arial"/>
              </a:rPr>
              <a:t>court</a:t>
            </a:r>
            <a:r>
              <a:rPr sz="1800" spc="-20" dirty="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212121"/>
                </a:solidFill>
                <a:latin typeface="Arial"/>
                <a:cs typeface="Arial"/>
              </a:rPr>
              <a:t>modelling</a:t>
            </a:r>
            <a:r>
              <a:rPr sz="1800" spc="-5" dirty="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sz="1800" spc="-20" dirty="0">
                <a:solidFill>
                  <a:srgbClr val="212121"/>
                </a:solidFill>
                <a:latin typeface="Arial"/>
                <a:cs typeface="Arial"/>
              </a:rPr>
              <a:t>with</a:t>
            </a:r>
            <a:endParaRPr sz="1800">
              <a:latin typeface="Arial"/>
              <a:cs typeface="Arial"/>
            </a:endParaRPr>
          </a:p>
        </p:txBody>
      </p:sp>
      <p:sp>
        <p:nvSpPr>
          <p:cNvPr id="12" name="object 7">
            <a:extLst>
              <a:ext uri="{FF2B5EF4-FFF2-40B4-BE49-F238E27FC236}">
                <a16:creationId xmlns:a16="http://schemas.microsoft.com/office/drawing/2014/main" id="{65BD2B6C-C97D-19E9-FB75-1239004AAC57}"/>
              </a:ext>
            </a:extLst>
          </p:cNvPr>
          <p:cNvSpPr txBox="1"/>
          <p:nvPr/>
        </p:nvSpPr>
        <p:spPr>
          <a:xfrm>
            <a:off x="3279394" y="6480928"/>
            <a:ext cx="374205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212121"/>
                </a:solidFill>
                <a:latin typeface="Arial"/>
                <a:cs typeface="Arial"/>
              </a:rPr>
              <a:t>gpt.</a:t>
            </a:r>
            <a:r>
              <a:rPr sz="1800" spc="-20" dirty="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212121"/>
                </a:solidFill>
                <a:latin typeface="Arial"/>
                <a:cs typeface="Arial"/>
              </a:rPr>
              <a:t>arXiv</a:t>
            </a:r>
            <a:r>
              <a:rPr sz="1800" spc="-25" dirty="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212121"/>
                </a:solidFill>
                <a:latin typeface="Arial"/>
                <a:cs typeface="Arial"/>
              </a:rPr>
              <a:t>preprint</a:t>
            </a:r>
            <a:r>
              <a:rPr sz="1800" spc="-15" dirty="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212121"/>
                </a:solidFill>
                <a:latin typeface="Arial"/>
                <a:cs typeface="Arial"/>
              </a:rPr>
              <a:t>arXiv:2301.05327.</a:t>
            </a:r>
            <a:endParaRPr sz="18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9426893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F7EA0D-0675-BA6C-68A0-05A22F9CD8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B69F8F7-2EC3-C01D-764A-50F6B695B16E}"/>
              </a:ext>
            </a:extLst>
          </p:cNvPr>
          <p:cNvSpPr/>
          <p:nvPr/>
        </p:nvSpPr>
        <p:spPr>
          <a:xfrm>
            <a:off x="234082" y="384870"/>
            <a:ext cx="496852" cy="496851"/>
          </a:xfrm>
          <a:prstGeom prst="rect">
            <a:avLst/>
          </a:prstGeom>
          <a:solidFill>
            <a:srgbClr val="2E5696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05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5B86E5C-3324-BA01-E083-DAF0F33CAC46}"/>
              </a:ext>
            </a:extLst>
          </p:cNvPr>
          <p:cNvSpPr/>
          <p:nvPr/>
        </p:nvSpPr>
        <p:spPr>
          <a:xfrm>
            <a:off x="478878" y="651275"/>
            <a:ext cx="331236" cy="331236"/>
          </a:xfrm>
          <a:prstGeom prst="rect">
            <a:avLst/>
          </a:prstGeom>
          <a:solidFill>
            <a:srgbClr val="2E5696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05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8" name="TextBox 28">
            <a:extLst>
              <a:ext uri="{FF2B5EF4-FFF2-40B4-BE49-F238E27FC236}">
                <a16:creationId xmlns:a16="http://schemas.microsoft.com/office/drawing/2014/main" id="{0A6ED017-7EF2-9C86-B48E-FD5970EDA327}"/>
              </a:ext>
            </a:extLst>
          </p:cNvPr>
          <p:cNvSpPr txBox="1"/>
          <p:nvPr/>
        </p:nvSpPr>
        <p:spPr>
          <a:xfrm>
            <a:off x="830709" y="330292"/>
            <a:ext cx="9806592" cy="660538"/>
          </a:xfrm>
          <a:prstGeom prst="rect">
            <a:avLst/>
          </a:prstGeom>
          <a:noFill/>
        </p:spPr>
        <p:txBody>
          <a:bodyPr wrap="square" lIns="105509" tIns="52755" rIns="105509" bIns="52755" rtlCol="0">
            <a:spAutoFit/>
          </a:bodyPr>
          <a:lstStyle/>
          <a:p>
            <a:pPr lvl="0">
              <a:defRPr/>
            </a:pPr>
            <a:r>
              <a:rPr lang="zh-CN" altLang="en-US" sz="3600" b="1" spc="300" dirty="0">
                <a:solidFill>
                  <a:srgbClr val="2E5696"/>
                </a:solidFill>
                <a:latin typeface="微软雅黑" panose="020B0503020204020204" charset="-122"/>
                <a:ea typeface="微软雅黑" panose="020B0503020204020204" charset="-122"/>
              </a:rPr>
              <a:t>大语言模型智能体的应用领域</a:t>
            </a:r>
          </a:p>
        </p:txBody>
      </p:sp>
      <p:cxnSp>
        <p:nvCxnSpPr>
          <p:cNvPr id="122" name="直接连接符 46">
            <a:extLst>
              <a:ext uri="{FF2B5EF4-FFF2-40B4-BE49-F238E27FC236}">
                <a16:creationId xmlns:a16="http://schemas.microsoft.com/office/drawing/2014/main" id="{3F11B3E3-F40A-1D84-91C1-634FACC427A0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810340" y="982409"/>
            <a:ext cx="11135003" cy="0"/>
          </a:xfrm>
          <a:prstGeom prst="line">
            <a:avLst/>
          </a:prstGeom>
          <a:noFill/>
          <a:ln w="9525" cmpd="sng">
            <a:solidFill>
              <a:srgbClr val="4D4948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" name="object 5">
            <a:extLst>
              <a:ext uri="{FF2B5EF4-FFF2-40B4-BE49-F238E27FC236}">
                <a16:creationId xmlns:a16="http://schemas.microsoft.com/office/drawing/2014/main" id="{B445DE78-D0E5-319E-8C76-6A1742D47527}"/>
              </a:ext>
            </a:extLst>
          </p:cNvPr>
          <p:cNvSpPr txBox="1"/>
          <p:nvPr/>
        </p:nvSpPr>
        <p:spPr>
          <a:xfrm>
            <a:off x="660298" y="932373"/>
            <a:ext cx="11108690" cy="941069"/>
          </a:xfrm>
          <a:prstGeom prst="rect">
            <a:avLst/>
          </a:prstGeom>
        </p:spPr>
        <p:txBody>
          <a:bodyPr vert="horz" wrap="square" lIns="0" tIns="16573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305"/>
              </a:spcBef>
              <a:buFont typeface="Arial"/>
              <a:buChar char="•"/>
              <a:tabLst>
                <a:tab pos="354965" algn="l"/>
              </a:tabLst>
            </a:pPr>
            <a:r>
              <a:rPr sz="2000" spc="-10" dirty="0">
                <a:latin typeface="Microsoft YaHei"/>
                <a:cs typeface="Microsoft YaHei"/>
              </a:rPr>
              <a:t>ChatDev</a:t>
            </a:r>
            <a:r>
              <a:rPr sz="2000" spc="-15" dirty="0">
                <a:latin typeface="Microsoft YaHei"/>
                <a:cs typeface="Microsoft YaHei"/>
              </a:rPr>
              <a:t>——清华软件公司：由</a:t>
            </a:r>
            <a:r>
              <a:rPr sz="2000" spc="-20" dirty="0">
                <a:latin typeface="Microsoft YaHei"/>
                <a:cs typeface="Microsoft YaHei"/>
              </a:rPr>
              <a:t>LLM驱动的多角色智能群体协同进行需求分析、系统设计、程序</a:t>
            </a:r>
            <a:endParaRPr sz="2000" dirty="0">
              <a:latin typeface="Microsoft YaHei"/>
              <a:cs typeface="Microsoft YaHei"/>
            </a:endParaRPr>
          </a:p>
          <a:p>
            <a:pPr marL="355600">
              <a:lnSpc>
                <a:spcPct val="100000"/>
              </a:lnSpc>
              <a:spcBef>
                <a:spcPts val="1200"/>
              </a:spcBef>
            </a:pPr>
            <a:r>
              <a:rPr sz="2000" spc="-20" dirty="0">
                <a:latin typeface="Microsoft YaHei"/>
                <a:cs typeface="Microsoft YaHei"/>
              </a:rPr>
              <a:t>编码、集成测试、文档编制等阶段的自主软件开发</a:t>
            </a:r>
            <a:endParaRPr sz="2000" dirty="0">
              <a:latin typeface="Microsoft YaHei"/>
              <a:cs typeface="Microsoft YaHei"/>
            </a:endParaRPr>
          </a:p>
        </p:txBody>
      </p:sp>
      <p:pic>
        <p:nvPicPr>
          <p:cNvPr id="11" name="object 6">
            <a:extLst>
              <a:ext uri="{FF2B5EF4-FFF2-40B4-BE49-F238E27FC236}">
                <a16:creationId xmlns:a16="http://schemas.microsoft.com/office/drawing/2014/main" id="{8C68093C-0451-E3DD-FBA4-CD6F5EEDB56D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42009" y="2319601"/>
            <a:ext cx="9772650" cy="3667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67461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8714F0-EED0-8887-A9B8-C4A488B5B7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C8D318E-A9E5-8E8A-27C1-B679D8BC48A5}"/>
              </a:ext>
            </a:extLst>
          </p:cNvPr>
          <p:cNvSpPr/>
          <p:nvPr/>
        </p:nvSpPr>
        <p:spPr>
          <a:xfrm>
            <a:off x="234082" y="384870"/>
            <a:ext cx="496852" cy="496851"/>
          </a:xfrm>
          <a:prstGeom prst="rect">
            <a:avLst/>
          </a:prstGeom>
          <a:solidFill>
            <a:srgbClr val="2E5696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05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ECFF4E4-4B40-8D62-8BBD-FC9AAFC159A5}"/>
              </a:ext>
            </a:extLst>
          </p:cNvPr>
          <p:cNvSpPr/>
          <p:nvPr/>
        </p:nvSpPr>
        <p:spPr>
          <a:xfrm>
            <a:off x="478878" y="651275"/>
            <a:ext cx="331236" cy="331236"/>
          </a:xfrm>
          <a:prstGeom prst="rect">
            <a:avLst/>
          </a:prstGeom>
          <a:solidFill>
            <a:srgbClr val="2E5696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05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8" name="TextBox 28">
            <a:extLst>
              <a:ext uri="{FF2B5EF4-FFF2-40B4-BE49-F238E27FC236}">
                <a16:creationId xmlns:a16="http://schemas.microsoft.com/office/drawing/2014/main" id="{A8B5FC61-0FE8-13A4-362C-55BB3F4F4445}"/>
              </a:ext>
            </a:extLst>
          </p:cNvPr>
          <p:cNvSpPr txBox="1"/>
          <p:nvPr/>
        </p:nvSpPr>
        <p:spPr>
          <a:xfrm>
            <a:off x="830709" y="330292"/>
            <a:ext cx="9806592" cy="660538"/>
          </a:xfrm>
          <a:prstGeom prst="rect">
            <a:avLst/>
          </a:prstGeom>
          <a:noFill/>
        </p:spPr>
        <p:txBody>
          <a:bodyPr wrap="square" lIns="105509" tIns="52755" rIns="105509" bIns="52755" rtlCol="0">
            <a:spAutoFit/>
          </a:bodyPr>
          <a:lstStyle/>
          <a:p>
            <a:pPr lvl="0">
              <a:defRPr/>
            </a:pPr>
            <a:r>
              <a:rPr lang="zh-CN" altLang="en-US" sz="3600" b="1" spc="300" dirty="0">
                <a:solidFill>
                  <a:srgbClr val="2E5696"/>
                </a:solidFill>
                <a:latin typeface="微软雅黑" panose="020B0503020204020204" charset="-122"/>
                <a:ea typeface="微软雅黑" panose="020B0503020204020204" charset="-122"/>
              </a:rPr>
              <a:t>大语言模型智能体的应用领域</a:t>
            </a:r>
          </a:p>
        </p:txBody>
      </p:sp>
      <p:cxnSp>
        <p:nvCxnSpPr>
          <p:cNvPr id="122" name="直接连接符 46">
            <a:extLst>
              <a:ext uri="{FF2B5EF4-FFF2-40B4-BE49-F238E27FC236}">
                <a16:creationId xmlns:a16="http://schemas.microsoft.com/office/drawing/2014/main" id="{FDDBB91A-2B31-E397-2EBF-B6B629741299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810340" y="982409"/>
            <a:ext cx="11135003" cy="0"/>
          </a:xfrm>
          <a:prstGeom prst="line">
            <a:avLst/>
          </a:prstGeom>
          <a:noFill/>
          <a:ln w="9525" cmpd="sng">
            <a:solidFill>
              <a:srgbClr val="4D4948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4" name="object 2">
            <a:extLst>
              <a:ext uri="{FF2B5EF4-FFF2-40B4-BE49-F238E27FC236}">
                <a16:creationId xmlns:a16="http://schemas.microsoft.com/office/drawing/2014/main" id="{C0294423-32A9-40A6-C41E-5BA37F345409}"/>
              </a:ext>
            </a:extLst>
          </p:cNvPr>
          <p:cNvGrpSpPr/>
          <p:nvPr/>
        </p:nvGrpSpPr>
        <p:grpSpPr>
          <a:xfrm>
            <a:off x="736752" y="1666249"/>
            <a:ext cx="10687050" cy="4480560"/>
            <a:chOff x="736752" y="1704085"/>
            <a:chExt cx="10687050" cy="4480560"/>
          </a:xfrm>
        </p:grpSpPr>
        <p:pic>
          <p:nvPicPr>
            <p:cNvPr id="5" name="object 3">
              <a:extLst>
                <a:ext uri="{FF2B5EF4-FFF2-40B4-BE49-F238E27FC236}">
                  <a16:creationId xmlns:a16="http://schemas.microsoft.com/office/drawing/2014/main" id="{51270A5F-A891-2FDA-186C-DD83DB819E8D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95684" y="4370662"/>
              <a:ext cx="10331043" cy="1813562"/>
            </a:xfrm>
            <a:prstGeom prst="rect">
              <a:avLst/>
            </a:prstGeom>
          </p:spPr>
        </p:pic>
        <p:pic>
          <p:nvPicPr>
            <p:cNvPr id="7" name="object 4">
              <a:extLst>
                <a:ext uri="{FF2B5EF4-FFF2-40B4-BE49-F238E27FC236}">
                  <a16:creationId xmlns:a16="http://schemas.microsoft.com/office/drawing/2014/main" id="{C3677502-6668-480A-D05A-428261BBACC8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36752" y="1704085"/>
              <a:ext cx="10687050" cy="2819781"/>
            </a:xfrm>
            <a:prstGeom prst="rect">
              <a:avLst/>
            </a:prstGeom>
          </p:spPr>
        </p:pic>
      </p:grpSp>
      <p:sp>
        <p:nvSpPr>
          <p:cNvPr id="9" name="object 8">
            <a:extLst>
              <a:ext uri="{FF2B5EF4-FFF2-40B4-BE49-F238E27FC236}">
                <a16:creationId xmlns:a16="http://schemas.microsoft.com/office/drawing/2014/main" id="{B24A59BB-00B8-17C9-364D-8F58AF4A0F95}"/>
              </a:ext>
            </a:extLst>
          </p:cNvPr>
          <p:cNvSpPr txBox="1"/>
          <p:nvPr/>
        </p:nvSpPr>
        <p:spPr>
          <a:xfrm>
            <a:off x="660298" y="932373"/>
            <a:ext cx="11008995" cy="941069"/>
          </a:xfrm>
          <a:prstGeom prst="rect">
            <a:avLst/>
          </a:prstGeom>
        </p:spPr>
        <p:txBody>
          <a:bodyPr vert="horz" wrap="square" lIns="0" tIns="16573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305"/>
              </a:spcBef>
              <a:buFont typeface="Arial"/>
              <a:buChar char="•"/>
              <a:tabLst>
                <a:tab pos="354965" algn="l"/>
              </a:tabLst>
            </a:pPr>
            <a:r>
              <a:rPr sz="2000" dirty="0">
                <a:latin typeface="Microsoft YaHei"/>
                <a:cs typeface="Microsoft YaHei"/>
              </a:rPr>
              <a:t>Mehta et</a:t>
            </a:r>
            <a:r>
              <a:rPr sz="2000" spc="5" dirty="0">
                <a:latin typeface="Microsoft YaHei"/>
                <a:cs typeface="Microsoft YaHei"/>
              </a:rPr>
              <a:t> </a:t>
            </a:r>
            <a:r>
              <a:rPr sz="2000" dirty="0">
                <a:latin typeface="Microsoft YaHei"/>
                <a:cs typeface="Microsoft YaHei"/>
              </a:rPr>
              <a:t>al</a:t>
            </a:r>
            <a:r>
              <a:rPr sz="2000" spc="5" dirty="0">
                <a:latin typeface="Microsoft YaHei"/>
                <a:cs typeface="Microsoft YaHei"/>
              </a:rPr>
              <a:t>. </a:t>
            </a:r>
            <a:r>
              <a:rPr sz="2000" dirty="0">
                <a:latin typeface="Microsoft YaHei"/>
                <a:cs typeface="Microsoft YaHei"/>
              </a:rPr>
              <a:t>(2023)</a:t>
            </a:r>
            <a:r>
              <a:rPr sz="2000" spc="-20" dirty="0">
                <a:latin typeface="Microsoft YaHei"/>
                <a:cs typeface="Microsoft YaHei"/>
              </a:rPr>
              <a:t> 提出了一种互动框架，允许建筑师与 </a:t>
            </a:r>
            <a:r>
              <a:rPr sz="2000" dirty="0">
                <a:latin typeface="Microsoft YaHei"/>
                <a:cs typeface="Microsoft YaHei"/>
              </a:rPr>
              <a:t>AI</a:t>
            </a:r>
            <a:r>
              <a:rPr sz="2000" spc="-20" dirty="0">
                <a:latin typeface="Microsoft YaHei"/>
                <a:cs typeface="Microsoft YaHei"/>
              </a:rPr>
              <a:t> 智能体合作，在三维模拟环境中设</a:t>
            </a:r>
            <a:endParaRPr sz="2000" dirty="0">
              <a:latin typeface="Microsoft YaHei"/>
              <a:cs typeface="Microsoft YaHei"/>
            </a:endParaRPr>
          </a:p>
          <a:p>
            <a:pPr marL="355600">
              <a:lnSpc>
                <a:spcPct val="100000"/>
              </a:lnSpc>
              <a:spcBef>
                <a:spcPts val="1200"/>
              </a:spcBef>
            </a:pPr>
            <a:r>
              <a:rPr sz="2000" spc="-15" dirty="0">
                <a:latin typeface="Microsoft YaHei"/>
                <a:cs typeface="Microsoft YaHei"/>
              </a:rPr>
              <a:t>计建筑。</a:t>
            </a:r>
            <a:endParaRPr sz="2000" dirty="0">
              <a:latin typeface="Microsoft YaHei"/>
              <a:cs typeface="Microsoft YaHei"/>
            </a:endParaRPr>
          </a:p>
        </p:txBody>
      </p:sp>
      <p:sp>
        <p:nvSpPr>
          <p:cNvPr id="10" name="object 5">
            <a:extLst>
              <a:ext uri="{FF2B5EF4-FFF2-40B4-BE49-F238E27FC236}">
                <a16:creationId xmlns:a16="http://schemas.microsoft.com/office/drawing/2014/main" id="{563A1430-CD49-5924-E328-93D43420FC7E}"/>
              </a:ext>
            </a:extLst>
          </p:cNvPr>
          <p:cNvSpPr txBox="1"/>
          <p:nvPr/>
        </p:nvSpPr>
        <p:spPr>
          <a:xfrm>
            <a:off x="1907413" y="6199997"/>
            <a:ext cx="9803765" cy="5683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ts val="2135"/>
              </a:lnSpc>
              <a:spcBef>
                <a:spcPts val="100"/>
              </a:spcBef>
            </a:pPr>
            <a:r>
              <a:rPr sz="1800" dirty="0">
                <a:solidFill>
                  <a:srgbClr val="212121"/>
                </a:solidFill>
                <a:latin typeface="Arial"/>
                <a:cs typeface="Arial"/>
              </a:rPr>
              <a:t>Mehta,</a:t>
            </a:r>
            <a:r>
              <a:rPr sz="1800" spc="-40" dirty="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212121"/>
                </a:solidFill>
                <a:latin typeface="Arial"/>
                <a:cs typeface="Arial"/>
              </a:rPr>
              <a:t>Nikhil,</a:t>
            </a:r>
            <a:r>
              <a:rPr sz="1800" spc="-25" dirty="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212121"/>
                </a:solidFill>
                <a:latin typeface="Arial"/>
                <a:cs typeface="Arial"/>
              </a:rPr>
              <a:t>et</a:t>
            </a:r>
            <a:r>
              <a:rPr sz="1800" spc="-35" dirty="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212121"/>
                </a:solidFill>
                <a:latin typeface="Arial"/>
                <a:cs typeface="Arial"/>
              </a:rPr>
              <a:t>al.</a:t>
            </a:r>
            <a:r>
              <a:rPr sz="1800" spc="-30" dirty="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212121"/>
                </a:solidFill>
                <a:latin typeface="Arial"/>
                <a:cs typeface="Arial"/>
              </a:rPr>
              <a:t>"Improving</a:t>
            </a:r>
            <a:r>
              <a:rPr sz="1800" spc="-35" dirty="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212121"/>
                </a:solidFill>
                <a:latin typeface="Arial"/>
                <a:cs typeface="Arial"/>
              </a:rPr>
              <a:t>grounded</a:t>
            </a:r>
            <a:r>
              <a:rPr sz="1800" spc="-15" dirty="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212121"/>
                </a:solidFill>
                <a:latin typeface="Arial"/>
                <a:cs typeface="Arial"/>
              </a:rPr>
              <a:t>language</a:t>
            </a:r>
            <a:r>
              <a:rPr sz="1800" spc="-25" dirty="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212121"/>
                </a:solidFill>
                <a:latin typeface="Arial"/>
                <a:cs typeface="Arial"/>
              </a:rPr>
              <a:t>understanding</a:t>
            </a:r>
            <a:r>
              <a:rPr sz="1800" spc="-10" dirty="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212121"/>
                </a:solidFill>
                <a:latin typeface="Arial"/>
                <a:cs typeface="Arial"/>
              </a:rPr>
              <a:t>in</a:t>
            </a:r>
            <a:r>
              <a:rPr sz="1800" spc="-45" dirty="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212121"/>
                </a:solidFill>
                <a:latin typeface="Arial"/>
                <a:cs typeface="Arial"/>
              </a:rPr>
              <a:t>a</a:t>
            </a:r>
            <a:r>
              <a:rPr sz="1800" spc="-35" dirty="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212121"/>
                </a:solidFill>
                <a:latin typeface="Arial"/>
                <a:cs typeface="Arial"/>
              </a:rPr>
              <a:t>collaborative</a:t>
            </a:r>
            <a:r>
              <a:rPr sz="1800" spc="-25" dirty="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212121"/>
                </a:solidFill>
                <a:latin typeface="Arial"/>
                <a:cs typeface="Arial"/>
              </a:rPr>
              <a:t>environment</a:t>
            </a:r>
            <a:endParaRPr sz="1800">
              <a:latin typeface="Arial"/>
              <a:cs typeface="Arial"/>
            </a:endParaRPr>
          </a:p>
          <a:p>
            <a:pPr marL="38100">
              <a:lnSpc>
                <a:spcPts val="2135"/>
              </a:lnSpc>
            </a:pPr>
            <a:r>
              <a:rPr sz="1800" dirty="0">
                <a:solidFill>
                  <a:srgbClr val="212121"/>
                </a:solidFill>
                <a:latin typeface="Arial"/>
                <a:cs typeface="Arial"/>
              </a:rPr>
              <a:t>by</a:t>
            </a:r>
            <a:r>
              <a:rPr sz="1800" spc="-60" dirty="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212121"/>
                </a:solidFill>
                <a:latin typeface="Arial"/>
                <a:cs typeface="Arial"/>
              </a:rPr>
              <a:t>interacting</a:t>
            </a:r>
            <a:r>
              <a:rPr sz="1800" spc="-40" dirty="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212121"/>
                </a:solidFill>
                <a:latin typeface="Arial"/>
                <a:cs typeface="Arial"/>
              </a:rPr>
              <a:t>with</a:t>
            </a:r>
            <a:r>
              <a:rPr sz="1800" spc="-10" dirty="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212121"/>
                </a:solidFill>
                <a:latin typeface="Arial"/>
                <a:cs typeface="Arial"/>
              </a:rPr>
              <a:t>agents</a:t>
            </a:r>
            <a:r>
              <a:rPr sz="1800" spc="-45" dirty="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212121"/>
                </a:solidFill>
                <a:latin typeface="Arial"/>
                <a:cs typeface="Arial"/>
              </a:rPr>
              <a:t>through</a:t>
            </a:r>
            <a:r>
              <a:rPr sz="1800" spc="-40" dirty="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212121"/>
                </a:solidFill>
                <a:latin typeface="Arial"/>
                <a:cs typeface="Arial"/>
              </a:rPr>
              <a:t>help</a:t>
            </a:r>
            <a:r>
              <a:rPr sz="1800" spc="-45" dirty="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212121"/>
                </a:solidFill>
                <a:latin typeface="Arial"/>
                <a:cs typeface="Arial"/>
              </a:rPr>
              <a:t>feedback."</a:t>
            </a:r>
            <a:r>
              <a:rPr sz="1800" spc="-30" dirty="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212121"/>
                </a:solidFill>
                <a:latin typeface="Arial"/>
                <a:cs typeface="Arial"/>
              </a:rPr>
              <a:t>arXiv</a:t>
            </a:r>
            <a:r>
              <a:rPr sz="1800" spc="-40" dirty="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212121"/>
                </a:solidFill>
                <a:latin typeface="Arial"/>
                <a:cs typeface="Arial"/>
              </a:rPr>
              <a:t>preprint</a:t>
            </a:r>
            <a:r>
              <a:rPr sz="1800" spc="-35" dirty="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212121"/>
                </a:solidFill>
                <a:latin typeface="Arial"/>
                <a:cs typeface="Arial"/>
              </a:rPr>
              <a:t>arXiv:2304.10750</a:t>
            </a:r>
            <a:r>
              <a:rPr sz="1800" spc="-5" dirty="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212121"/>
                </a:solidFill>
                <a:latin typeface="Arial"/>
                <a:cs typeface="Arial"/>
              </a:rPr>
              <a:t>(2023)..</a:t>
            </a:r>
            <a:r>
              <a:rPr sz="1800" spc="-15" baseline="55555" dirty="0">
                <a:solidFill>
                  <a:srgbClr val="888888"/>
                </a:solidFill>
                <a:latin typeface="Calibri"/>
                <a:cs typeface="Calibri"/>
              </a:rPr>
              <a:t>36</a:t>
            </a:r>
            <a:endParaRPr sz="1800" baseline="55555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7781836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913444-BA58-D74F-85A0-B111EEF598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FE717083-62D8-6E20-3024-F0E3AA6EAA8F}"/>
              </a:ext>
            </a:extLst>
          </p:cNvPr>
          <p:cNvSpPr/>
          <p:nvPr/>
        </p:nvSpPr>
        <p:spPr>
          <a:xfrm>
            <a:off x="234082" y="403788"/>
            <a:ext cx="496852" cy="496851"/>
          </a:xfrm>
          <a:prstGeom prst="rect">
            <a:avLst/>
          </a:prstGeom>
          <a:solidFill>
            <a:srgbClr val="2E5696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05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581851A-9602-32BD-7D4F-F3816D859953}"/>
              </a:ext>
            </a:extLst>
          </p:cNvPr>
          <p:cNvSpPr/>
          <p:nvPr/>
        </p:nvSpPr>
        <p:spPr>
          <a:xfrm>
            <a:off x="478878" y="670193"/>
            <a:ext cx="331236" cy="331236"/>
          </a:xfrm>
          <a:prstGeom prst="rect">
            <a:avLst/>
          </a:prstGeom>
          <a:solidFill>
            <a:srgbClr val="2E5696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05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8" name="TextBox 28">
            <a:extLst>
              <a:ext uri="{FF2B5EF4-FFF2-40B4-BE49-F238E27FC236}">
                <a16:creationId xmlns:a16="http://schemas.microsoft.com/office/drawing/2014/main" id="{895208EB-E019-B81B-3199-7238EEC6678A}"/>
              </a:ext>
            </a:extLst>
          </p:cNvPr>
          <p:cNvSpPr txBox="1"/>
          <p:nvPr/>
        </p:nvSpPr>
        <p:spPr>
          <a:xfrm>
            <a:off x="830709" y="349210"/>
            <a:ext cx="9806592" cy="660538"/>
          </a:xfrm>
          <a:prstGeom prst="rect">
            <a:avLst/>
          </a:prstGeom>
          <a:noFill/>
        </p:spPr>
        <p:txBody>
          <a:bodyPr wrap="square" lIns="105509" tIns="52755" rIns="105509" bIns="52755" rtlCol="0">
            <a:spAutoFit/>
          </a:bodyPr>
          <a:lstStyle/>
          <a:p>
            <a:pPr lvl="0">
              <a:defRPr/>
            </a:pPr>
            <a:r>
              <a:rPr lang="zh-CN" altLang="en-US" sz="3600" b="1" spc="300" dirty="0">
                <a:solidFill>
                  <a:srgbClr val="2E5696"/>
                </a:solidFill>
                <a:latin typeface="微软雅黑" panose="020B0503020204020204" charset="-122"/>
                <a:ea typeface="微软雅黑" panose="020B0503020204020204" charset="-122"/>
              </a:rPr>
              <a:t>大语言模型智能体的应用领域</a:t>
            </a:r>
          </a:p>
        </p:txBody>
      </p:sp>
      <p:cxnSp>
        <p:nvCxnSpPr>
          <p:cNvPr id="122" name="直接连接符 46">
            <a:extLst>
              <a:ext uri="{FF2B5EF4-FFF2-40B4-BE49-F238E27FC236}">
                <a16:creationId xmlns:a16="http://schemas.microsoft.com/office/drawing/2014/main" id="{A2B59669-F3A8-6152-A263-08E7DBBCBA8F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810340" y="1001327"/>
            <a:ext cx="11135003" cy="0"/>
          </a:xfrm>
          <a:prstGeom prst="line">
            <a:avLst/>
          </a:prstGeom>
          <a:noFill/>
          <a:ln w="9525" cmpd="sng">
            <a:solidFill>
              <a:srgbClr val="4D4948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1" name="object 3">
            <a:extLst>
              <a:ext uri="{FF2B5EF4-FFF2-40B4-BE49-F238E27FC236}">
                <a16:creationId xmlns:a16="http://schemas.microsoft.com/office/drawing/2014/main" id="{10F04E61-D2F9-4430-267C-DE0146EA959A}"/>
              </a:ext>
            </a:extLst>
          </p:cNvPr>
          <p:cNvSpPr txBox="1"/>
          <p:nvPr/>
        </p:nvSpPr>
        <p:spPr>
          <a:xfrm>
            <a:off x="660298" y="1103457"/>
            <a:ext cx="11261725" cy="55130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354965" algn="l"/>
              </a:tabLst>
            </a:pPr>
            <a:r>
              <a:rPr sz="2000" spc="-10" dirty="0">
                <a:latin typeface="Microsoft YaHei"/>
                <a:cs typeface="Microsoft YaHei"/>
              </a:rPr>
              <a:t>生成式 </a:t>
            </a:r>
            <a:r>
              <a:rPr sz="2000" dirty="0">
                <a:latin typeface="Microsoft YaHei"/>
                <a:cs typeface="Microsoft YaHei"/>
              </a:rPr>
              <a:t>AI</a:t>
            </a:r>
            <a:r>
              <a:rPr sz="2000" spc="-25" dirty="0">
                <a:latin typeface="Microsoft YaHei"/>
                <a:cs typeface="Microsoft YaHei"/>
              </a:rPr>
              <a:t> 智能体 致力于在虚拟小镇环境中重现人类的日常生活，通过搭建多智能体完成此目标。</a:t>
            </a:r>
            <a:endParaRPr sz="2000" dirty="0">
              <a:latin typeface="Microsoft YaHei"/>
              <a:cs typeface="Microsoft YaHei"/>
            </a:endParaRPr>
          </a:p>
          <a:p>
            <a:pPr marL="7013575" marR="455930" lvl="1" indent="-228600">
              <a:lnSpc>
                <a:spcPts val="1300"/>
              </a:lnSpc>
              <a:spcBef>
                <a:spcPts val="2940"/>
              </a:spcBef>
              <a:buFont typeface="Wingdings"/>
              <a:buChar char=""/>
              <a:tabLst>
                <a:tab pos="7013575" algn="l"/>
              </a:tabLst>
            </a:pPr>
            <a:r>
              <a:rPr sz="1200" spc="-10" dirty="0">
                <a:latin typeface="Calibri"/>
                <a:cs typeface="Calibri"/>
              </a:rPr>
              <a:t>AI</a:t>
            </a:r>
            <a:r>
              <a:rPr sz="1200" spc="-5" dirty="0">
                <a:latin typeface="PMingLiU"/>
                <a:cs typeface="PMingLiU"/>
              </a:rPr>
              <a:t>自己建立了记忆体系并定期进行深层次反思：阿伊莎汗在写关于莎士比亚毕业论文时，会定期与梅林讨论提高论文的写作技巧，并用于改善论文的质量。</a:t>
            </a:r>
            <a:endParaRPr sz="1200" dirty="0">
              <a:latin typeface="PMingLiU"/>
              <a:cs typeface="PMingLiU"/>
            </a:endParaRPr>
          </a:p>
          <a:p>
            <a:pPr lvl="1">
              <a:lnSpc>
                <a:spcPct val="100000"/>
              </a:lnSpc>
              <a:spcBef>
                <a:spcPts val="395"/>
              </a:spcBef>
              <a:buFont typeface="Wingdings"/>
              <a:buChar char=""/>
            </a:pPr>
            <a:endParaRPr sz="1200" dirty="0">
              <a:latin typeface="PMingLiU"/>
              <a:cs typeface="PMingLiU"/>
            </a:endParaRPr>
          </a:p>
          <a:p>
            <a:pPr marL="7013575" marR="429895" lvl="1" indent="-228600">
              <a:lnSpc>
                <a:spcPct val="90100"/>
              </a:lnSpc>
              <a:buFont typeface="Wingdings"/>
              <a:buChar char=""/>
              <a:tabLst>
                <a:tab pos="7013575" algn="l"/>
              </a:tabLst>
            </a:pPr>
            <a:r>
              <a:rPr sz="1200" spc="-10" dirty="0">
                <a:latin typeface="Calibri"/>
                <a:cs typeface="Calibri"/>
              </a:rPr>
              <a:t>AI</a:t>
            </a:r>
            <a:r>
              <a:rPr sz="1200" spc="-15" dirty="0">
                <a:latin typeface="PMingLiU"/>
                <a:cs typeface="PMingLiU"/>
              </a:rPr>
              <a:t>之间建立了关系并记住了彼此：最初，山姆和托亚并不</a:t>
            </a:r>
            <a:r>
              <a:rPr sz="1200" spc="-5" dirty="0">
                <a:latin typeface="PMingLiU"/>
                <a:cs typeface="PMingLiU"/>
              </a:rPr>
              <a:t>认识。当他们在公园见面时，托亚对山姆说她正在进行</a:t>
            </a:r>
            <a:r>
              <a:rPr sz="1200" dirty="0">
                <a:latin typeface="PMingLiU"/>
                <a:cs typeface="PMingLiU"/>
              </a:rPr>
              <a:t> </a:t>
            </a:r>
            <a:r>
              <a:rPr sz="1200" spc="-5" dirty="0">
                <a:latin typeface="PMingLiU"/>
                <a:cs typeface="PMingLiU"/>
              </a:rPr>
              <a:t>一个摄像项目。当山姆与托亚再次遇见时，山姆主动说，托亚你的摄影项目进行的如何了。</a:t>
            </a:r>
            <a:endParaRPr sz="1200" dirty="0">
              <a:latin typeface="PMingLiU"/>
              <a:cs typeface="PMingLiU"/>
            </a:endParaRPr>
          </a:p>
          <a:p>
            <a:pPr lvl="1">
              <a:lnSpc>
                <a:spcPct val="100000"/>
              </a:lnSpc>
              <a:spcBef>
                <a:spcPts val="434"/>
              </a:spcBef>
              <a:buFont typeface="Wingdings"/>
              <a:buChar char=""/>
            </a:pPr>
            <a:endParaRPr sz="1200" dirty="0">
              <a:latin typeface="PMingLiU"/>
              <a:cs typeface="PMingLiU"/>
            </a:endParaRPr>
          </a:p>
          <a:p>
            <a:pPr marL="7013575" marR="455930" lvl="1" indent="-228600">
              <a:lnSpc>
                <a:spcPts val="1300"/>
              </a:lnSpc>
              <a:buFont typeface="Wingdings"/>
              <a:buChar char=""/>
              <a:tabLst>
                <a:tab pos="7013575" algn="l"/>
              </a:tabLst>
            </a:pPr>
            <a:r>
              <a:rPr sz="1200" spc="-10" dirty="0">
                <a:latin typeface="Calibri"/>
                <a:cs typeface="Calibri"/>
              </a:rPr>
              <a:t>AI</a:t>
            </a:r>
            <a:r>
              <a:rPr sz="1200" spc="-5" dirty="0">
                <a:latin typeface="PMingLiU"/>
                <a:cs typeface="PMingLiU"/>
              </a:rPr>
              <a:t>之间学会了相互协调：伊莎贝拉邀请她看到的人参加聚会，并向玛利亚求助进行装饰场地。</a:t>
            </a:r>
            <a:endParaRPr sz="1200" dirty="0">
              <a:latin typeface="PMingLiU"/>
              <a:cs typeface="PMingLiU"/>
            </a:endParaRPr>
          </a:p>
          <a:p>
            <a:pPr lvl="1">
              <a:lnSpc>
                <a:spcPct val="100000"/>
              </a:lnSpc>
              <a:spcBef>
                <a:spcPts val="415"/>
              </a:spcBef>
              <a:buFont typeface="Wingdings"/>
              <a:buChar char=""/>
            </a:pPr>
            <a:endParaRPr sz="1200" dirty="0">
              <a:latin typeface="PMingLiU"/>
              <a:cs typeface="PMingLiU"/>
            </a:endParaRPr>
          </a:p>
          <a:p>
            <a:pPr marL="7013575" marR="455930" lvl="1" indent="-228600">
              <a:lnSpc>
                <a:spcPts val="1300"/>
              </a:lnSpc>
              <a:spcBef>
                <a:spcPts val="5"/>
              </a:spcBef>
              <a:buFont typeface="Wingdings"/>
              <a:buChar char=""/>
              <a:tabLst>
                <a:tab pos="7013575" algn="l"/>
              </a:tabLst>
            </a:pPr>
            <a:r>
              <a:rPr sz="1200" spc="-10" dirty="0">
                <a:latin typeface="Calibri"/>
                <a:cs typeface="Calibri"/>
              </a:rPr>
              <a:t>AI</a:t>
            </a:r>
            <a:r>
              <a:rPr sz="1200" spc="-5" dirty="0">
                <a:latin typeface="PMingLiU"/>
                <a:cs typeface="PMingLiU"/>
              </a:rPr>
              <a:t>之间学会了共享信息：当山姆决定竞选小镇镇长与汤姆进行了分享，约翰也听到了这个消息。当晚，汤姆和约</a:t>
            </a:r>
            <a:r>
              <a:rPr sz="1200" dirty="0">
                <a:latin typeface="PMingLiU"/>
                <a:cs typeface="PMingLiU"/>
              </a:rPr>
              <a:t>翰分别提🎧</a:t>
            </a:r>
            <a:r>
              <a:rPr sz="1200" spc="-5" dirty="0">
                <a:latin typeface="PMingLiU"/>
                <a:cs typeface="PMingLiU"/>
              </a:rPr>
              <a:t>了山姆的候选资格和获胜的机会。</a:t>
            </a:r>
            <a:endParaRPr sz="1200" dirty="0">
              <a:latin typeface="PMingLiU"/>
              <a:cs typeface="PMingLiU"/>
            </a:endParaRPr>
          </a:p>
          <a:p>
            <a:pPr lvl="1">
              <a:lnSpc>
                <a:spcPct val="100000"/>
              </a:lnSpc>
              <a:spcBef>
                <a:spcPts val="405"/>
              </a:spcBef>
              <a:buFont typeface="Wingdings"/>
              <a:buChar char=""/>
            </a:pPr>
            <a:endParaRPr sz="1200" dirty="0">
              <a:latin typeface="PMingLiU"/>
              <a:cs typeface="PMingLiU"/>
            </a:endParaRPr>
          </a:p>
          <a:p>
            <a:pPr marL="7013575" marR="455930" lvl="1" indent="-228600">
              <a:lnSpc>
                <a:spcPts val="1300"/>
              </a:lnSpc>
              <a:spcBef>
                <a:spcPts val="5"/>
              </a:spcBef>
              <a:buFont typeface="Wingdings"/>
              <a:buChar char=""/>
              <a:tabLst>
                <a:tab pos="7013575" algn="l"/>
              </a:tabLst>
            </a:pPr>
            <a:r>
              <a:rPr sz="1200" spc="-10" dirty="0">
                <a:latin typeface="Calibri"/>
                <a:cs typeface="Calibri"/>
              </a:rPr>
              <a:t>AI</a:t>
            </a:r>
            <a:r>
              <a:rPr sz="1200" spc="-5" dirty="0">
                <a:latin typeface="PMingLiU"/>
                <a:cs typeface="PMingLiU"/>
              </a:rPr>
              <a:t>具备了定制和修改计划的能力：在模拟结束时，几乎所</a:t>
            </a:r>
            <a:r>
              <a:rPr sz="1200" dirty="0">
                <a:latin typeface="PMingLiU"/>
                <a:cs typeface="PMingLiU"/>
              </a:rPr>
              <a:t>有的</a:t>
            </a:r>
            <a:r>
              <a:rPr sz="1200" spc="-10" dirty="0">
                <a:latin typeface="Calibri"/>
                <a:cs typeface="Calibri"/>
              </a:rPr>
              <a:t>agent</a:t>
            </a:r>
            <a:r>
              <a:rPr sz="1200" spc="-5" dirty="0">
                <a:latin typeface="PMingLiU"/>
                <a:cs typeface="PMingLiU"/>
              </a:rPr>
              <a:t>都制定了计划，并且很多因为环境的变化而更</a:t>
            </a:r>
            <a:r>
              <a:rPr sz="1200" dirty="0">
                <a:latin typeface="PMingLiU"/>
                <a:cs typeface="PMingLiU"/>
              </a:rPr>
              <a:t>改了这些计划。例如，在邀请</a:t>
            </a:r>
            <a:r>
              <a:rPr sz="1200" spc="-10" dirty="0">
                <a:latin typeface="Calibri"/>
                <a:cs typeface="Calibri"/>
              </a:rPr>
              <a:t>12</a:t>
            </a:r>
            <a:r>
              <a:rPr sz="1200" dirty="0">
                <a:latin typeface="PMingLiU"/>
                <a:cs typeface="PMingLiU"/>
              </a:rPr>
              <a:t>个</a:t>
            </a:r>
            <a:r>
              <a:rPr sz="1200" spc="-10" dirty="0">
                <a:latin typeface="Calibri"/>
                <a:cs typeface="Calibri"/>
              </a:rPr>
              <a:t>AI</a:t>
            </a:r>
            <a:r>
              <a:rPr sz="1200" dirty="0">
                <a:latin typeface="PMingLiU"/>
                <a:cs typeface="PMingLiU"/>
              </a:rPr>
              <a:t>参加派对时，只有</a:t>
            </a:r>
            <a:r>
              <a:rPr sz="1200" spc="-50" dirty="0">
                <a:latin typeface="Calibri"/>
                <a:cs typeface="Calibri"/>
              </a:rPr>
              <a:t>5</a:t>
            </a:r>
            <a:endParaRPr sz="1200" dirty="0">
              <a:latin typeface="Calibri"/>
              <a:cs typeface="Calibri"/>
            </a:endParaRPr>
          </a:p>
          <a:p>
            <a:pPr marL="7013575">
              <a:lnSpc>
                <a:spcPts val="1270"/>
              </a:lnSpc>
            </a:pPr>
            <a:r>
              <a:rPr sz="1200" spc="-10" dirty="0">
                <a:latin typeface="PMingLiU"/>
                <a:cs typeface="PMingLiU"/>
              </a:rPr>
              <a:t>个</a:t>
            </a:r>
            <a:r>
              <a:rPr sz="1200" spc="-10" dirty="0">
                <a:latin typeface="Calibri"/>
                <a:cs typeface="Calibri"/>
              </a:rPr>
              <a:t>AI</a:t>
            </a:r>
            <a:r>
              <a:rPr sz="1200" spc="-10" dirty="0">
                <a:latin typeface="PMingLiU"/>
                <a:cs typeface="PMingLiU"/>
              </a:rPr>
              <a:t>🎧现。其中，有三个</a:t>
            </a:r>
            <a:r>
              <a:rPr sz="1200" spc="-10" dirty="0">
                <a:latin typeface="Calibri"/>
                <a:cs typeface="Calibri"/>
              </a:rPr>
              <a:t>AI</a:t>
            </a:r>
            <a:r>
              <a:rPr sz="1200" spc="-5" dirty="0">
                <a:latin typeface="PMingLiU"/>
                <a:cs typeface="PMingLiU"/>
              </a:rPr>
              <a:t>说自己因为事情太忙而没有去。</a:t>
            </a:r>
            <a:endParaRPr sz="1200" dirty="0">
              <a:latin typeface="PMingLiU"/>
              <a:cs typeface="PMingLiU"/>
            </a:endParaRPr>
          </a:p>
          <a:p>
            <a:pPr>
              <a:lnSpc>
                <a:spcPct val="100000"/>
              </a:lnSpc>
              <a:spcBef>
                <a:spcPts val="190"/>
              </a:spcBef>
            </a:pPr>
            <a:endParaRPr sz="1200" dirty="0">
              <a:latin typeface="PMingLiU"/>
              <a:cs typeface="PMingLiU"/>
            </a:endParaRPr>
          </a:p>
          <a:p>
            <a:pPr marL="323215">
              <a:lnSpc>
                <a:spcPts val="2135"/>
              </a:lnSpc>
            </a:pPr>
            <a:r>
              <a:rPr sz="1800" dirty="0">
                <a:solidFill>
                  <a:srgbClr val="212121"/>
                </a:solidFill>
                <a:latin typeface="Arial"/>
                <a:cs typeface="Arial"/>
              </a:rPr>
              <a:t>Park,</a:t>
            </a:r>
            <a:r>
              <a:rPr sz="1800" spc="-35" dirty="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212121"/>
                </a:solidFill>
                <a:latin typeface="Arial"/>
                <a:cs typeface="Arial"/>
              </a:rPr>
              <a:t>Joon</a:t>
            </a:r>
            <a:r>
              <a:rPr sz="1800" spc="-35" dirty="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212121"/>
                </a:solidFill>
                <a:latin typeface="Arial"/>
                <a:cs typeface="Arial"/>
              </a:rPr>
              <a:t>Sung,</a:t>
            </a:r>
            <a:r>
              <a:rPr sz="1800" spc="-15" dirty="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212121"/>
                </a:solidFill>
                <a:latin typeface="Arial"/>
                <a:cs typeface="Arial"/>
              </a:rPr>
              <a:t>et</a:t>
            </a:r>
            <a:r>
              <a:rPr sz="1800" spc="-40" dirty="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212121"/>
                </a:solidFill>
                <a:latin typeface="Arial"/>
                <a:cs typeface="Arial"/>
              </a:rPr>
              <a:t>al.</a:t>
            </a:r>
            <a:r>
              <a:rPr sz="1800" spc="-25" dirty="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212121"/>
                </a:solidFill>
                <a:latin typeface="Arial"/>
                <a:cs typeface="Arial"/>
              </a:rPr>
              <a:t>"</a:t>
            </a:r>
            <a:r>
              <a:rPr sz="1800" dirty="0">
                <a:solidFill>
                  <a:srgbClr val="006FC0"/>
                </a:solidFill>
                <a:latin typeface="Arial"/>
                <a:cs typeface="Arial"/>
              </a:rPr>
              <a:t>Generative</a:t>
            </a:r>
            <a:r>
              <a:rPr sz="1800" spc="-25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06FC0"/>
                </a:solidFill>
                <a:latin typeface="Arial"/>
                <a:cs typeface="Arial"/>
              </a:rPr>
              <a:t>agents</a:t>
            </a:r>
            <a:r>
              <a:rPr sz="1800" dirty="0">
                <a:solidFill>
                  <a:srgbClr val="212121"/>
                </a:solidFill>
                <a:latin typeface="Arial"/>
                <a:cs typeface="Arial"/>
              </a:rPr>
              <a:t>:</a:t>
            </a:r>
            <a:r>
              <a:rPr sz="1800" spc="-15" dirty="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212121"/>
                </a:solidFill>
                <a:latin typeface="Arial"/>
                <a:cs typeface="Arial"/>
              </a:rPr>
              <a:t>Interactive</a:t>
            </a:r>
            <a:r>
              <a:rPr sz="1800" spc="-30" dirty="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212121"/>
                </a:solidFill>
                <a:latin typeface="Arial"/>
                <a:cs typeface="Arial"/>
              </a:rPr>
              <a:t>simulacra</a:t>
            </a:r>
            <a:r>
              <a:rPr sz="1800" spc="-25" dirty="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212121"/>
                </a:solidFill>
                <a:latin typeface="Arial"/>
                <a:cs typeface="Arial"/>
              </a:rPr>
              <a:t>of</a:t>
            </a:r>
            <a:r>
              <a:rPr sz="1800" spc="-30" dirty="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212121"/>
                </a:solidFill>
                <a:latin typeface="Arial"/>
                <a:cs typeface="Arial"/>
              </a:rPr>
              <a:t>human</a:t>
            </a:r>
            <a:r>
              <a:rPr sz="1800" spc="-30" dirty="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212121"/>
                </a:solidFill>
                <a:latin typeface="Arial"/>
                <a:cs typeface="Arial"/>
              </a:rPr>
              <a:t>behavior."</a:t>
            </a:r>
            <a:r>
              <a:rPr sz="1800" spc="-20" dirty="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212121"/>
                </a:solidFill>
                <a:latin typeface="Arial"/>
                <a:cs typeface="Arial"/>
              </a:rPr>
              <a:t>Proceedings</a:t>
            </a:r>
            <a:endParaRPr sz="1800" dirty="0">
              <a:latin typeface="Arial"/>
              <a:cs typeface="Arial"/>
            </a:endParaRPr>
          </a:p>
          <a:p>
            <a:pPr marL="323215">
              <a:lnSpc>
                <a:spcPts val="2135"/>
              </a:lnSpc>
            </a:pPr>
            <a:r>
              <a:rPr sz="1800" dirty="0">
                <a:solidFill>
                  <a:srgbClr val="212121"/>
                </a:solidFill>
                <a:latin typeface="Arial"/>
                <a:cs typeface="Arial"/>
              </a:rPr>
              <a:t>of</a:t>
            </a:r>
            <a:r>
              <a:rPr sz="1800" spc="-30" dirty="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212121"/>
                </a:solidFill>
                <a:latin typeface="Arial"/>
                <a:cs typeface="Arial"/>
              </a:rPr>
              <a:t>the</a:t>
            </a:r>
            <a:r>
              <a:rPr sz="1800" spc="-35" dirty="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212121"/>
                </a:solidFill>
                <a:latin typeface="Arial"/>
                <a:cs typeface="Arial"/>
              </a:rPr>
              <a:t>36th</a:t>
            </a:r>
            <a:r>
              <a:rPr sz="1800" spc="-120" dirty="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212121"/>
                </a:solidFill>
                <a:latin typeface="Arial"/>
                <a:cs typeface="Arial"/>
              </a:rPr>
              <a:t>Annual</a:t>
            </a:r>
            <a:r>
              <a:rPr sz="1800" spc="-110" dirty="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212121"/>
                </a:solidFill>
                <a:latin typeface="Arial"/>
                <a:cs typeface="Arial"/>
              </a:rPr>
              <a:t>ACM</a:t>
            </a:r>
            <a:r>
              <a:rPr sz="1800" spc="-25" dirty="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212121"/>
                </a:solidFill>
                <a:latin typeface="Arial"/>
                <a:cs typeface="Arial"/>
              </a:rPr>
              <a:t>Symposium</a:t>
            </a:r>
            <a:r>
              <a:rPr sz="1800" spc="5" dirty="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212121"/>
                </a:solidFill>
                <a:latin typeface="Arial"/>
                <a:cs typeface="Arial"/>
              </a:rPr>
              <a:t>on</a:t>
            </a:r>
            <a:r>
              <a:rPr sz="1800" spc="-35" dirty="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212121"/>
                </a:solidFill>
                <a:latin typeface="Arial"/>
                <a:cs typeface="Arial"/>
              </a:rPr>
              <a:t>User</a:t>
            </a:r>
            <a:r>
              <a:rPr sz="1800" spc="-25" dirty="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212121"/>
                </a:solidFill>
                <a:latin typeface="Arial"/>
                <a:cs typeface="Arial"/>
              </a:rPr>
              <a:t>Interface</a:t>
            </a:r>
            <a:r>
              <a:rPr sz="1800" spc="-35" dirty="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212121"/>
                </a:solidFill>
                <a:latin typeface="Arial"/>
                <a:cs typeface="Arial"/>
              </a:rPr>
              <a:t>Software</a:t>
            </a:r>
            <a:r>
              <a:rPr sz="1800" spc="10" dirty="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212121"/>
                </a:solidFill>
                <a:latin typeface="Arial"/>
                <a:cs typeface="Arial"/>
              </a:rPr>
              <a:t>and</a:t>
            </a:r>
            <a:r>
              <a:rPr sz="1800" spc="-60" dirty="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sz="1800" spc="-35" dirty="0">
                <a:solidFill>
                  <a:srgbClr val="212121"/>
                </a:solidFill>
                <a:latin typeface="Arial"/>
                <a:cs typeface="Arial"/>
              </a:rPr>
              <a:t>Technology.</a:t>
            </a:r>
            <a:r>
              <a:rPr sz="1800" dirty="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212121"/>
                </a:solidFill>
                <a:latin typeface="Arial"/>
                <a:cs typeface="Arial"/>
              </a:rPr>
              <a:t>2023.</a:t>
            </a:r>
            <a:endParaRPr sz="1800" dirty="0">
              <a:latin typeface="Arial"/>
              <a:cs typeface="Arial"/>
            </a:endParaRPr>
          </a:p>
          <a:p>
            <a:pPr marR="652145" algn="r">
              <a:lnSpc>
                <a:spcPct val="100000"/>
              </a:lnSpc>
              <a:spcBef>
                <a:spcPts val="1155"/>
              </a:spcBef>
            </a:pPr>
            <a:r>
              <a:rPr sz="1200" spc="-25" dirty="0">
                <a:solidFill>
                  <a:srgbClr val="888888"/>
                </a:solidFill>
                <a:latin typeface="Calibri"/>
                <a:cs typeface="Calibri"/>
              </a:rPr>
              <a:t>37</a:t>
            </a:r>
            <a:endParaRPr sz="1200" dirty="0">
              <a:latin typeface="Calibri"/>
              <a:cs typeface="Calibri"/>
            </a:endParaRPr>
          </a:p>
        </p:txBody>
      </p:sp>
      <p:pic>
        <p:nvPicPr>
          <p:cNvPr id="13" name="object 2">
            <a:extLst>
              <a:ext uri="{FF2B5EF4-FFF2-40B4-BE49-F238E27FC236}">
                <a16:creationId xmlns:a16="http://schemas.microsoft.com/office/drawing/2014/main" id="{27AA8A4B-A667-2DEF-44D9-A4626D239639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93751" y="1707011"/>
            <a:ext cx="6799486" cy="3623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509472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8A6611-9D7F-D912-C503-C614F62A6B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B3A038D0-961B-8D88-3D41-687C852FAE99}"/>
              </a:ext>
            </a:extLst>
          </p:cNvPr>
          <p:cNvSpPr/>
          <p:nvPr/>
        </p:nvSpPr>
        <p:spPr>
          <a:xfrm>
            <a:off x="234082" y="391176"/>
            <a:ext cx="496852" cy="496851"/>
          </a:xfrm>
          <a:prstGeom prst="rect">
            <a:avLst/>
          </a:prstGeom>
          <a:solidFill>
            <a:srgbClr val="2E5696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05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4E9C78D-D001-ABBB-8073-99D0FC2E2E58}"/>
              </a:ext>
            </a:extLst>
          </p:cNvPr>
          <p:cNvSpPr/>
          <p:nvPr/>
        </p:nvSpPr>
        <p:spPr>
          <a:xfrm>
            <a:off x="478878" y="657581"/>
            <a:ext cx="331236" cy="331236"/>
          </a:xfrm>
          <a:prstGeom prst="rect">
            <a:avLst/>
          </a:prstGeom>
          <a:solidFill>
            <a:srgbClr val="2E5696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05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8" name="TextBox 28">
            <a:extLst>
              <a:ext uri="{FF2B5EF4-FFF2-40B4-BE49-F238E27FC236}">
                <a16:creationId xmlns:a16="http://schemas.microsoft.com/office/drawing/2014/main" id="{A9D3DB9B-D583-B235-A854-857E77B7BBA6}"/>
              </a:ext>
            </a:extLst>
          </p:cNvPr>
          <p:cNvSpPr txBox="1"/>
          <p:nvPr/>
        </p:nvSpPr>
        <p:spPr>
          <a:xfrm>
            <a:off x="830709" y="336598"/>
            <a:ext cx="9806592" cy="660538"/>
          </a:xfrm>
          <a:prstGeom prst="rect">
            <a:avLst/>
          </a:prstGeom>
          <a:noFill/>
        </p:spPr>
        <p:txBody>
          <a:bodyPr wrap="square" lIns="105509" tIns="52755" rIns="105509" bIns="52755" rtlCol="0">
            <a:spAutoFit/>
          </a:bodyPr>
          <a:lstStyle/>
          <a:p>
            <a:pPr lvl="0">
              <a:defRPr/>
            </a:pPr>
            <a:r>
              <a:rPr lang="zh-CN" altLang="en-US" sz="3600" b="1" spc="300" dirty="0">
                <a:solidFill>
                  <a:srgbClr val="2E5696"/>
                </a:solidFill>
                <a:latin typeface="微软雅黑" panose="020B0503020204020204" charset="-122"/>
                <a:ea typeface="微软雅黑" panose="020B0503020204020204" charset="-122"/>
              </a:rPr>
              <a:t>大语言模型智能体的应用领域</a:t>
            </a:r>
          </a:p>
        </p:txBody>
      </p:sp>
      <p:cxnSp>
        <p:nvCxnSpPr>
          <p:cNvPr id="122" name="直接连接符 46">
            <a:extLst>
              <a:ext uri="{FF2B5EF4-FFF2-40B4-BE49-F238E27FC236}">
                <a16:creationId xmlns:a16="http://schemas.microsoft.com/office/drawing/2014/main" id="{114FFBAC-08B4-0D3F-A616-DFEA4EEDB80C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810340" y="988715"/>
            <a:ext cx="11135003" cy="0"/>
          </a:xfrm>
          <a:prstGeom prst="line">
            <a:avLst/>
          </a:prstGeom>
          <a:noFill/>
          <a:ln w="9525" cmpd="sng">
            <a:solidFill>
              <a:srgbClr val="4D4948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70" name="object 5">
            <a:extLst>
              <a:ext uri="{FF2B5EF4-FFF2-40B4-BE49-F238E27FC236}">
                <a16:creationId xmlns:a16="http://schemas.microsoft.com/office/drawing/2014/main" id="{F8A21651-F477-6EE7-5D22-7AA4B3CA0A87}"/>
              </a:ext>
            </a:extLst>
          </p:cNvPr>
          <p:cNvSpPr txBox="1"/>
          <p:nvPr/>
        </p:nvSpPr>
        <p:spPr>
          <a:xfrm>
            <a:off x="644753" y="988153"/>
            <a:ext cx="69418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99085" algn="l"/>
              </a:tabLst>
            </a:pPr>
            <a:r>
              <a:rPr sz="1800" spc="-5" dirty="0">
                <a:latin typeface="Microsoft YaHei"/>
                <a:cs typeface="Microsoft YaHei"/>
              </a:rPr>
              <a:t>流程自动化技术让智能体掌握工作流程，高效执行复杂多步骤任务</a:t>
            </a:r>
            <a:endParaRPr sz="1800">
              <a:latin typeface="Microsoft YaHei"/>
              <a:cs typeface="Microsoft YaHei"/>
            </a:endParaRPr>
          </a:p>
        </p:txBody>
      </p:sp>
      <p:grpSp>
        <p:nvGrpSpPr>
          <p:cNvPr id="71" name="object 50">
            <a:extLst>
              <a:ext uri="{FF2B5EF4-FFF2-40B4-BE49-F238E27FC236}">
                <a16:creationId xmlns:a16="http://schemas.microsoft.com/office/drawing/2014/main" id="{DF4ADEA1-39D8-1760-743C-BF79E5DCBF96}"/>
              </a:ext>
            </a:extLst>
          </p:cNvPr>
          <p:cNvGrpSpPr/>
          <p:nvPr/>
        </p:nvGrpSpPr>
        <p:grpSpPr>
          <a:xfrm>
            <a:off x="246646" y="2177698"/>
            <a:ext cx="8724265" cy="1476375"/>
            <a:chOff x="246646" y="2209228"/>
            <a:chExt cx="8724265" cy="1476375"/>
          </a:xfrm>
        </p:grpSpPr>
        <p:pic>
          <p:nvPicPr>
            <p:cNvPr id="72" name="object 51">
              <a:extLst>
                <a:ext uri="{FF2B5EF4-FFF2-40B4-BE49-F238E27FC236}">
                  <a16:creationId xmlns:a16="http://schemas.microsoft.com/office/drawing/2014/main" id="{592FFE7E-5A38-E12B-B923-4EC5AB0E83AA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179945" y="2635250"/>
              <a:ext cx="723900" cy="889000"/>
            </a:xfrm>
            <a:prstGeom prst="rect">
              <a:avLst/>
            </a:prstGeom>
          </p:spPr>
        </p:pic>
        <p:pic>
          <p:nvPicPr>
            <p:cNvPr id="73" name="object 52">
              <a:extLst>
                <a:ext uri="{FF2B5EF4-FFF2-40B4-BE49-F238E27FC236}">
                  <a16:creationId xmlns:a16="http://schemas.microsoft.com/office/drawing/2014/main" id="{052B8B1A-5B38-4500-A99C-82D0A86B2D00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261865" y="2570226"/>
              <a:ext cx="673100" cy="1028700"/>
            </a:xfrm>
            <a:prstGeom prst="rect">
              <a:avLst/>
            </a:prstGeom>
          </p:spPr>
        </p:pic>
        <p:pic>
          <p:nvPicPr>
            <p:cNvPr id="74" name="object 53">
              <a:extLst>
                <a:ext uri="{FF2B5EF4-FFF2-40B4-BE49-F238E27FC236}">
                  <a16:creationId xmlns:a16="http://schemas.microsoft.com/office/drawing/2014/main" id="{D15F5514-39EA-7535-34D5-131049EF043F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687694" y="2632964"/>
              <a:ext cx="740836" cy="883301"/>
            </a:xfrm>
            <a:prstGeom prst="rect">
              <a:avLst/>
            </a:prstGeom>
          </p:spPr>
        </p:pic>
        <p:pic>
          <p:nvPicPr>
            <p:cNvPr id="75" name="object 54">
              <a:extLst>
                <a:ext uri="{FF2B5EF4-FFF2-40B4-BE49-F238E27FC236}">
                  <a16:creationId xmlns:a16="http://schemas.microsoft.com/office/drawing/2014/main" id="{1DAD84E2-441F-6709-D0E9-B4196405BB01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312921" y="2209228"/>
              <a:ext cx="798307" cy="795337"/>
            </a:xfrm>
            <a:prstGeom prst="rect">
              <a:avLst/>
            </a:prstGeom>
          </p:spPr>
        </p:pic>
        <p:sp>
          <p:nvSpPr>
            <p:cNvPr id="76" name="object 55">
              <a:extLst>
                <a:ext uri="{FF2B5EF4-FFF2-40B4-BE49-F238E27FC236}">
                  <a16:creationId xmlns:a16="http://schemas.microsoft.com/office/drawing/2014/main" id="{5DC1A2E4-2CC5-F404-1B25-91C832320186}"/>
                </a:ext>
              </a:extLst>
            </p:cNvPr>
            <p:cNvSpPr/>
            <p:nvPr/>
          </p:nvSpPr>
          <p:spPr>
            <a:xfrm>
              <a:off x="4947666" y="3039998"/>
              <a:ext cx="2232660" cy="78105"/>
            </a:xfrm>
            <a:custGeom>
              <a:avLst/>
              <a:gdLst/>
              <a:ahLst/>
              <a:cxnLst/>
              <a:rect l="l" t="t" r="r" b="b"/>
              <a:pathLst>
                <a:path w="2232659" h="78105">
                  <a:moveTo>
                    <a:pt x="740029" y="27940"/>
                  </a:moveTo>
                  <a:lnTo>
                    <a:pt x="76200" y="28575"/>
                  </a:lnTo>
                  <a:lnTo>
                    <a:pt x="76200" y="0"/>
                  </a:lnTo>
                  <a:lnTo>
                    <a:pt x="0" y="38227"/>
                  </a:lnTo>
                  <a:lnTo>
                    <a:pt x="76200" y="76200"/>
                  </a:lnTo>
                  <a:lnTo>
                    <a:pt x="76200" y="47625"/>
                  </a:lnTo>
                  <a:lnTo>
                    <a:pt x="740029" y="46990"/>
                  </a:lnTo>
                  <a:lnTo>
                    <a:pt x="740029" y="28575"/>
                  </a:lnTo>
                  <a:lnTo>
                    <a:pt x="740029" y="27940"/>
                  </a:lnTo>
                  <a:close/>
                </a:path>
                <a:path w="2232659" h="78105">
                  <a:moveTo>
                    <a:pt x="2232279" y="39751"/>
                  </a:moveTo>
                  <a:lnTo>
                    <a:pt x="2212873" y="29972"/>
                  </a:lnTo>
                  <a:lnTo>
                    <a:pt x="2168766" y="7734"/>
                  </a:lnTo>
                  <a:lnTo>
                    <a:pt x="2168766" y="49022"/>
                  </a:lnTo>
                  <a:lnTo>
                    <a:pt x="2156041" y="49022"/>
                  </a:lnTo>
                  <a:lnTo>
                    <a:pt x="2168766" y="49022"/>
                  </a:lnTo>
                  <a:lnTo>
                    <a:pt x="2168766" y="7734"/>
                  </a:lnTo>
                  <a:lnTo>
                    <a:pt x="2156206" y="1397"/>
                  </a:lnTo>
                  <a:lnTo>
                    <a:pt x="2156117" y="27940"/>
                  </a:lnTo>
                  <a:lnTo>
                    <a:pt x="2156104" y="29946"/>
                  </a:lnTo>
                  <a:lnTo>
                    <a:pt x="1492250" y="27940"/>
                  </a:lnTo>
                  <a:lnTo>
                    <a:pt x="1492250" y="46990"/>
                  </a:lnTo>
                  <a:lnTo>
                    <a:pt x="2156028" y="48983"/>
                  </a:lnTo>
                  <a:lnTo>
                    <a:pt x="2155952" y="77597"/>
                  </a:lnTo>
                  <a:lnTo>
                    <a:pt x="2213572" y="49022"/>
                  </a:lnTo>
                  <a:lnTo>
                    <a:pt x="2232279" y="3975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7" name="object 56">
              <a:extLst>
                <a:ext uri="{FF2B5EF4-FFF2-40B4-BE49-F238E27FC236}">
                  <a16:creationId xmlns:a16="http://schemas.microsoft.com/office/drawing/2014/main" id="{D2C940C9-A193-6CD6-8633-C991F3056368}"/>
                </a:ext>
              </a:extLst>
            </p:cNvPr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46646" y="2469883"/>
              <a:ext cx="2928112" cy="1215148"/>
            </a:xfrm>
            <a:prstGeom prst="rect">
              <a:avLst/>
            </a:prstGeom>
          </p:spPr>
        </p:pic>
        <p:pic>
          <p:nvPicPr>
            <p:cNvPr id="78" name="object 57">
              <a:extLst>
                <a:ext uri="{FF2B5EF4-FFF2-40B4-BE49-F238E27FC236}">
                  <a16:creationId xmlns:a16="http://schemas.microsoft.com/office/drawing/2014/main" id="{C3558ED1-FE85-2D3E-01E2-DC3CC310951F}"/>
                </a:ext>
              </a:extLst>
            </p:cNvPr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071231" y="2328875"/>
              <a:ext cx="696125" cy="701979"/>
            </a:xfrm>
            <a:prstGeom prst="rect">
              <a:avLst/>
            </a:prstGeom>
          </p:spPr>
        </p:pic>
        <p:sp>
          <p:nvSpPr>
            <p:cNvPr id="79" name="object 58">
              <a:extLst>
                <a:ext uri="{FF2B5EF4-FFF2-40B4-BE49-F238E27FC236}">
                  <a16:creationId xmlns:a16="http://schemas.microsoft.com/office/drawing/2014/main" id="{B6384446-D73C-DA91-7495-C39C564232CF}"/>
                </a:ext>
              </a:extLst>
            </p:cNvPr>
            <p:cNvSpPr/>
            <p:nvPr/>
          </p:nvSpPr>
          <p:spPr>
            <a:xfrm>
              <a:off x="3174746" y="3039363"/>
              <a:ext cx="5796280" cy="87630"/>
            </a:xfrm>
            <a:custGeom>
              <a:avLst/>
              <a:gdLst/>
              <a:ahLst/>
              <a:cxnLst/>
              <a:rect l="l" t="t" r="r" b="b"/>
              <a:pathLst>
                <a:path w="5796280" h="87630">
                  <a:moveTo>
                    <a:pt x="1087120" y="29337"/>
                  </a:moveTo>
                  <a:lnTo>
                    <a:pt x="76200" y="28587"/>
                  </a:lnTo>
                  <a:lnTo>
                    <a:pt x="76200" y="0"/>
                  </a:lnTo>
                  <a:lnTo>
                    <a:pt x="0" y="38100"/>
                  </a:lnTo>
                  <a:lnTo>
                    <a:pt x="76200" y="76200"/>
                  </a:lnTo>
                  <a:lnTo>
                    <a:pt x="76200" y="47637"/>
                  </a:lnTo>
                  <a:lnTo>
                    <a:pt x="1087120" y="48387"/>
                  </a:lnTo>
                  <a:lnTo>
                    <a:pt x="1087120" y="29337"/>
                  </a:lnTo>
                  <a:close/>
                </a:path>
                <a:path w="5796280" h="87630">
                  <a:moveTo>
                    <a:pt x="5795899" y="50165"/>
                  </a:moveTo>
                  <a:lnTo>
                    <a:pt x="5776074" y="40005"/>
                  </a:lnTo>
                  <a:lnTo>
                    <a:pt x="5720080" y="11303"/>
                  </a:lnTo>
                  <a:lnTo>
                    <a:pt x="5719838" y="39890"/>
                  </a:lnTo>
                  <a:lnTo>
                    <a:pt x="4729226" y="30861"/>
                  </a:lnTo>
                  <a:lnTo>
                    <a:pt x="4728972" y="49911"/>
                  </a:lnTo>
                  <a:lnTo>
                    <a:pt x="5719673" y="58940"/>
                  </a:lnTo>
                  <a:lnTo>
                    <a:pt x="5732386" y="59055"/>
                  </a:lnTo>
                  <a:lnTo>
                    <a:pt x="5719673" y="59055"/>
                  </a:lnTo>
                  <a:lnTo>
                    <a:pt x="5719445" y="87503"/>
                  </a:lnTo>
                  <a:lnTo>
                    <a:pt x="5777687" y="59055"/>
                  </a:lnTo>
                  <a:lnTo>
                    <a:pt x="5795899" y="5016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0" name="object 59">
            <a:extLst>
              <a:ext uri="{FF2B5EF4-FFF2-40B4-BE49-F238E27FC236}">
                <a16:creationId xmlns:a16="http://schemas.microsoft.com/office/drawing/2014/main" id="{F25D4B57-3DD0-CD48-BBF0-6A176282D58B}"/>
              </a:ext>
            </a:extLst>
          </p:cNvPr>
          <p:cNvSpPr txBox="1"/>
          <p:nvPr/>
        </p:nvSpPr>
        <p:spPr>
          <a:xfrm>
            <a:off x="3324225" y="3151343"/>
            <a:ext cx="7874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Microsoft YaHei"/>
                <a:cs typeface="Microsoft YaHei"/>
              </a:rPr>
              <a:t>手动拖拉拽构建工作流</a:t>
            </a:r>
            <a:endParaRPr sz="1200">
              <a:latin typeface="Microsoft YaHei"/>
              <a:cs typeface="Microsoft YaHei"/>
            </a:endParaRPr>
          </a:p>
        </p:txBody>
      </p:sp>
      <p:sp>
        <p:nvSpPr>
          <p:cNvPr id="81" name="object 60">
            <a:extLst>
              <a:ext uri="{FF2B5EF4-FFF2-40B4-BE49-F238E27FC236}">
                <a16:creationId xmlns:a16="http://schemas.microsoft.com/office/drawing/2014/main" id="{74EAF11C-86CC-C5D3-6399-6790A1C159D4}"/>
              </a:ext>
            </a:extLst>
          </p:cNvPr>
          <p:cNvSpPr txBox="1"/>
          <p:nvPr/>
        </p:nvSpPr>
        <p:spPr>
          <a:xfrm>
            <a:off x="7924292" y="3132674"/>
            <a:ext cx="92456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Microsoft YaHei"/>
                <a:cs typeface="Microsoft YaHei"/>
              </a:rPr>
              <a:t>Agent</a:t>
            </a:r>
            <a:r>
              <a:rPr sz="1200" spc="-20" dirty="0">
                <a:latin typeface="Microsoft YaHei"/>
                <a:cs typeface="Microsoft YaHei"/>
              </a:rPr>
              <a:t>工作流</a:t>
            </a:r>
            <a:endParaRPr sz="1200">
              <a:latin typeface="Microsoft YaHei"/>
              <a:cs typeface="Microsoft YaHei"/>
            </a:endParaRPr>
          </a:p>
          <a:p>
            <a:pPr algn="ctr">
              <a:lnSpc>
                <a:spcPct val="100000"/>
              </a:lnSpc>
            </a:pPr>
            <a:r>
              <a:rPr sz="1200" spc="-15" dirty="0">
                <a:latin typeface="Microsoft YaHei"/>
                <a:cs typeface="Microsoft YaHei"/>
              </a:rPr>
              <a:t>描述语言</a:t>
            </a:r>
            <a:endParaRPr sz="1200">
              <a:latin typeface="Microsoft YaHei"/>
              <a:cs typeface="Microsoft YaHei"/>
            </a:endParaRPr>
          </a:p>
        </p:txBody>
      </p:sp>
      <p:grpSp>
        <p:nvGrpSpPr>
          <p:cNvPr id="82" name="object 61">
            <a:extLst>
              <a:ext uri="{FF2B5EF4-FFF2-40B4-BE49-F238E27FC236}">
                <a16:creationId xmlns:a16="http://schemas.microsoft.com/office/drawing/2014/main" id="{9FC8F9CB-890E-52D1-6DBA-F69033F151EC}"/>
              </a:ext>
            </a:extLst>
          </p:cNvPr>
          <p:cNvGrpSpPr/>
          <p:nvPr/>
        </p:nvGrpSpPr>
        <p:grpSpPr>
          <a:xfrm>
            <a:off x="1701164" y="1320600"/>
            <a:ext cx="10244455" cy="2355850"/>
            <a:chOff x="1701164" y="1352130"/>
            <a:chExt cx="10244455" cy="2355850"/>
          </a:xfrm>
        </p:grpSpPr>
        <p:pic>
          <p:nvPicPr>
            <p:cNvPr id="83" name="object 62">
              <a:extLst>
                <a:ext uri="{FF2B5EF4-FFF2-40B4-BE49-F238E27FC236}">
                  <a16:creationId xmlns:a16="http://schemas.microsoft.com/office/drawing/2014/main" id="{8992A9AE-7A7B-21AE-B066-74ECDFFC9685}"/>
                </a:ext>
              </a:extLst>
            </p:cNvPr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978137" y="2492743"/>
              <a:ext cx="2967101" cy="1215148"/>
            </a:xfrm>
            <a:prstGeom prst="rect">
              <a:avLst/>
            </a:prstGeom>
          </p:spPr>
        </p:pic>
        <p:pic>
          <p:nvPicPr>
            <p:cNvPr id="84" name="object 63">
              <a:extLst>
                <a:ext uri="{FF2B5EF4-FFF2-40B4-BE49-F238E27FC236}">
                  <a16:creationId xmlns:a16="http://schemas.microsoft.com/office/drawing/2014/main" id="{D86B4BC1-FEAC-D7B8-F8B5-997A650B833B}"/>
                </a:ext>
              </a:extLst>
            </p:cNvPr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382136" y="1352130"/>
              <a:ext cx="466331" cy="691172"/>
            </a:xfrm>
            <a:prstGeom prst="rect">
              <a:avLst/>
            </a:prstGeom>
          </p:spPr>
        </p:pic>
        <p:sp>
          <p:nvSpPr>
            <p:cNvPr id="85" name="object 64">
              <a:extLst>
                <a:ext uri="{FF2B5EF4-FFF2-40B4-BE49-F238E27FC236}">
                  <a16:creationId xmlns:a16="http://schemas.microsoft.com/office/drawing/2014/main" id="{A1A14466-8C86-3674-83D4-38311FE43174}"/>
                </a:ext>
              </a:extLst>
            </p:cNvPr>
            <p:cNvSpPr/>
            <p:nvPr/>
          </p:nvSpPr>
          <p:spPr>
            <a:xfrm>
              <a:off x="1710689" y="2088388"/>
              <a:ext cx="4353560" cy="381635"/>
            </a:xfrm>
            <a:custGeom>
              <a:avLst/>
              <a:gdLst/>
              <a:ahLst/>
              <a:cxnLst/>
              <a:rect l="l" t="t" r="r" b="b"/>
              <a:pathLst>
                <a:path w="4353560" h="381635">
                  <a:moveTo>
                    <a:pt x="0" y="381508"/>
                  </a:moveTo>
                  <a:lnTo>
                    <a:pt x="0" y="9906"/>
                  </a:lnTo>
                </a:path>
                <a:path w="4353560" h="381635">
                  <a:moveTo>
                    <a:pt x="0" y="0"/>
                  </a:moveTo>
                  <a:lnTo>
                    <a:pt x="4353052" y="0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" name="object 65">
              <a:extLst>
                <a:ext uri="{FF2B5EF4-FFF2-40B4-BE49-F238E27FC236}">
                  <a16:creationId xmlns:a16="http://schemas.microsoft.com/office/drawing/2014/main" id="{C645769A-C261-55ED-9707-8048569B7B32}"/>
                </a:ext>
              </a:extLst>
            </p:cNvPr>
            <p:cNvSpPr/>
            <p:nvPr/>
          </p:nvSpPr>
          <p:spPr>
            <a:xfrm>
              <a:off x="6025642" y="2088388"/>
              <a:ext cx="76200" cy="544830"/>
            </a:xfrm>
            <a:custGeom>
              <a:avLst/>
              <a:gdLst/>
              <a:ahLst/>
              <a:cxnLst/>
              <a:rect l="l" t="t" r="r" b="b"/>
              <a:pathLst>
                <a:path w="76200" h="544830">
                  <a:moveTo>
                    <a:pt x="28575" y="468375"/>
                  </a:moveTo>
                  <a:lnTo>
                    <a:pt x="0" y="468375"/>
                  </a:lnTo>
                  <a:lnTo>
                    <a:pt x="38100" y="544576"/>
                  </a:lnTo>
                  <a:lnTo>
                    <a:pt x="69850" y="481075"/>
                  </a:lnTo>
                  <a:lnTo>
                    <a:pt x="28575" y="481075"/>
                  </a:lnTo>
                  <a:lnTo>
                    <a:pt x="28575" y="468375"/>
                  </a:lnTo>
                  <a:close/>
                </a:path>
                <a:path w="76200" h="544830">
                  <a:moveTo>
                    <a:pt x="47625" y="0"/>
                  </a:moveTo>
                  <a:lnTo>
                    <a:pt x="28575" y="0"/>
                  </a:lnTo>
                  <a:lnTo>
                    <a:pt x="28575" y="481075"/>
                  </a:lnTo>
                  <a:lnTo>
                    <a:pt x="47625" y="481075"/>
                  </a:lnTo>
                  <a:lnTo>
                    <a:pt x="47625" y="0"/>
                  </a:lnTo>
                  <a:close/>
                </a:path>
                <a:path w="76200" h="544830">
                  <a:moveTo>
                    <a:pt x="76200" y="468375"/>
                  </a:moveTo>
                  <a:lnTo>
                    <a:pt x="47625" y="468375"/>
                  </a:lnTo>
                  <a:lnTo>
                    <a:pt x="47625" y="481075"/>
                  </a:lnTo>
                  <a:lnTo>
                    <a:pt x="69850" y="481075"/>
                  </a:lnTo>
                  <a:lnTo>
                    <a:pt x="76200" y="46837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" name="object 66">
              <a:extLst>
                <a:ext uri="{FF2B5EF4-FFF2-40B4-BE49-F238E27FC236}">
                  <a16:creationId xmlns:a16="http://schemas.microsoft.com/office/drawing/2014/main" id="{65AB010F-E50A-8FC5-D311-4EEBC98E3A39}"/>
                </a:ext>
              </a:extLst>
            </p:cNvPr>
            <p:cNvSpPr/>
            <p:nvPr/>
          </p:nvSpPr>
          <p:spPr>
            <a:xfrm>
              <a:off x="6063742" y="2081149"/>
              <a:ext cx="4398010" cy="412115"/>
            </a:xfrm>
            <a:custGeom>
              <a:avLst/>
              <a:gdLst/>
              <a:ahLst/>
              <a:cxnLst/>
              <a:rect l="l" t="t" r="r" b="b"/>
              <a:pathLst>
                <a:path w="4398009" h="412114">
                  <a:moveTo>
                    <a:pt x="4397883" y="411606"/>
                  </a:moveTo>
                  <a:lnTo>
                    <a:pt x="4397883" y="16890"/>
                  </a:lnTo>
                </a:path>
                <a:path w="4398009" h="412114">
                  <a:moveTo>
                    <a:pt x="0" y="0"/>
                  </a:moveTo>
                  <a:lnTo>
                    <a:pt x="4397883" y="16890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8" name="object 67">
              <a:extLst>
                <a:ext uri="{FF2B5EF4-FFF2-40B4-BE49-F238E27FC236}">
                  <a16:creationId xmlns:a16="http://schemas.microsoft.com/office/drawing/2014/main" id="{7757CDA2-981C-F7C9-E030-74F14C7FD6C5}"/>
                </a:ext>
              </a:extLst>
            </p:cNvPr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8218550" y="1379016"/>
              <a:ext cx="1162240" cy="660730"/>
            </a:xfrm>
            <a:prstGeom prst="rect">
              <a:avLst/>
            </a:prstGeom>
          </p:spPr>
        </p:pic>
        <p:pic>
          <p:nvPicPr>
            <p:cNvPr id="89" name="object 68">
              <a:extLst>
                <a:ext uri="{FF2B5EF4-FFF2-40B4-BE49-F238E27FC236}">
                  <a16:creationId xmlns:a16="http://schemas.microsoft.com/office/drawing/2014/main" id="{225F64B3-B029-B88B-C4A4-4CAE0347B06C}"/>
                </a:ext>
              </a:extLst>
            </p:cNvPr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9522886" y="1436670"/>
              <a:ext cx="568401" cy="568401"/>
            </a:xfrm>
            <a:prstGeom prst="rect">
              <a:avLst/>
            </a:prstGeom>
          </p:spPr>
        </p:pic>
      </p:grpSp>
      <p:pic>
        <p:nvPicPr>
          <p:cNvPr id="90" name="object 71">
            <a:extLst>
              <a:ext uri="{FF2B5EF4-FFF2-40B4-BE49-F238E27FC236}">
                <a16:creationId xmlns:a16="http://schemas.microsoft.com/office/drawing/2014/main" id="{A2B43BB4-1BDD-EEBB-8D61-593B7A7A1A18}"/>
              </a:ext>
            </a:extLst>
          </p:cNvPr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2178050" y="1351531"/>
            <a:ext cx="1080338" cy="600193"/>
          </a:xfrm>
          <a:prstGeom prst="rect">
            <a:avLst/>
          </a:prstGeom>
        </p:spPr>
      </p:pic>
      <p:sp>
        <p:nvSpPr>
          <p:cNvPr id="91" name="object 72">
            <a:extLst>
              <a:ext uri="{FF2B5EF4-FFF2-40B4-BE49-F238E27FC236}">
                <a16:creationId xmlns:a16="http://schemas.microsoft.com/office/drawing/2014/main" id="{2B2FE39F-7A86-D91C-7DA2-621D31CFA627}"/>
              </a:ext>
            </a:extLst>
          </p:cNvPr>
          <p:cNvSpPr txBox="1"/>
          <p:nvPr/>
        </p:nvSpPr>
        <p:spPr>
          <a:xfrm>
            <a:off x="4051172" y="1481548"/>
            <a:ext cx="15494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Microsoft YaHei"/>
                <a:cs typeface="Microsoft YaHei"/>
              </a:rPr>
              <a:t>只能执行固定任务</a:t>
            </a:r>
            <a:endParaRPr sz="1200">
              <a:latin typeface="Microsoft YaHei"/>
              <a:cs typeface="Microsoft YaHei"/>
            </a:endParaRPr>
          </a:p>
          <a:p>
            <a:pPr marL="12700">
              <a:lnSpc>
                <a:spcPct val="100000"/>
              </a:lnSpc>
            </a:pPr>
            <a:r>
              <a:rPr sz="1200" spc="-5" dirty="0">
                <a:latin typeface="Microsoft YaHei"/>
                <a:cs typeface="Microsoft YaHei"/>
              </a:rPr>
              <a:t>并以固定形式返回结果</a:t>
            </a:r>
            <a:endParaRPr sz="1200">
              <a:latin typeface="Microsoft YaHei"/>
              <a:cs typeface="Microsoft YaHei"/>
            </a:endParaRPr>
          </a:p>
        </p:txBody>
      </p:sp>
      <p:sp>
        <p:nvSpPr>
          <p:cNvPr id="92" name="object 73">
            <a:extLst>
              <a:ext uri="{FF2B5EF4-FFF2-40B4-BE49-F238E27FC236}">
                <a16:creationId xmlns:a16="http://schemas.microsoft.com/office/drawing/2014/main" id="{6F1F564E-2AA2-1320-F11E-02588599D2A4}"/>
              </a:ext>
            </a:extLst>
          </p:cNvPr>
          <p:cNvSpPr txBox="1"/>
          <p:nvPr/>
        </p:nvSpPr>
        <p:spPr>
          <a:xfrm>
            <a:off x="6403594" y="1506312"/>
            <a:ext cx="15494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Microsoft YaHei"/>
                <a:cs typeface="Microsoft YaHei"/>
              </a:rPr>
              <a:t>由于智能体的引入</a:t>
            </a:r>
            <a:endParaRPr sz="1200">
              <a:latin typeface="Microsoft YaHei"/>
              <a:cs typeface="Microsoft YaHei"/>
            </a:endParaRPr>
          </a:p>
          <a:p>
            <a:pPr marL="12700">
              <a:lnSpc>
                <a:spcPct val="100000"/>
              </a:lnSpc>
            </a:pPr>
            <a:r>
              <a:rPr sz="1200" spc="-5" dirty="0">
                <a:latin typeface="Microsoft YaHei"/>
                <a:cs typeface="Microsoft YaHei"/>
              </a:rPr>
              <a:t>可以执行高灵活度任务</a:t>
            </a:r>
            <a:endParaRPr sz="1200">
              <a:latin typeface="Microsoft YaHei"/>
              <a:cs typeface="Microsoft YaHei"/>
            </a:endParaRPr>
          </a:p>
        </p:txBody>
      </p:sp>
      <p:sp>
        <p:nvSpPr>
          <p:cNvPr id="93" name="object 74">
            <a:extLst>
              <a:ext uri="{FF2B5EF4-FFF2-40B4-BE49-F238E27FC236}">
                <a16:creationId xmlns:a16="http://schemas.microsoft.com/office/drawing/2014/main" id="{00BD5331-EF3E-0634-5075-2B9A79445FFF}"/>
              </a:ext>
            </a:extLst>
          </p:cNvPr>
          <p:cNvSpPr txBox="1"/>
          <p:nvPr/>
        </p:nvSpPr>
        <p:spPr>
          <a:xfrm>
            <a:off x="5148834" y="2749008"/>
            <a:ext cx="389890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25" dirty="0">
                <a:latin typeface="Microsoft YaHei"/>
                <a:cs typeface="Microsoft YaHei"/>
              </a:rPr>
              <a:t>RPA</a:t>
            </a:r>
            <a:endParaRPr sz="1400">
              <a:latin typeface="Microsoft YaHei"/>
              <a:cs typeface="Microsoft YaHei"/>
            </a:endParaRPr>
          </a:p>
        </p:txBody>
      </p:sp>
      <p:sp>
        <p:nvSpPr>
          <p:cNvPr id="94" name="object 75">
            <a:extLst>
              <a:ext uri="{FF2B5EF4-FFF2-40B4-BE49-F238E27FC236}">
                <a16:creationId xmlns:a16="http://schemas.microsoft.com/office/drawing/2014/main" id="{B1DAC914-A7B2-D91B-00DF-1982C27BA58E}"/>
              </a:ext>
            </a:extLst>
          </p:cNvPr>
          <p:cNvSpPr txBox="1"/>
          <p:nvPr/>
        </p:nvSpPr>
        <p:spPr>
          <a:xfrm>
            <a:off x="6588379" y="2741007"/>
            <a:ext cx="398780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25" dirty="0">
                <a:latin typeface="Microsoft YaHei"/>
                <a:cs typeface="Microsoft YaHei"/>
              </a:rPr>
              <a:t>APA</a:t>
            </a:r>
            <a:endParaRPr sz="1400">
              <a:latin typeface="Microsoft YaHei"/>
              <a:cs typeface="Microsoft YaHei"/>
            </a:endParaRPr>
          </a:p>
        </p:txBody>
      </p:sp>
      <p:sp>
        <p:nvSpPr>
          <p:cNvPr id="95" name="object 10">
            <a:extLst>
              <a:ext uri="{FF2B5EF4-FFF2-40B4-BE49-F238E27FC236}">
                <a16:creationId xmlns:a16="http://schemas.microsoft.com/office/drawing/2014/main" id="{1FBAEB8F-90AF-C52E-6AEE-56F9D4563D76}"/>
              </a:ext>
            </a:extLst>
          </p:cNvPr>
          <p:cNvSpPr txBox="1"/>
          <p:nvPr/>
        </p:nvSpPr>
        <p:spPr>
          <a:xfrm>
            <a:off x="6465570" y="3905342"/>
            <a:ext cx="73914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15" dirty="0">
                <a:latin typeface="Microsoft YaHei"/>
                <a:cs typeface="Microsoft YaHei"/>
              </a:rPr>
              <a:t>未来趋势</a:t>
            </a:r>
            <a:endParaRPr sz="1400">
              <a:latin typeface="Microsoft YaHei"/>
              <a:cs typeface="Microsoft YaHei"/>
            </a:endParaRPr>
          </a:p>
        </p:txBody>
      </p:sp>
      <p:pic>
        <p:nvPicPr>
          <p:cNvPr id="96" name="object 11">
            <a:extLst>
              <a:ext uri="{FF2B5EF4-FFF2-40B4-BE49-F238E27FC236}">
                <a16:creationId xmlns:a16="http://schemas.microsoft.com/office/drawing/2014/main" id="{B9CA016D-7212-DB9A-62FE-2E4631AD706E}"/>
              </a:ext>
            </a:extLst>
          </p:cNvPr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2055876" y="4210219"/>
            <a:ext cx="4326636" cy="2165604"/>
          </a:xfrm>
          <a:prstGeom prst="rect">
            <a:avLst/>
          </a:prstGeom>
        </p:spPr>
      </p:pic>
      <p:sp>
        <p:nvSpPr>
          <p:cNvPr id="97" name="object 2">
            <a:extLst>
              <a:ext uri="{FF2B5EF4-FFF2-40B4-BE49-F238E27FC236}">
                <a16:creationId xmlns:a16="http://schemas.microsoft.com/office/drawing/2014/main" id="{49CB8CBF-D4F1-2A1F-2815-26AD2F731B90}"/>
              </a:ext>
            </a:extLst>
          </p:cNvPr>
          <p:cNvSpPr txBox="1"/>
          <p:nvPr/>
        </p:nvSpPr>
        <p:spPr>
          <a:xfrm>
            <a:off x="11093957" y="6171251"/>
            <a:ext cx="1809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888888"/>
                </a:solidFill>
                <a:latin typeface="Calibri"/>
                <a:cs typeface="Calibri"/>
              </a:rPr>
              <a:t>38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98" name="object 6">
            <a:extLst>
              <a:ext uri="{FF2B5EF4-FFF2-40B4-BE49-F238E27FC236}">
                <a16:creationId xmlns:a16="http://schemas.microsoft.com/office/drawing/2014/main" id="{C4020998-CEF9-52D3-0728-41B7FADE1A90}"/>
              </a:ext>
            </a:extLst>
          </p:cNvPr>
          <p:cNvGrpSpPr/>
          <p:nvPr/>
        </p:nvGrpSpPr>
        <p:grpSpPr>
          <a:xfrm>
            <a:off x="6458140" y="4206269"/>
            <a:ext cx="5602605" cy="2120900"/>
            <a:chOff x="6458140" y="4237799"/>
            <a:chExt cx="5602605" cy="2120900"/>
          </a:xfrm>
        </p:grpSpPr>
        <p:sp>
          <p:nvSpPr>
            <p:cNvPr id="99" name="object 7">
              <a:extLst>
                <a:ext uri="{FF2B5EF4-FFF2-40B4-BE49-F238E27FC236}">
                  <a16:creationId xmlns:a16="http://schemas.microsoft.com/office/drawing/2014/main" id="{2516762D-FC3B-EF30-401B-B95DF22AF953}"/>
                </a:ext>
              </a:extLst>
            </p:cNvPr>
            <p:cNvSpPr/>
            <p:nvPr/>
          </p:nvSpPr>
          <p:spPr>
            <a:xfrm>
              <a:off x="10342245" y="4252086"/>
              <a:ext cx="1704339" cy="2092325"/>
            </a:xfrm>
            <a:custGeom>
              <a:avLst/>
              <a:gdLst/>
              <a:ahLst/>
              <a:cxnLst/>
              <a:rect l="l" t="t" r="r" b="b"/>
              <a:pathLst>
                <a:path w="1704340" h="2092325">
                  <a:moveTo>
                    <a:pt x="1651127" y="0"/>
                  </a:moveTo>
                  <a:lnTo>
                    <a:pt x="52704" y="0"/>
                  </a:lnTo>
                  <a:lnTo>
                    <a:pt x="32146" y="4145"/>
                  </a:lnTo>
                  <a:lnTo>
                    <a:pt x="15398" y="15446"/>
                  </a:lnTo>
                  <a:lnTo>
                    <a:pt x="4127" y="32200"/>
                  </a:lnTo>
                  <a:lnTo>
                    <a:pt x="0" y="52705"/>
                  </a:lnTo>
                  <a:lnTo>
                    <a:pt x="0" y="2039454"/>
                  </a:lnTo>
                  <a:lnTo>
                    <a:pt x="4127" y="2059979"/>
                  </a:lnTo>
                  <a:lnTo>
                    <a:pt x="15398" y="2076740"/>
                  </a:lnTo>
                  <a:lnTo>
                    <a:pt x="32146" y="2088041"/>
                  </a:lnTo>
                  <a:lnTo>
                    <a:pt x="52704" y="2092185"/>
                  </a:lnTo>
                  <a:lnTo>
                    <a:pt x="1651127" y="2092185"/>
                  </a:lnTo>
                  <a:lnTo>
                    <a:pt x="1671704" y="2088041"/>
                  </a:lnTo>
                  <a:lnTo>
                    <a:pt x="1688496" y="2076740"/>
                  </a:lnTo>
                  <a:lnTo>
                    <a:pt x="1699811" y="2059979"/>
                  </a:lnTo>
                  <a:lnTo>
                    <a:pt x="1703958" y="2039454"/>
                  </a:lnTo>
                  <a:lnTo>
                    <a:pt x="1703958" y="52705"/>
                  </a:lnTo>
                  <a:lnTo>
                    <a:pt x="1699811" y="32200"/>
                  </a:lnTo>
                  <a:lnTo>
                    <a:pt x="1688496" y="15446"/>
                  </a:lnTo>
                  <a:lnTo>
                    <a:pt x="1671704" y="4145"/>
                  </a:lnTo>
                  <a:lnTo>
                    <a:pt x="165112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0" name="object 8">
              <a:extLst>
                <a:ext uri="{FF2B5EF4-FFF2-40B4-BE49-F238E27FC236}">
                  <a16:creationId xmlns:a16="http://schemas.microsoft.com/office/drawing/2014/main" id="{74DBC35D-55A2-6CEB-63FA-CE9F80DF0F32}"/>
                </a:ext>
              </a:extLst>
            </p:cNvPr>
            <p:cNvSpPr/>
            <p:nvPr/>
          </p:nvSpPr>
          <p:spPr>
            <a:xfrm>
              <a:off x="6472428" y="4252086"/>
              <a:ext cx="5574030" cy="2092325"/>
            </a:xfrm>
            <a:custGeom>
              <a:avLst/>
              <a:gdLst/>
              <a:ahLst/>
              <a:cxnLst/>
              <a:rect l="l" t="t" r="r" b="b"/>
              <a:pathLst>
                <a:path w="5574030" h="2092325">
                  <a:moveTo>
                    <a:pt x="3869817" y="52705"/>
                  </a:moveTo>
                  <a:lnTo>
                    <a:pt x="3873944" y="32200"/>
                  </a:lnTo>
                  <a:lnTo>
                    <a:pt x="3885215" y="15446"/>
                  </a:lnTo>
                  <a:lnTo>
                    <a:pt x="3901963" y="4145"/>
                  </a:lnTo>
                  <a:lnTo>
                    <a:pt x="3922522" y="0"/>
                  </a:lnTo>
                  <a:lnTo>
                    <a:pt x="5520944" y="0"/>
                  </a:lnTo>
                  <a:lnTo>
                    <a:pt x="5541521" y="4145"/>
                  </a:lnTo>
                  <a:lnTo>
                    <a:pt x="5558313" y="15446"/>
                  </a:lnTo>
                  <a:lnTo>
                    <a:pt x="5569628" y="32200"/>
                  </a:lnTo>
                  <a:lnTo>
                    <a:pt x="5573776" y="52705"/>
                  </a:lnTo>
                  <a:lnTo>
                    <a:pt x="5573776" y="2039454"/>
                  </a:lnTo>
                  <a:lnTo>
                    <a:pt x="5569628" y="2059979"/>
                  </a:lnTo>
                  <a:lnTo>
                    <a:pt x="5558313" y="2076740"/>
                  </a:lnTo>
                  <a:lnTo>
                    <a:pt x="5541521" y="2088041"/>
                  </a:lnTo>
                  <a:lnTo>
                    <a:pt x="5520944" y="2092185"/>
                  </a:lnTo>
                  <a:lnTo>
                    <a:pt x="3922522" y="2092185"/>
                  </a:lnTo>
                  <a:lnTo>
                    <a:pt x="3901963" y="2088041"/>
                  </a:lnTo>
                  <a:lnTo>
                    <a:pt x="3885215" y="2076740"/>
                  </a:lnTo>
                  <a:lnTo>
                    <a:pt x="3873944" y="2059979"/>
                  </a:lnTo>
                  <a:lnTo>
                    <a:pt x="3869817" y="2039454"/>
                  </a:lnTo>
                  <a:lnTo>
                    <a:pt x="3869817" y="52705"/>
                  </a:lnTo>
                  <a:close/>
                </a:path>
                <a:path w="5574030" h="2092325">
                  <a:moveTo>
                    <a:pt x="0" y="57404"/>
                  </a:moveTo>
                  <a:lnTo>
                    <a:pt x="4145" y="36899"/>
                  </a:lnTo>
                  <a:lnTo>
                    <a:pt x="15446" y="20145"/>
                  </a:lnTo>
                  <a:lnTo>
                    <a:pt x="32200" y="8844"/>
                  </a:lnTo>
                  <a:lnTo>
                    <a:pt x="52704" y="4699"/>
                  </a:lnTo>
                  <a:lnTo>
                    <a:pt x="1651253" y="4699"/>
                  </a:lnTo>
                  <a:lnTo>
                    <a:pt x="1671758" y="8844"/>
                  </a:lnTo>
                  <a:lnTo>
                    <a:pt x="1688512" y="20145"/>
                  </a:lnTo>
                  <a:lnTo>
                    <a:pt x="1699813" y="36899"/>
                  </a:lnTo>
                  <a:lnTo>
                    <a:pt x="1703958" y="57404"/>
                  </a:lnTo>
                  <a:lnTo>
                    <a:pt x="1703958" y="2039454"/>
                  </a:lnTo>
                  <a:lnTo>
                    <a:pt x="1699813" y="2059979"/>
                  </a:lnTo>
                  <a:lnTo>
                    <a:pt x="1688512" y="2076740"/>
                  </a:lnTo>
                  <a:lnTo>
                    <a:pt x="1671758" y="2088041"/>
                  </a:lnTo>
                  <a:lnTo>
                    <a:pt x="1651253" y="2092185"/>
                  </a:lnTo>
                  <a:lnTo>
                    <a:pt x="52704" y="2092185"/>
                  </a:lnTo>
                  <a:lnTo>
                    <a:pt x="32200" y="2088041"/>
                  </a:lnTo>
                  <a:lnTo>
                    <a:pt x="15446" y="2076740"/>
                  </a:lnTo>
                  <a:lnTo>
                    <a:pt x="4145" y="2059979"/>
                  </a:lnTo>
                  <a:lnTo>
                    <a:pt x="0" y="2039454"/>
                  </a:lnTo>
                  <a:lnTo>
                    <a:pt x="0" y="57404"/>
                  </a:lnTo>
                  <a:close/>
                </a:path>
              </a:pathLst>
            </a:custGeom>
            <a:ln w="28575">
              <a:solidFill>
                <a:srgbClr val="16182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1" name="object 9">
              <a:extLst>
                <a:ext uri="{FF2B5EF4-FFF2-40B4-BE49-F238E27FC236}">
                  <a16:creationId xmlns:a16="http://schemas.microsoft.com/office/drawing/2014/main" id="{BBC93BBC-EB75-23A4-5AEB-7FABD7C42628}"/>
                </a:ext>
              </a:extLst>
            </p:cNvPr>
            <p:cNvSpPr/>
            <p:nvPr/>
          </p:nvSpPr>
          <p:spPr>
            <a:xfrm>
              <a:off x="6718046" y="4949316"/>
              <a:ext cx="1212850" cy="607060"/>
            </a:xfrm>
            <a:custGeom>
              <a:avLst/>
              <a:gdLst/>
              <a:ahLst/>
              <a:cxnLst/>
              <a:rect l="l" t="t" r="r" b="b"/>
              <a:pathLst>
                <a:path w="1212850" h="607060">
                  <a:moveTo>
                    <a:pt x="1111503" y="0"/>
                  </a:moveTo>
                  <a:lnTo>
                    <a:pt x="101219" y="0"/>
                  </a:lnTo>
                  <a:lnTo>
                    <a:pt x="61829" y="7937"/>
                  </a:lnTo>
                  <a:lnTo>
                    <a:pt x="29654" y="29590"/>
                  </a:lnTo>
                  <a:lnTo>
                    <a:pt x="7957" y="61721"/>
                  </a:lnTo>
                  <a:lnTo>
                    <a:pt x="0" y="101091"/>
                  </a:lnTo>
                  <a:lnTo>
                    <a:pt x="0" y="505840"/>
                  </a:lnTo>
                  <a:lnTo>
                    <a:pt x="7957" y="545230"/>
                  </a:lnTo>
                  <a:lnTo>
                    <a:pt x="29654" y="577405"/>
                  </a:lnTo>
                  <a:lnTo>
                    <a:pt x="61829" y="599102"/>
                  </a:lnTo>
                  <a:lnTo>
                    <a:pt x="101219" y="607059"/>
                  </a:lnTo>
                  <a:lnTo>
                    <a:pt x="1111503" y="607059"/>
                  </a:lnTo>
                  <a:lnTo>
                    <a:pt x="1150893" y="599102"/>
                  </a:lnTo>
                  <a:lnTo>
                    <a:pt x="1183068" y="577405"/>
                  </a:lnTo>
                  <a:lnTo>
                    <a:pt x="1204765" y="545230"/>
                  </a:lnTo>
                  <a:lnTo>
                    <a:pt x="1212723" y="505840"/>
                  </a:lnTo>
                  <a:lnTo>
                    <a:pt x="1212723" y="101091"/>
                  </a:lnTo>
                  <a:lnTo>
                    <a:pt x="1204765" y="61721"/>
                  </a:lnTo>
                  <a:lnTo>
                    <a:pt x="1183068" y="29590"/>
                  </a:lnTo>
                  <a:lnTo>
                    <a:pt x="1150893" y="7937"/>
                  </a:lnTo>
                  <a:lnTo>
                    <a:pt x="1111503" y="0"/>
                  </a:lnTo>
                  <a:close/>
                </a:path>
              </a:pathLst>
            </a:custGeom>
            <a:solidFill>
              <a:srgbClr val="DAE2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2" name="object 12">
            <a:extLst>
              <a:ext uri="{FF2B5EF4-FFF2-40B4-BE49-F238E27FC236}">
                <a16:creationId xmlns:a16="http://schemas.microsoft.com/office/drawing/2014/main" id="{08971996-13E1-7C87-C405-E5823B256FB8}"/>
              </a:ext>
            </a:extLst>
          </p:cNvPr>
          <p:cNvSpPr/>
          <p:nvPr/>
        </p:nvSpPr>
        <p:spPr>
          <a:xfrm>
            <a:off x="6970394" y="4117344"/>
            <a:ext cx="723900" cy="246379"/>
          </a:xfrm>
          <a:custGeom>
            <a:avLst/>
            <a:gdLst/>
            <a:ahLst/>
            <a:cxnLst/>
            <a:rect l="l" t="t" r="r" b="b"/>
            <a:pathLst>
              <a:path w="723900" h="246379">
                <a:moveTo>
                  <a:pt x="723900" y="0"/>
                </a:moveTo>
                <a:lnTo>
                  <a:pt x="0" y="0"/>
                </a:lnTo>
                <a:lnTo>
                  <a:pt x="0" y="246214"/>
                </a:lnTo>
                <a:lnTo>
                  <a:pt x="723900" y="246214"/>
                </a:lnTo>
                <a:lnTo>
                  <a:pt x="7239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3" name="object 13">
            <a:extLst>
              <a:ext uri="{FF2B5EF4-FFF2-40B4-BE49-F238E27FC236}">
                <a16:creationId xmlns:a16="http://schemas.microsoft.com/office/drawing/2014/main" id="{86DF3F6E-8A45-9062-DF64-64DFF10DBCD3}"/>
              </a:ext>
            </a:extLst>
          </p:cNvPr>
          <p:cNvSpPr txBox="1"/>
          <p:nvPr/>
        </p:nvSpPr>
        <p:spPr>
          <a:xfrm>
            <a:off x="7050151" y="4146770"/>
            <a:ext cx="53149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spc="-20" dirty="0">
                <a:solidFill>
                  <a:srgbClr val="6F2F9F"/>
                </a:solidFill>
                <a:latin typeface="Microsoft YaHei"/>
                <a:cs typeface="Microsoft YaHei"/>
              </a:rPr>
              <a:t>可扩展性</a:t>
            </a:r>
            <a:endParaRPr sz="1000">
              <a:latin typeface="Microsoft YaHei"/>
              <a:cs typeface="Microsoft YaHei"/>
            </a:endParaRPr>
          </a:p>
        </p:txBody>
      </p:sp>
      <p:grpSp>
        <p:nvGrpSpPr>
          <p:cNvPr id="104" name="object 14">
            <a:extLst>
              <a:ext uri="{FF2B5EF4-FFF2-40B4-BE49-F238E27FC236}">
                <a16:creationId xmlns:a16="http://schemas.microsoft.com/office/drawing/2014/main" id="{A60DF1C5-CE25-1316-25E8-F1A3E6A5008D}"/>
              </a:ext>
            </a:extLst>
          </p:cNvPr>
          <p:cNvGrpSpPr/>
          <p:nvPr/>
        </p:nvGrpSpPr>
        <p:grpSpPr>
          <a:xfrm>
            <a:off x="8392985" y="4103500"/>
            <a:ext cx="1732914" cy="2223770"/>
            <a:chOff x="8392985" y="4135030"/>
            <a:chExt cx="1732914" cy="2223770"/>
          </a:xfrm>
        </p:grpSpPr>
        <p:sp>
          <p:nvSpPr>
            <p:cNvPr id="105" name="object 15">
              <a:extLst>
                <a:ext uri="{FF2B5EF4-FFF2-40B4-BE49-F238E27FC236}">
                  <a16:creationId xmlns:a16="http://schemas.microsoft.com/office/drawing/2014/main" id="{1FEF937E-AD33-22CC-88FA-EC39B5463A9A}"/>
                </a:ext>
              </a:extLst>
            </p:cNvPr>
            <p:cNvSpPr/>
            <p:nvPr/>
          </p:nvSpPr>
          <p:spPr>
            <a:xfrm>
              <a:off x="8407272" y="4252086"/>
              <a:ext cx="1704339" cy="2092325"/>
            </a:xfrm>
            <a:custGeom>
              <a:avLst/>
              <a:gdLst/>
              <a:ahLst/>
              <a:cxnLst/>
              <a:rect l="l" t="t" r="r" b="b"/>
              <a:pathLst>
                <a:path w="1704340" h="2092325">
                  <a:moveTo>
                    <a:pt x="0" y="52705"/>
                  </a:moveTo>
                  <a:lnTo>
                    <a:pt x="4147" y="32200"/>
                  </a:lnTo>
                  <a:lnTo>
                    <a:pt x="15462" y="15446"/>
                  </a:lnTo>
                  <a:lnTo>
                    <a:pt x="32254" y="4145"/>
                  </a:lnTo>
                  <a:lnTo>
                    <a:pt x="52831" y="0"/>
                  </a:lnTo>
                  <a:lnTo>
                    <a:pt x="1651253" y="0"/>
                  </a:lnTo>
                  <a:lnTo>
                    <a:pt x="1671758" y="4145"/>
                  </a:lnTo>
                  <a:lnTo>
                    <a:pt x="1688512" y="15446"/>
                  </a:lnTo>
                  <a:lnTo>
                    <a:pt x="1699813" y="32200"/>
                  </a:lnTo>
                  <a:lnTo>
                    <a:pt x="1703958" y="52705"/>
                  </a:lnTo>
                  <a:lnTo>
                    <a:pt x="1703958" y="2039454"/>
                  </a:lnTo>
                  <a:lnTo>
                    <a:pt x="1699813" y="2059979"/>
                  </a:lnTo>
                  <a:lnTo>
                    <a:pt x="1688512" y="2076740"/>
                  </a:lnTo>
                  <a:lnTo>
                    <a:pt x="1671758" y="2088041"/>
                  </a:lnTo>
                  <a:lnTo>
                    <a:pt x="1651253" y="2092185"/>
                  </a:lnTo>
                  <a:lnTo>
                    <a:pt x="52831" y="2092185"/>
                  </a:lnTo>
                  <a:lnTo>
                    <a:pt x="32254" y="2088041"/>
                  </a:lnTo>
                  <a:lnTo>
                    <a:pt x="15462" y="2076740"/>
                  </a:lnTo>
                  <a:lnTo>
                    <a:pt x="4147" y="2059979"/>
                  </a:lnTo>
                  <a:lnTo>
                    <a:pt x="0" y="2039454"/>
                  </a:lnTo>
                  <a:lnTo>
                    <a:pt x="0" y="52705"/>
                  </a:lnTo>
                  <a:close/>
                </a:path>
              </a:pathLst>
            </a:custGeom>
            <a:ln w="28575">
              <a:solidFill>
                <a:srgbClr val="16182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6" name="object 16">
              <a:extLst>
                <a:ext uri="{FF2B5EF4-FFF2-40B4-BE49-F238E27FC236}">
                  <a16:creationId xmlns:a16="http://schemas.microsoft.com/office/drawing/2014/main" id="{1E6AEAFF-A8FB-FD72-3A99-CEB818A2F900}"/>
                </a:ext>
              </a:extLst>
            </p:cNvPr>
            <p:cNvSpPr/>
            <p:nvPr/>
          </p:nvSpPr>
          <p:spPr>
            <a:xfrm>
              <a:off x="8934830" y="4135030"/>
              <a:ext cx="697865" cy="246379"/>
            </a:xfrm>
            <a:custGeom>
              <a:avLst/>
              <a:gdLst/>
              <a:ahLst/>
              <a:cxnLst/>
              <a:rect l="l" t="t" r="r" b="b"/>
              <a:pathLst>
                <a:path w="697865" h="246379">
                  <a:moveTo>
                    <a:pt x="697623" y="0"/>
                  </a:moveTo>
                  <a:lnTo>
                    <a:pt x="0" y="0"/>
                  </a:lnTo>
                  <a:lnTo>
                    <a:pt x="0" y="246214"/>
                  </a:lnTo>
                  <a:lnTo>
                    <a:pt x="697623" y="246214"/>
                  </a:lnTo>
                  <a:lnTo>
                    <a:pt x="69762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7" name="object 17">
            <a:extLst>
              <a:ext uri="{FF2B5EF4-FFF2-40B4-BE49-F238E27FC236}">
                <a16:creationId xmlns:a16="http://schemas.microsoft.com/office/drawing/2014/main" id="{C805B41E-4ED9-37D7-2FE6-F7FBBA088A07}"/>
              </a:ext>
            </a:extLst>
          </p:cNvPr>
          <p:cNvSpPr txBox="1"/>
          <p:nvPr/>
        </p:nvSpPr>
        <p:spPr>
          <a:xfrm>
            <a:off x="9014841" y="4133054"/>
            <a:ext cx="53149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spc="-20" dirty="0">
                <a:solidFill>
                  <a:srgbClr val="6F2F9F"/>
                </a:solidFill>
                <a:latin typeface="Microsoft YaHei"/>
                <a:cs typeface="Microsoft YaHei"/>
              </a:rPr>
              <a:t>群体协作</a:t>
            </a:r>
            <a:endParaRPr sz="1000">
              <a:latin typeface="Microsoft YaHei"/>
              <a:cs typeface="Microsoft YaHei"/>
            </a:endParaRPr>
          </a:p>
        </p:txBody>
      </p:sp>
      <p:sp>
        <p:nvSpPr>
          <p:cNvPr id="108" name="object 18">
            <a:extLst>
              <a:ext uri="{FF2B5EF4-FFF2-40B4-BE49-F238E27FC236}">
                <a16:creationId xmlns:a16="http://schemas.microsoft.com/office/drawing/2014/main" id="{A8BAE21E-B40B-6FDE-5C57-E1B122CDDCB7}"/>
              </a:ext>
            </a:extLst>
          </p:cNvPr>
          <p:cNvSpPr/>
          <p:nvPr/>
        </p:nvSpPr>
        <p:spPr>
          <a:xfrm>
            <a:off x="10872089" y="4096262"/>
            <a:ext cx="697865" cy="246379"/>
          </a:xfrm>
          <a:custGeom>
            <a:avLst/>
            <a:gdLst/>
            <a:ahLst/>
            <a:cxnLst/>
            <a:rect l="l" t="t" r="r" b="b"/>
            <a:pathLst>
              <a:path w="697865" h="246379">
                <a:moveTo>
                  <a:pt x="697623" y="0"/>
                </a:moveTo>
                <a:lnTo>
                  <a:pt x="0" y="0"/>
                </a:lnTo>
                <a:lnTo>
                  <a:pt x="0" y="246214"/>
                </a:lnTo>
                <a:lnTo>
                  <a:pt x="697623" y="246214"/>
                </a:lnTo>
                <a:lnTo>
                  <a:pt x="697623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9" name="object 19">
            <a:extLst>
              <a:ext uri="{FF2B5EF4-FFF2-40B4-BE49-F238E27FC236}">
                <a16:creationId xmlns:a16="http://schemas.microsoft.com/office/drawing/2014/main" id="{8838D7F5-7615-7F17-ED9C-C51F02913A70}"/>
              </a:ext>
            </a:extLst>
          </p:cNvPr>
          <p:cNvSpPr txBox="1"/>
          <p:nvPr/>
        </p:nvSpPr>
        <p:spPr>
          <a:xfrm>
            <a:off x="10952226" y="4125687"/>
            <a:ext cx="53149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spc="-20" dirty="0">
                <a:solidFill>
                  <a:srgbClr val="6F2F9F"/>
                </a:solidFill>
                <a:latin typeface="Microsoft YaHei"/>
                <a:cs typeface="Microsoft YaHei"/>
              </a:rPr>
              <a:t>人机交互</a:t>
            </a:r>
            <a:endParaRPr sz="1000">
              <a:latin typeface="Microsoft YaHei"/>
              <a:cs typeface="Microsoft YaHei"/>
            </a:endParaRPr>
          </a:p>
        </p:txBody>
      </p:sp>
      <p:sp>
        <p:nvSpPr>
          <p:cNvPr id="110" name="object 20">
            <a:extLst>
              <a:ext uri="{FF2B5EF4-FFF2-40B4-BE49-F238E27FC236}">
                <a16:creationId xmlns:a16="http://schemas.microsoft.com/office/drawing/2014/main" id="{E72392D4-A38E-BA83-A8D6-A3D2BDCED1B1}"/>
              </a:ext>
            </a:extLst>
          </p:cNvPr>
          <p:cNvSpPr txBox="1"/>
          <p:nvPr/>
        </p:nvSpPr>
        <p:spPr>
          <a:xfrm>
            <a:off x="6666356" y="4335390"/>
            <a:ext cx="129032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lnSpc>
                <a:spcPct val="120000"/>
              </a:lnSpc>
              <a:spcBef>
                <a:spcPts val="100"/>
              </a:spcBef>
            </a:pPr>
            <a:r>
              <a:rPr sz="1000" b="1" spc="-15" dirty="0">
                <a:latin typeface="Microsoft YaHei"/>
                <a:cs typeface="Microsoft YaHei"/>
              </a:rPr>
              <a:t>扩展至真实工业场景中数百节点，高效赋能产</a:t>
            </a:r>
            <a:r>
              <a:rPr sz="1000" b="1" spc="-20" dirty="0">
                <a:latin typeface="Microsoft YaHei"/>
                <a:cs typeface="Microsoft YaHei"/>
              </a:rPr>
              <a:t>业，提升生产力</a:t>
            </a:r>
            <a:endParaRPr sz="1000">
              <a:latin typeface="Microsoft YaHei"/>
              <a:cs typeface="Microsoft YaHei"/>
            </a:endParaRPr>
          </a:p>
        </p:txBody>
      </p:sp>
      <p:sp>
        <p:nvSpPr>
          <p:cNvPr id="111" name="object 21">
            <a:extLst>
              <a:ext uri="{FF2B5EF4-FFF2-40B4-BE49-F238E27FC236}">
                <a16:creationId xmlns:a16="http://schemas.microsoft.com/office/drawing/2014/main" id="{FA885EDA-B7EF-F64A-E7A5-4F3C1A8AAEE2}"/>
              </a:ext>
            </a:extLst>
          </p:cNvPr>
          <p:cNvSpPr txBox="1"/>
          <p:nvPr/>
        </p:nvSpPr>
        <p:spPr>
          <a:xfrm>
            <a:off x="8575675" y="4335390"/>
            <a:ext cx="141732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lnSpc>
                <a:spcPct val="120000"/>
              </a:lnSpc>
              <a:spcBef>
                <a:spcPts val="100"/>
              </a:spcBef>
            </a:pPr>
            <a:r>
              <a:rPr sz="1000" b="1" spc="-15" dirty="0">
                <a:latin typeface="Microsoft YaHei"/>
                <a:cs typeface="Microsoft YaHei"/>
              </a:rPr>
              <a:t>充分利用智能体群体协作能力，通过自动化工作流</a:t>
            </a:r>
            <a:r>
              <a:rPr sz="1000" b="1" spc="-25" dirty="0">
                <a:latin typeface="Microsoft YaHei"/>
                <a:cs typeface="Microsoft YaHei"/>
              </a:rPr>
              <a:t>进一步增效</a:t>
            </a:r>
            <a:endParaRPr sz="1000">
              <a:latin typeface="Microsoft YaHei"/>
              <a:cs typeface="Microsoft YaHei"/>
            </a:endParaRPr>
          </a:p>
        </p:txBody>
      </p:sp>
      <p:sp>
        <p:nvSpPr>
          <p:cNvPr id="112" name="object 22">
            <a:extLst>
              <a:ext uri="{FF2B5EF4-FFF2-40B4-BE49-F238E27FC236}">
                <a16:creationId xmlns:a16="http://schemas.microsoft.com/office/drawing/2014/main" id="{AC54EF27-0F64-4875-D77C-AAC4AFBCEE04}"/>
              </a:ext>
            </a:extLst>
          </p:cNvPr>
          <p:cNvSpPr txBox="1"/>
          <p:nvPr/>
        </p:nvSpPr>
        <p:spPr>
          <a:xfrm>
            <a:off x="10498581" y="4327006"/>
            <a:ext cx="1417320" cy="574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just">
              <a:lnSpc>
                <a:spcPct val="120100"/>
              </a:lnSpc>
              <a:spcBef>
                <a:spcPts val="95"/>
              </a:spcBef>
            </a:pPr>
            <a:r>
              <a:rPr sz="1000" b="1" spc="-15" dirty="0">
                <a:latin typeface="Microsoft YaHei"/>
                <a:cs typeface="Microsoft YaHei"/>
              </a:rPr>
              <a:t>人机协同，令智能体更明</a:t>
            </a:r>
            <a:r>
              <a:rPr sz="1000" b="1" spc="-20" dirty="0">
                <a:latin typeface="Microsoft YaHei"/>
                <a:cs typeface="Microsoft YaHei"/>
              </a:rPr>
              <a:t>确了解用户，构建兼具准</a:t>
            </a:r>
            <a:r>
              <a:rPr sz="1000" b="1" spc="-15" dirty="0">
                <a:latin typeface="Microsoft YaHei"/>
                <a:cs typeface="Microsoft YaHei"/>
              </a:rPr>
              <a:t>确性与灵活性的工作流</a:t>
            </a:r>
            <a:endParaRPr sz="1000">
              <a:latin typeface="Microsoft YaHei"/>
              <a:cs typeface="Microsoft YaHei"/>
            </a:endParaRPr>
          </a:p>
        </p:txBody>
      </p:sp>
      <p:pic>
        <p:nvPicPr>
          <p:cNvPr id="113" name="object 49">
            <a:extLst>
              <a:ext uri="{FF2B5EF4-FFF2-40B4-BE49-F238E27FC236}">
                <a16:creationId xmlns:a16="http://schemas.microsoft.com/office/drawing/2014/main" id="{FF7270E1-58EE-9482-84AC-B91B961C4887}"/>
              </a:ext>
            </a:extLst>
          </p:cNvPr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322353" y="5617226"/>
            <a:ext cx="190128" cy="180853"/>
          </a:xfrm>
          <a:prstGeom prst="rect">
            <a:avLst/>
          </a:prstGeom>
        </p:spPr>
      </p:pic>
      <p:sp>
        <p:nvSpPr>
          <p:cNvPr id="114" name="object 69">
            <a:extLst>
              <a:ext uri="{FF2B5EF4-FFF2-40B4-BE49-F238E27FC236}">
                <a16:creationId xmlns:a16="http://schemas.microsoft.com/office/drawing/2014/main" id="{C6677654-EFF7-3419-D568-A7C8D021BF80}"/>
              </a:ext>
            </a:extLst>
          </p:cNvPr>
          <p:cNvSpPr txBox="1"/>
          <p:nvPr/>
        </p:nvSpPr>
        <p:spPr>
          <a:xfrm>
            <a:off x="339343" y="3627505"/>
            <a:ext cx="1989455" cy="2180590"/>
          </a:xfrm>
          <a:prstGeom prst="rect">
            <a:avLst/>
          </a:prstGeom>
        </p:spPr>
        <p:txBody>
          <a:bodyPr vert="horz" wrap="square" lIns="0" tIns="57785" rIns="0" bIns="0" rtlCol="0">
            <a:spAutoFit/>
          </a:bodyPr>
          <a:lstStyle/>
          <a:p>
            <a:pPr marL="754380">
              <a:lnSpc>
                <a:spcPct val="100000"/>
              </a:lnSpc>
              <a:spcBef>
                <a:spcPts val="455"/>
              </a:spcBef>
            </a:pPr>
            <a:r>
              <a:rPr sz="1200" spc="-10" dirty="0">
                <a:latin typeface="Microsoft YaHei"/>
                <a:cs typeface="Microsoft YaHei"/>
              </a:rPr>
              <a:t>基于规则的工作流</a:t>
            </a:r>
            <a:endParaRPr sz="1200">
              <a:latin typeface="Microsoft YaHei"/>
              <a:cs typeface="Microsoft YaHei"/>
            </a:endParaRPr>
          </a:p>
          <a:p>
            <a:pPr marL="87630">
              <a:lnSpc>
                <a:spcPct val="100000"/>
              </a:lnSpc>
              <a:spcBef>
                <a:spcPts val="415"/>
              </a:spcBef>
            </a:pPr>
            <a:r>
              <a:rPr sz="1400" b="1" spc="-15" dirty="0">
                <a:latin typeface="Microsoft YaHei"/>
                <a:cs typeface="Microsoft YaHei"/>
              </a:rPr>
              <a:t>科研成果</a:t>
            </a:r>
            <a:endParaRPr sz="1400">
              <a:latin typeface="Microsoft YaHei"/>
              <a:cs typeface="Microsoft YaHei"/>
            </a:endParaRPr>
          </a:p>
          <a:p>
            <a:pPr marL="12700" marR="190500">
              <a:lnSpc>
                <a:spcPct val="100000"/>
              </a:lnSpc>
              <a:spcBef>
                <a:spcPts val="1025"/>
              </a:spcBef>
            </a:pPr>
            <a:r>
              <a:rPr sz="1400" dirty="0">
                <a:latin typeface="Microsoft YaHei"/>
                <a:cs typeface="Microsoft YaHei"/>
              </a:rPr>
              <a:t>智能体根据人类需求</a:t>
            </a:r>
            <a:r>
              <a:rPr sz="1400" b="1" dirty="0">
                <a:latin typeface="Microsoft YaHei"/>
                <a:cs typeface="Microsoft YaHei"/>
              </a:rPr>
              <a:t>自</a:t>
            </a:r>
            <a:r>
              <a:rPr sz="1400" b="1" spc="-5" dirty="0">
                <a:latin typeface="Microsoft YaHei"/>
                <a:cs typeface="Microsoft YaHei"/>
              </a:rPr>
              <a:t>动构建</a:t>
            </a:r>
            <a:r>
              <a:rPr sz="1400" b="1" spc="-10" dirty="0">
                <a:latin typeface="Microsoft YaHei"/>
                <a:cs typeface="Microsoft YaHei"/>
              </a:rPr>
              <a:t>workflow</a:t>
            </a:r>
            <a:r>
              <a:rPr sz="1400" spc="-5" dirty="0">
                <a:latin typeface="Microsoft YaHei"/>
                <a:cs typeface="Microsoft YaHei"/>
              </a:rPr>
              <a:t>，实</a:t>
            </a:r>
            <a:r>
              <a:rPr sz="1400" spc="-15" dirty="0">
                <a:latin typeface="Microsoft YaHei"/>
                <a:cs typeface="Microsoft YaHei"/>
              </a:rPr>
              <a:t>现机械任务自动化，同</a:t>
            </a:r>
            <a:r>
              <a:rPr sz="1400" dirty="0">
                <a:latin typeface="Microsoft YaHei"/>
                <a:cs typeface="Microsoft YaHei"/>
              </a:rPr>
              <a:t>时将智能体编入 </a:t>
            </a:r>
            <a:r>
              <a:rPr sz="1400" spc="-5" dirty="0">
                <a:latin typeface="Microsoft YaHei"/>
                <a:cs typeface="Microsoft YaHei"/>
              </a:rPr>
              <a:t>workflow中进行</a:t>
            </a:r>
            <a:r>
              <a:rPr sz="1400" b="1" dirty="0">
                <a:latin typeface="Microsoft YaHei"/>
                <a:cs typeface="Microsoft YaHei"/>
              </a:rPr>
              <a:t>动</a:t>
            </a:r>
            <a:endParaRPr sz="1400">
              <a:latin typeface="Microsoft YaHei"/>
              <a:cs typeface="Microsoft YaHe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400" b="1" spc="-20" dirty="0">
                <a:latin typeface="Microsoft YaHei"/>
                <a:cs typeface="Microsoft YaHei"/>
              </a:rPr>
              <a:t>态决策</a:t>
            </a:r>
            <a:endParaRPr sz="1400">
              <a:latin typeface="Microsoft YaHei"/>
              <a:cs typeface="Microsoft YaHei"/>
            </a:endParaRPr>
          </a:p>
          <a:p>
            <a:pPr marL="211454">
              <a:lnSpc>
                <a:spcPct val="100000"/>
              </a:lnSpc>
              <a:spcBef>
                <a:spcPts val="645"/>
              </a:spcBef>
            </a:pPr>
            <a:r>
              <a:rPr sz="1100" b="1" spc="-25" dirty="0">
                <a:latin typeface="Microsoft YaHei"/>
                <a:cs typeface="Microsoft YaHei"/>
              </a:rPr>
              <a:t>668</a:t>
            </a:r>
            <a:endParaRPr sz="1100">
              <a:latin typeface="Microsoft YaHei"/>
              <a:cs typeface="Microsoft YaHei"/>
            </a:endParaRPr>
          </a:p>
        </p:txBody>
      </p:sp>
      <p:sp>
        <p:nvSpPr>
          <p:cNvPr id="115" name="object 70">
            <a:extLst>
              <a:ext uri="{FF2B5EF4-FFF2-40B4-BE49-F238E27FC236}">
                <a16:creationId xmlns:a16="http://schemas.microsoft.com/office/drawing/2014/main" id="{C4B757DF-4BF1-A980-98AB-0638B7EA7D75}"/>
              </a:ext>
            </a:extLst>
          </p:cNvPr>
          <p:cNvSpPr txBox="1"/>
          <p:nvPr/>
        </p:nvSpPr>
        <p:spPr>
          <a:xfrm>
            <a:off x="9764648" y="3684058"/>
            <a:ext cx="138303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Microsoft YaHei"/>
                <a:cs typeface="Microsoft YaHei"/>
              </a:rPr>
              <a:t>基于Agent</a:t>
            </a:r>
            <a:r>
              <a:rPr sz="1200" spc="-15" dirty="0">
                <a:latin typeface="Microsoft YaHei"/>
                <a:cs typeface="Microsoft YaHei"/>
              </a:rPr>
              <a:t>的工作流</a:t>
            </a:r>
            <a:endParaRPr sz="1200">
              <a:latin typeface="Microsoft YaHei"/>
              <a:cs typeface="Microsoft YaHei"/>
            </a:endParaRPr>
          </a:p>
        </p:txBody>
      </p:sp>
      <p:grpSp>
        <p:nvGrpSpPr>
          <p:cNvPr id="116" name="object 23">
            <a:extLst>
              <a:ext uri="{FF2B5EF4-FFF2-40B4-BE49-F238E27FC236}">
                <a16:creationId xmlns:a16="http://schemas.microsoft.com/office/drawing/2014/main" id="{C96CCDC7-EB3D-44FB-50F8-48112348D5A5}"/>
              </a:ext>
            </a:extLst>
          </p:cNvPr>
          <p:cNvGrpSpPr/>
          <p:nvPr/>
        </p:nvGrpSpPr>
        <p:grpSpPr>
          <a:xfrm>
            <a:off x="6715632" y="4938615"/>
            <a:ext cx="5153025" cy="1344930"/>
            <a:chOff x="6715632" y="4970145"/>
            <a:chExt cx="5153025" cy="1344930"/>
          </a:xfrm>
        </p:grpSpPr>
        <p:pic>
          <p:nvPicPr>
            <p:cNvPr id="117" name="object 24">
              <a:extLst>
                <a:ext uri="{FF2B5EF4-FFF2-40B4-BE49-F238E27FC236}">
                  <a16:creationId xmlns:a16="http://schemas.microsoft.com/office/drawing/2014/main" id="{B43A97C0-5FAB-2F10-BF1E-95E420627D1E}"/>
                </a:ext>
              </a:extLst>
            </p:cNvPr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8205596" y="5115052"/>
              <a:ext cx="201675" cy="113792"/>
            </a:xfrm>
            <a:prstGeom prst="rect">
              <a:avLst/>
            </a:prstGeom>
          </p:spPr>
        </p:pic>
        <p:pic>
          <p:nvPicPr>
            <p:cNvPr id="118" name="object 25">
              <a:extLst>
                <a:ext uri="{FF2B5EF4-FFF2-40B4-BE49-F238E27FC236}">
                  <a16:creationId xmlns:a16="http://schemas.microsoft.com/office/drawing/2014/main" id="{72987626-A472-3B0D-51E4-B15A598685DA}"/>
                </a:ext>
              </a:extLst>
            </p:cNvPr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10140441" y="5097272"/>
              <a:ext cx="201802" cy="113791"/>
            </a:xfrm>
            <a:prstGeom prst="rect">
              <a:avLst/>
            </a:prstGeom>
          </p:spPr>
        </p:pic>
        <p:sp>
          <p:nvSpPr>
            <p:cNvPr id="119" name="object 26">
              <a:extLst>
                <a:ext uri="{FF2B5EF4-FFF2-40B4-BE49-F238E27FC236}">
                  <a16:creationId xmlns:a16="http://schemas.microsoft.com/office/drawing/2014/main" id="{AEAB8425-228A-992D-98B2-476066DF0402}"/>
                </a:ext>
              </a:extLst>
            </p:cNvPr>
            <p:cNvSpPr/>
            <p:nvPr/>
          </p:nvSpPr>
          <p:spPr>
            <a:xfrm>
              <a:off x="6999858" y="5125593"/>
              <a:ext cx="269875" cy="269875"/>
            </a:xfrm>
            <a:custGeom>
              <a:avLst/>
              <a:gdLst/>
              <a:ahLst/>
              <a:cxnLst/>
              <a:rect l="l" t="t" r="r" b="b"/>
              <a:pathLst>
                <a:path w="269875" h="269875">
                  <a:moveTo>
                    <a:pt x="0" y="44957"/>
                  </a:moveTo>
                  <a:lnTo>
                    <a:pt x="3542" y="27431"/>
                  </a:lnTo>
                  <a:lnTo>
                    <a:pt x="13192" y="13144"/>
                  </a:lnTo>
                  <a:lnTo>
                    <a:pt x="27485" y="3524"/>
                  </a:lnTo>
                  <a:lnTo>
                    <a:pt x="44958" y="0"/>
                  </a:lnTo>
                  <a:lnTo>
                    <a:pt x="224663" y="0"/>
                  </a:lnTo>
                  <a:lnTo>
                    <a:pt x="242189" y="3524"/>
                  </a:lnTo>
                  <a:lnTo>
                    <a:pt x="256476" y="13144"/>
                  </a:lnTo>
                  <a:lnTo>
                    <a:pt x="266096" y="27431"/>
                  </a:lnTo>
                  <a:lnTo>
                    <a:pt x="269621" y="44957"/>
                  </a:lnTo>
                  <a:lnTo>
                    <a:pt x="269621" y="224662"/>
                  </a:lnTo>
                  <a:lnTo>
                    <a:pt x="266096" y="242135"/>
                  </a:lnTo>
                  <a:lnTo>
                    <a:pt x="256476" y="256428"/>
                  </a:lnTo>
                  <a:lnTo>
                    <a:pt x="242189" y="266078"/>
                  </a:lnTo>
                  <a:lnTo>
                    <a:pt x="224663" y="269620"/>
                  </a:lnTo>
                  <a:lnTo>
                    <a:pt x="44958" y="269620"/>
                  </a:lnTo>
                  <a:lnTo>
                    <a:pt x="27485" y="266078"/>
                  </a:lnTo>
                  <a:lnTo>
                    <a:pt x="13192" y="256428"/>
                  </a:lnTo>
                  <a:lnTo>
                    <a:pt x="3542" y="242135"/>
                  </a:lnTo>
                  <a:lnTo>
                    <a:pt x="0" y="224662"/>
                  </a:lnTo>
                  <a:lnTo>
                    <a:pt x="0" y="44957"/>
                  </a:lnTo>
                  <a:close/>
                </a:path>
              </a:pathLst>
            </a:custGeom>
            <a:ln w="19050">
              <a:solidFill>
                <a:srgbClr val="2E549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0" name="object 27">
              <a:extLst>
                <a:ext uri="{FF2B5EF4-FFF2-40B4-BE49-F238E27FC236}">
                  <a16:creationId xmlns:a16="http://schemas.microsoft.com/office/drawing/2014/main" id="{78924EF1-7CF2-615E-DD2D-DBF1D517595E}"/>
                </a:ext>
              </a:extLst>
            </p:cNvPr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7273162" y="5044186"/>
              <a:ext cx="346328" cy="435863"/>
            </a:xfrm>
            <a:prstGeom prst="rect">
              <a:avLst/>
            </a:prstGeom>
          </p:spPr>
        </p:pic>
        <p:sp>
          <p:nvSpPr>
            <p:cNvPr id="121" name="object 28">
              <a:extLst>
                <a:ext uri="{FF2B5EF4-FFF2-40B4-BE49-F238E27FC236}">
                  <a16:creationId xmlns:a16="http://schemas.microsoft.com/office/drawing/2014/main" id="{7B9C0720-F5CE-E998-C7C4-A69988C1B37D}"/>
                </a:ext>
              </a:extLst>
            </p:cNvPr>
            <p:cNvSpPr/>
            <p:nvPr/>
          </p:nvSpPr>
          <p:spPr>
            <a:xfrm>
              <a:off x="6715632" y="5707913"/>
              <a:ext cx="1212850" cy="607695"/>
            </a:xfrm>
            <a:custGeom>
              <a:avLst/>
              <a:gdLst/>
              <a:ahLst/>
              <a:cxnLst/>
              <a:rect l="l" t="t" r="r" b="b"/>
              <a:pathLst>
                <a:path w="1212850" h="607695">
                  <a:moveTo>
                    <a:pt x="1111377" y="0"/>
                  </a:moveTo>
                  <a:lnTo>
                    <a:pt x="101092" y="0"/>
                  </a:lnTo>
                  <a:lnTo>
                    <a:pt x="61722" y="7951"/>
                  </a:lnTo>
                  <a:lnTo>
                    <a:pt x="29591" y="29635"/>
                  </a:lnTo>
                  <a:lnTo>
                    <a:pt x="7937" y="61797"/>
                  </a:lnTo>
                  <a:lnTo>
                    <a:pt x="0" y="101180"/>
                  </a:lnTo>
                  <a:lnTo>
                    <a:pt x="0" y="505904"/>
                  </a:lnTo>
                  <a:lnTo>
                    <a:pt x="7937" y="545288"/>
                  </a:lnTo>
                  <a:lnTo>
                    <a:pt x="29591" y="577449"/>
                  </a:lnTo>
                  <a:lnTo>
                    <a:pt x="61722" y="599134"/>
                  </a:lnTo>
                  <a:lnTo>
                    <a:pt x="101092" y="607085"/>
                  </a:lnTo>
                  <a:lnTo>
                    <a:pt x="1111377" y="607085"/>
                  </a:lnTo>
                  <a:lnTo>
                    <a:pt x="1150766" y="599134"/>
                  </a:lnTo>
                  <a:lnTo>
                    <a:pt x="1182941" y="577449"/>
                  </a:lnTo>
                  <a:lnTo>
                    <a:pt x="1204638" y="545288"/>
                  </a:lnTo>
                  <a:lnTo>
                    <a:pt x="1212596" y="505904"/>
                  </a:lnTo>
                  <a:lnTo>
                    <a:pt x="1212596" y="101180"/>
                  </a:lnTo>
                  <a:lnTo>
                    <a:pt x="1204638" y="61797"/>
                  </a:lnTo>
                  <a:lnTo>
                    <a:pt x="1182941" y="29635"/>
                  </a:lnTo>
                  <a:lnTo>
                    <a:pt x="1150766" y="7951"/>
                  </a:lnTo>
                  <a:lnTo>
                    <a:pt x="1111377" y="0"/>
                  </a:lnTo>
                  <a:close/>
                </a:path>
              </a:pathLst>
            </a:custGeom>
            <a:solidFill>
              <a:srgbClr val="DAE2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3" name="object 29">
              <a:extLst>
                <a:ext uri="{FF2B5EF4-FFF2-40B4-BE49-F238E27FC236}">
                  <a16:creationId xmlns:a16="http://schemas.microsoft.com/office/drawing/2014/main" id="{57FB98FE-A4AC-4846-69DE-848689964073}"/>
                </a:ext>
              </a:extLst>
            </p:cNvPr>
            <p:cNvSpPr/>
            <p:nvPr/>
          </p:nvSpPr>
          <p:spPr>
            <a:xfrm>
              <a:off x="6997445" y="5745708"/>
              <a:ext cx="519430" cy="408305"/>
            </a:xfrm>
            <a:custGeom>
              <a:avLst/>
              <a:gdLst/>
              <a:ahLst/>
              <a:cxnLst/>
              <a:rect l="l" t="t" r="r" b="b"/>
              <a:pathLst>
                <a:path w="519429" h="408304">
                  <a:moveTo>
                    <a:pt x="0" y="183464"/>
                  </a:moveTo>
                  <a:lnTo>
                    <a:pt x="3524" y="165974"/>
                  </a:lnTo>
                  <a:lnTo>
                    <a:pt x="13144" y="151691"/>
                  </a:lnTo>
                  <a:lnTo>
                    <a:pt x="27431" y="142062"/>
                  </a:lnTo>
                  <a:lnTo>
                    <a:pt x="44957" y="138531"/>
                  </a:lnTo>
                  <a:lnTo>
                    <a:pt x="224662" y="138531"/>
                  </a:lnTo>
                  <a:lnTo>
                    <a:pt x="242135" y="142062"/>
                  </a:lnTo>
                  <a:lnTo>
                    <a:pt x="256428" y="151691"/>
                  </a:lnTo>
                  <a:lnTo>
                    <a:pt x="266078" y="165974"/>
                  </a:lnTo>
                  <a:lnTo>
                    <a:pt x="269621" y="183464"/>
                  </a:lnTo>
                  <a:lnTo>
                    <a:pt x="269621" y="363194"/>
                  </a:lnTo>
                  <a:lnTo>
                    <a:pt x="266078" y="380686"/>
                  </a:lnTo>
                  <a:lnTo>
                    <a:pt x="256428" y="394973"/>
                  </a:lnTo>
                  <a:lnTo>
                    <a:pt x="242135" y="404606"/>
                  </a:lnTo>
                  <a:lnTo>
                    <a:pt x="224662" y="408139"/>
                  </a:lnTo>
                  <a:lnTo>
                    <a:pt x="44957" y="408139"/>
                  </a:lnTo>
                  <a:lnTo>
                    <a:pt x="27431" y="404606"/>
                  </a:lnTo>
                  <a:lnTo>
                    <a:pt x="13144" y="394973"/>
                  </a:lnTo>
                  <a:lnTo>
                    <a:pt x="3524" y="380686"/>
                  </a:lnTo>
                  <a:lnTo>
                    <a:pt x="0" y="363194"/>
                  </a:lnTo>
                  <a:lnTo>
                    <a:pt x="0" y="183464"/>
                  </a:lnTo>
                  <a:close/>
                </a:path>
                <a:path w="519429" h="408304">
                  <a:moveTo>
                    <a:pt x="448945" y="11696"/>
                  </a:moveTo>
                  <a:lnTo>
                    <a:pt x="448945" y="5232"/>
                  </a:lnTo>
                  <a:lnTo>
                    <a:pt x="454151" y="0"/>
                  </a:lnTo>
                  <a:lnTo>
                    <a:pt x="460628" y="0"/>
                  </a:lnTo>
                  <a:lnTo>
                    <a:pt x="507364" y="0"/>
                  </a:lnTo>
                  <a:lnTo>
                    <a:pt x="513842" y="0"/>
                  </a:lnTo>
                  <a:lnTo>
                    <a:pt x="519049" y="5232"/>
                  </a:lnTo>
                  <a:lnTo>
                    <a:pt x="519049" y="11696"/>
                  </a:lnTo>
                  <a:lnTo>
                    <a:pt x="519049" y="58483"/>
                  </a:lnTo>
                  <a:lnTo>
                    <a:pt x="519049" y="64935"/>
                  </a:lnTo>
                  <a:lnTo>
                    <a:pt x="513842" y="70180"/>
                  </a:lnTo>
                  <a:lnTo>
                    <a:pt x="507364" y="70180"/>
                  </a:lnTo>
                  <a:lnTo>
                    <a:pt x="460628" y="70180"/>
                  </a:lnTo>
                  <a:lnTo>
                    <a:pt x="454151" y="70180"/>
                  </a:lnTo>
                  <a:lnTo>
                    <a:pt x="448945" y="64935"/>
                  </a:lnTo>
                  <a:lnTo>
                    <a:pt x="448945" y="58483"/>
                  </a:lnTo>
                  <a:lnTo>
                    <a:pt x="448945" y="11696"/>
                  </a:lnTo>
                  <a:close/>
                </a:path>
                <a:path w="519429" h="408304">
                  <a:moveTo>
                    <a:pt x="451103" y="147942"/>
                  </a:moveTo>
                  <a:lnTo>
                    <a:pt x="451103" y="141935"/>
                  </a:lnTo>
                  <a:lnTo>
                    <a:pt x="456056" y="137071"/>
                  </a:lnTo>
                  <a:lnTo>
                    <a:pt x="462025" y="137071"/>
                  </a:lnTo>
                  <a:lnTo>
                    <a:pt x="505459" y="137071"/>
                  </a:lnTo>
                  <a:lnTo>
                    <a:pt x="511555" y="137071"/>
                  </a:lnTo>
                  <a:lnTo>
                    <a:pt x="516381" y="141935"/>
                  </a:lnTo>
                  <a:lnTo>
                    <a:pt x="516381" y="147942"/>
                  </a:lnTo>
                  <a:lnTo>
                    <a:pt x="516381" y="191427"/>
                  </a:lnTo>
                  <a:lnTo>
                    <a:pt x="516381" y="197421"/>
                  </a:lnTo>
                  <a:lnTo>
                    <a:pt x="511555" y="202298"/>
                  </a:lnTo>
                  <a:lnTo>
                    <a:pt x="505459" y="202298"/>
                  </a:lnTo>
                  <a:lnTo>
                    <a:pt x="462025" y="202298"/>
                  </a:lnTo>
                  <a:lnTo>
                    <a:pt x="456056" y="202298"/>
                  </a:lnTo>
                  <a:lnTo>
                    <a:pt x="451103" y="197421"/>
                  </a:lnTo>
                  <a:lnTo>
                    <a:pt x="451103" y="191427"/>
                  </a:lnTo>
                  <a:lnTo>
                    <a:pt x="451103" y="147942"/>
                  </a:lnTo>
                  <a:close/>
                </a:path>
              </a:pathLst>
            </a:custGeom>
            <a:ln w="19050">
              <a:solidFill>
                <a:srgbClr val="2E549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4" name="object 30">
              <a:extLst>
                <a:ext uri="{FF2B5EF4-FFF2-40B4-BE49-F238E27FC236}">
                  <a16:creationId xmlns:a16="http://schemas.microsoft.com/office/drawing/2014/main" id="{A3C6A8AF-7467-30C3-A97F-B431F53182C1}"/>
                </a:ext>
              </a:extLst>
            </p:cNvPr>
            <p:cNvSpPr/>
            <p:nvPr/>
          </p:nvSpPr>
          <p:spPr>
            <a:xfrm>
              <a:off x="7261987" y="5780798"/>
              <a:ext cx="186690" cy="243840"/>
            </a:xfrm>
            <a:custGeom>
              <a:avLst/>
              <a:gdLst/>
              <a:ahLst/>
              <a:cxnLst/>
              <a:rect l="l" t="t" r="r" b="b"/>
              <a:pathLst>
                <a:path w="186690" h="243839">
                  <a:moveTo>
                    <a:pt x="186563" y="134594"/>
                  </a:moveTo>
                  <a:lnTo>
                    <a:pt x="101600" y="139280"/>
                  </a:lnTo>
                  <a:lnTo>
                    <a:pt x="117284" y="166827"/>
                  </a:lnTo>
                  <a:lnTo>
                    <a:pt x="28689" y="217424"/>
                  </a:lnTo>
                  <a:lnTo>
                    <a:pt x="143624" y="64693"/>
                  </a:lnTo>
                  <a:lnTo>
                    <a:pt x="169037" y="83794"/>
                  </a:lnTo>
                  <a:lnTo>
                    <a:pt x="175793" y="46913"/>
                  </a:lnTo>
                  <a:lnTo>
                    <a:pt x="184404" y="0"/>
                  </a:lnTo>
                  <a:lnTo>
                    <a:pt x="108077" y="37960"/>
                  </a:lnTo>
                  <a:lnTo>
                    <a:pt x="133464" y="57061"/>
                  </a:lnTo>
                  <a:lnTo>
                    <a:pt x="0" y="234429"/>
                  </a:lnTo>
                  <a:lnTo>
                    <a:pt x="4965" y="238163"/>
                  </a:lnTo>
                  <a:lnTo>
                    <a:pt x="8128" y="243763"/>
                  </a:lnTo>
                  <a:lnTo>
                    <a:pt x="123596" y="177888"/>
                  </a:lnTo>
                  <a:lnTo>
                    <a:pt x="139319" y="205460"/>
                  </a:lnTo>
                  <a:lnTo>
                    <a:pt x="169252" y="160553"/>
                  </a:lnTo>
                  <a:lnTo>
                    <a:pt x="186563" y="134594"/>
                  </a:lnTo>
                  <a:close/>
                </a:path>
              </a:pathLst>
            </a:custGeom>
            <a:solidFill>
              <a:srgbClr val="2E549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5" name="object 31">
              <a:extLst>
                <a:ext uri="{FF2B5EF4-FFF2-40B4-BE49-F238E27FC236}">
                  <a16:creationId xmlns:a16="http://schemas.microsoft.com/office/drawing/2014/main" id="{AE8AE026-258B-CF95-1C12-EEE38BDB8AC2}"/>
                </a:ext>
              </a:extLst>
            </p:cNvPr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7224648" y="5554726"/>
              <a:ext cx="200278" cy="151333"/>
            </a:xfrm>
            <a:prstGeom prst="rect">
              <a:avLst/>
            </a:prstGeom>
          </p:spPr>
        </p:pic>
        <p:sp>
          <p:nvSpPr>
            <p:cNvPr id="126" name="object 32">
              <a:extLst>
                <a:ext uri="{FF2B5EF4-FFF2-40B4-BE49-F238E27FC236}">
                  <a16:creationId xmlns:a16="http://schemas.microsoft.com/office/drawing/2014/main" id="{DEAF6E9A-B801-F2FC-35CC-781739420DC0}"/>
                </a:ext>
              </a:extLst>
            </p:cNvPr>
            <p:cNvSpPr/>
            <p:nvPr/>
          </p:nvSpPr>
          <p:spPr>
            <a:xfrm>
              <a:off x="7451343" y="6032436"/>
              <a:ext cx="65405" cy="65405"/>
            </a:xfrm>
            <a:custGeom>
              <a:avLst/>
              <a:gdLst/>
              <a:ahLst/>
              <a:cxnLst/>
              <a:rect l="l" t="t" r="r" b="b"/>
              <a:pathLst>
                <a:path w="65404" h="65404">
                  <a:moveTo>
                    <a:pt x="0" y="10871"/>
                  </a:moveTo>
                  <a:lnTo>
                    <a:pt x="0" y="4864"/>
                  </a:lnTo>
                  <a:lnTo>
                    <a:pt x="4825" y="0"/>
                  </a:lnTo>
                  <a:lnTo>
                    <a:pt x="10795" y="0"/>
                  </a:lnTo>
                  <a:lnTo>
                    <a:pt x="54355" y="0"/>
                  </a:lnTo>
                  <a:lnTo>
                    <a:pt x="60325" y="0"/>
                  </a:lnTo>
                  <a:lnTo>
                    <a:pt x="65150" y="4864"/>
                  </a:lnTo>
                  <a:lnTo>
                    <a:pt x="65150" y="10871"/>
                  </a:lnTo>
                  <a:lnTo>
                    <a:pt x="65150" y="54355"/>
                  </a:lnTo>
                  <a:lnTo>
                    <a:pt x="65150" y="60363"/>
                  </a:lnTo>
                  <a:lnTo>
                    <a:pt x="60325" y="65227"/>
                  </a:lnTo>
                  <a:lnTo>
                    <a:pt x="54355" y="65227"/>
                  </a:lnTo>
                  <a:lnTo>
                    <a:pt x="10795" y="65227"/>
                  </a:lnTo>
                  <a:lnTo>
                    <a:pt x="4825" y="65227"/>
                  </a:lnTo>
                  <a:lnTo>
                    <a:pt x="0" y="60363"/>
                  </a:lnTo>
                  <a:lnTo>
                    <a:pt x="0" y="54355"/>
                  </a:lnTo>
                  <a:lnTo>
                    <a:pt x="0" y="10871"/>
                  </a:lnTo>
                  <a:close/>
                </a:path>
              </a:pathLst>
            </a:custGeom>
            <a:ln w="19050">
              <a:solidFill>
                <a:srgbClr val="2E549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7" name="object 33">
              <a:extLst>
                <a:ext uri="{FF2B5EF4-FFF2-40B4-BE49-F238E27FC236}">
                  <a16:creationId xmlns:a16="http://schemas.microsoft.com/office/drawing/2014/main" id="{C621AF8D-CB0A-A6C5-40CB-CBF74A7F8EE8}"/>
                </a:ext>
              </a:extLst>
            </p:cNvPr>
            <p:cNvSpPr/>
            <p:nvPr/>
          </p:nvSpPr>
          <p:spPr>
            <a:xfrm>
              <a:off x="7265542" y="6009627"/>
              <a:ext cx="186055" cy="74295"/>
            </a:xfrm>
            <a:custGeom>
              <a:avLst/>
              <a:gdLst/>
              <a:ahLst/>
              <a:cxnLst/>
              <a:rect l="l" t="t" r="r" b="b"/>
              <a:pathLst>
                <a:path w="186054" h="74295">
                  <a:moveTo>
                    <a:pt x="110285" y="43137"/>
                  </a:moveTo>
                  <a:lnTo>
                    <a:pt x="102615" y="73926"/>
                  </a:lnTo>
                  <a:lnTo>
                    <a:pt x="185800" y="55422"/>
                  </a:lnTo>
                  <a:lnTo>
                    <a:pt x="175025" y="46202"/>
                  </a:lnTo>
                  <a:lnTo>
                    <a:pt x="122554" y="46202"/>
                  </a:lnTo>
                  <a:lnTo>
                    <a:pt x="110285" y="43137"/>
                  </a:lnTo>
                  <a:close/>
                </a:path>
                <a:path w="186054" h="74295">
                  <a:moveTo>
                    <a:pt x="113360" y="30794"/>
                  </a:moveTo>
                  <a:lnTo>
                    <a:pt x="110285" y="43137"/>
                  </a:lnTo>
                  <a:lnTo>
                    <a:pt x="122554" y="46202"/>
                  </a:lnTo>
                  <a:lnTo>
                    <a:pt x="125729" y="33883"/>
                  </a:lnTo>
                  <a:lnTo>
                    <a:pt x="113360" y="30794"/>
                  </a:lnTo>
                  <a:close/>
                </a:path>
                <a:path w="186054" h="74295">
                  <a:moveTo>
                    <a:pt x="121030" y="0"/>
                  </a:moveTo>
                  <a:lnTo>
                    <a:pt x="113360" y="30794"/>
                  </a:lnTo>
                  <a:lnTo>
                    <a:pt x="125729" y="33883"/>
                  </a:lnTo>
                  <a:lnTo>
                    <a:pt x="122554" y="46202"/>
                  </a:lnTo>
                  <a:lnTo>
                    <a:pt x="175025" y="46202"/>
                  </a:lnTo>
                  <a:lnTo>
                    <a:pt x="121030" y="0"/>
                  </a:lnTo>
                  <a:close/>
                </a:path>
                <a:path w="186054" h="74295">
                  <a:moveTo>
                    <a:pt x="3048" y="3251"/>
                  </a:moveTo>
                  <a:lnTo>
                    <a:pt x="0" y="15582"/>
                  </a:lnTo>
                  <a:lnTo>
                    <a:pt x="110285" y="43137"/>
                  </a:lnTo>
                  <a:lnTo>
                    <a:pt x="113360" y="30794"/>
                  </a:lnTo>
                  <a:lnTo>
                    <a:pt x="3048" y="3251"/>
                  </a:lnTo>
                  <a:close/>
                </a:path>
              </a:pathLst>
            </a:custGeom>
            <a:solidFill>
              <a:srgbClr val="2E549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8" name="object 34">
              <a:extLst>
                <a:ext uri="{FF2B5EF4-FFF2-40B4-BE49-F238E27FC236}">
                  <a16:creationId xmlns:a16="http://schemas.microsoft.com/office/drawing/2014/main" id="{F60D7CD7-4749-CA31-2434-FBE892E01909}"/>
                </a:ext>
              </a:extLst>
            </p:cNvPr>
            <p:cNvSpPr/>
            <p:nvPr/>
          </p:nvSpPr>
          <p:spPr>
            <a:xfrm>
              <a:off x="7451343" y="6166040"/>
              <a:ext cx="65405" cy="65405"/>
            </a:xfrm>
            <a:custGeom>
              <a:avLst/>
              <a:gdLst/>
              <a:ahLst/>
              <a:cxnLst/>
              <a:rect l="l" t="t" r="r" b="b"/>
              <a:pathLst>
                <a:path w="65404" h="65404">
                  <a:moveTo>
                    <a:pt x="0" y="10871"/>
                  </a:moveTo>
                  <a:lnTo>
                    <a:pt x="0" y="4864"/>
                  </a:lnTo>
                  <a:lnTo>
                    <a:pt x="4825" y="0"/>
                  </a:lnTo>
                  <a:lnTo>
                    <a:pt x="10795" y="0"/>
                  </a:lnTo>
                  <a:lnTo>
                    <a:pt x="54355" y="0"/>
                  </a:lnTo>
                  <a:lnTo>
                    <a:pt x="60325" y="0"/>
                  </a:lnTo>
                  <a:lnTo>
                    <a:pt x="65150" y="4864"/>
                  </a:lnTo>
                  <a:lnTo>
                    <a:pt x="65150" y="10871"/>
                  </a:lnTo>
                  <a:lnTo>
                    <a:pt x="65150" y="54356"/>
                  </a:lnTo>
                  <a:lnTo>
                    <a:pt x="65150" y="60363"/>
                  </a:lnTo>
                  <a:lnTo>
                    <a:pt x="60325" y="65227"/>
                  </a:lnTo>
                  <a:lnTo>
                    <a:pt x="54355" y="65227"/>
                  </a:lnTo>
                  <a:lnTo>
                    <a:pt x="10795" y="65227"/>
                  </a:lnTo>
                  <a:lnTo>
                    <a:pt x="4825" y="65227"/>
                  </a:lnTo>
                  <a:lnTo>
                    <a:pt x="0" y="60363"/>
                  </a:lnTo>
                  <a:lnTo>
                    <a:pt x="0" y="54356"/>
                  </a:lnTo>
                  <a:lnTo>
                    <a:pt x="0" y="10871"/>
                  </a:lnTo>
                  <a:close/>
                </a:path>
              </a:pathLst>
            </a:custGeom>
            <a:ln w="19049">
              <a:solidFill>
                <a:srgbClr val="2E549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9" name="object 35">
              <a:extLst>
                <a:ext uri="{FF2B5EF4-FFF2-40B4-BE49-F238E27FC236}">
                  <a16:creationId xmlns:a16="http://schemas.microsoft.com/office/drawing/2014/main" id="{F8F7BB67-1734-1FAE-7D0D-7D6ADE906C16}"/>
                </a:ext>
              </a:extLst>
            </p:cNvPr>
            <p:cNvSpPr/>
            <p:nvPr/>
          </p:nvSpPr>
          <p:spPr>
            <a:xfrm>
              <a:off x="7132193" y="5774474"/>
              <a:ext cx="514984" cy="431165"/>
            </a:xfrm>
            <a:custGeom>
              <a:avLst/>
              <a:gdLst/>
              <a:ahLst/>
              <a:cxnLst/>
              <a:rect l="l" t="t" r="r" b="b"/>
              <a:pathLst>
                <a:path w="514984" h="431164">
                  <a:moveTo>
                    <a:pt x="314325" y="12687"/>
                  </a:moveTo>
                  <a:lnTo>
                    <a:pt x="314198" y="0"/>
                  </a:lnTo>
                  <a:lnTo>
                    <a:pt x="284607" y="571"/>
                  </a:lnTo>
                  <a:lnTo>
                    <a:pt x="255143" y="2298"/>
                  </a:lnTo>
                  <a:lnTo>
                    <a:pt x="197866" y="8928"/>
                  </a:lnTo>
                  <a:lnTo>
                    <a:pt x="144272" y="19202"/>
                  </a:lnTo>
                  <a:lnTo>
                    <a:pt x="96266" y="32600"/>
                  </a:lnTo>
                  <a:lnTo>
                    <a:pt x="54610" y="48907"/>
                  </a:lnTo>
                  <a:lnTo>
                    <a:pt x="50469" y="52400"/>
                  </a:lnTo>
                  <a:lnTo>
                    <a:pt x="27432" y="29108"/>
                  </a:lnTo>
                  <a:lnTo>
                    <a:pt x="0" y="109778"/>
                  </a:lnTo>
                  <a:lnTo>
                    <a:pt x="81026" y="83286"/>
                  </a:lnTo>
                  <a:lnTo>
                    <a:pt x="67881" y="70002"/>
                  </a:lnTo>
                  <a:lnTo>
                    <a:pt x="59436" y="61468"/>
                  </a:lnTo>
                  <a:lnTo>
                    <a:pt x="60858" y="60261"/>
                  </a:lnTo>
                  <a:lnTo>
                    <a:pt x="99898" y="44754"/>
                  </a:lnTo>
                  <a:lnTo>
                    <a:pt x="147066" y="31610"/>
                  </a:lnTo>
                  <a:lnTo>
                    <a:pt x="199504" y="21526"/>
                  </a:lnTo>
                  <a:lnTo>
                    <a:pt x="256019" y="14986"/>
                  </a:lnTo>
                  <a:lnTo>
                    <a:pt x="285242" y="13258"/>
                  </a:lnTo>
                  <a:lnTo>
                    <a:pt x="314325" y="12687"/>
                  </a:lnTo>
                  <a:close/>
                </a:path>
                <a:path w="514984" h="431164">
                  <a:moveTo>
                    <a:pt x="319151" y="424180"/>
                  </a:moveTo>
                  <a:lnTo>
                    <a:pt x="305269" y="384403"/>
                  </a:lnTo>
                  <a:lnTo>
                    <a:pt x="291084" y="343712"/>
                  </a:lnTo>
                  <a:lnTo>
                    <a:pt x="268998" y="366420"/>
                  </a:lnTo>
                  <a:lnTo>
                    <a:pt x="139319" y="240017"/>
                  </a:lnTo>
                  <a:lnTo>
                    <a:pt x="130429" y="249110"/>
                  </a:lnTo>
                  <a:lnTo>
                    <a:pt x="260121" y="375526"/>
                  </a:lnTo>
                  <a:lnTo>
                    <a:pt x="237998" y="398272"/>
                  </a:lnTo>
                  <a:lnTo>
                    <a:pt x="319151" y="424180"/>
                  </a:lnTo>
                  <a:close/>
                </a:path>
                <a:path w="514984" h="431164">
                  <a:moveTo>
                    <a:pt x="437159" y="415048"/>
                  </a:moveTo>
                  <a:lnTo>
                    <a:pt x="405384" y="415048"/>
                  </a:lnTo>
                  <a:lnTo>
                    <a:pt x="405066" y="415048"/>
                  </a:lnTo>
                  <a:lnTo>
                    <a:pt x="394716" y="417118"/>
                  </a:lnTo>
                  <a:lnTo>
                    <a:pt x="394093" y="417118"/>
                  </a:lnTo>
                  <a:lnTo>
                    <a:pt x="383921" y="417868"/>
                  </a:lnTo>
                  <a:lnTo>
                    <a:pt x="384746" y="429653"/>
                  </a:lnTo>
                  <a:lnTo>
                    <a:pt x="384810" y="430542"/>
                  </a:lnTo>
                  <a:lnTo>
                    <a:pt x="396875" y="429653"/>
                  </a:lnTo>
                  <a:lnTo>
                    <a:pt x="409067" y="427215"/>
                  </a:lnTo>
                  <a:lnTo>
                    <a:pt x="421132" y="423151"/>
                  </a:lnTo>
                  <a:lnTo>
                    <a:pt x="432816" y="417626"/>
                  </a:lnTo>
                  <a:lnTo>
                    <a:pt x="437159" y="415048"/>
                  </a:lnTo>
                  <a:close/>
                </a:path>
                <a:path w="514984" h="431164">
                  <a:moveTo>
                    <a:pt x="443128" y="411518"/>
                  </a:moveTo>
                  <a:lnTo>
                    <a:pt x="416052" y="411518"/>
                  </a:lnTo>
                  <a:lnTo>
                    <a:pt x="415848" y="411518"/>
                  </a:lnTo>
                  <a:lnTo>
                    <a:pt x="405384" y="415048"/>
                  </a:lnTo>
                  <a:lnTo>
                    <a:pt x="405930" y="414896"/>
                  </a:lnTo>
                  <a:lnTo>
                    <a:pt x="437426" y="414896"/>
                  </a:lnTo>
                  <a:lnTo>
                    <a:pt x="443128" y="411518"/>
                  </a:lnTo>
                  <a:close/>
                </a:path>
                <a:path w="514984" h="431164">
                  <a:moveTo>
                    <a:pt x="514578" y="282244"/>
                  </a:moveTo>
                  <a:lnTo>
                    <a:pt x="513842" y="270713"/>
                  </a:lnTo>
                  <a:lnTo>
                    <a:pt x="513778" y="269722"/>
                  </a:lnTo>
                  <a:lnTo>
                    <a:pt x="513715" y="268643"/>
                  </a:lnTo>
                  <a:lnTo>
                    <a:pt x="503174" y="228130"/>
                  </a:lnTo>
                  <a:lnTo>
                    <a:pt x="482219" y="191770"/>
                  </a:lnTo>
                  <a:lnTo>
                    <a:pt x="473608" y="181190"/>
                  </a:lnTo>
                  <a:lnTo>
                    <a:pt x="473456" y="181000"/>
                  </a:lnTo>
                  <a:lnTo>
                    <a:pt x="472605" y="180124"/>
                  </a:lnTo>
                  <a:lnTo>
                    <a:pt x="463423" y="170637"/>
                  </a:lnTo>
                  <a:lnTo>
                    <a:pt x="454050" y="165239"/>
                  </a:lnTo>
                  <a:lnTo>
                    <a:pt x="456463" y="159283"/>
                  </a:lnTo>
                  <a:lnTo>
                    <a:pt x="466598" y="134239"/>
                  </a:lnTo>
                  <a:lnTo>
                    <a:pt x="381635" y="140931"/>
                  </a:lnTo>
                  <a:lnTo>
                    <a:pt x="438023" y="204863"/>
                  </a:lnTo>
                  <a:lnTo>
                    <a:pt x="449224" y="177165"/>
                  </a:lnTo>
                  <a:lnTo>
                    <a:pt x="455625" y="180873"/>
                  </a:lnTo>
                  <a:lnTo>
                    <a:pt x="485902" y="221068"/>
                  </a:lnTo>
                  <a:lnTo>
                    <a:pt x="495922" y="245389"/>
                  </a:lnTo>
                  <a:lnTo>
                    <a:pt x="495985" y="245541"/>
                  </a:lnTo>
                  <a:lnTo>
                    <a:pt x="498449" y="254876"/>
                  </a:lnTo>
                  <a:lnTo>
                    <a:pt x="499110" y="257187"/>
                  </a:lnTo>
                  <a:lnTo>
                    <a:pt x="501040" y="269722"/>
                  </a:lnTo>
                  <a:lnTo>
                    <a:pt x="501129" y="270332"/>
                  </a:lnTo>
                  <a:lnTo>
                    <a:pt x="501192" y="270713"/>
                  </a:lnTo>
                  <a:lnTo>
                    <a:pt x="501904" y="282244"/>
                  </a:lnTo>
                  <a:lnTo>
                    <a:pt x="491477" y="332447"/>
                  </a:lnTo>
                  <a:lnTo>
                    <a:pt x="464540" y="375958"/>
                  </a:lnTo>
                  <a:lnTo>
                    <a:pt x="456717" y="384098"/>
                  </a:lnTo>
                  <a:lnTo>
                    <a:pt x="456184" y="384695"/>
                  </a:lnTo>
                  <a:lnTo>
                    <a:pt x="446506" y="393395"/>
                  </a:lnTo>
                  <a:lnTo>
                    <a:pt x="437134" y="400240"/>
                  </a:lnTo>
                  <a:lnTo>
                    <a:pt x="426897" y="406374"/>
                  </a:lnTo>
                  <a:lnTo>
                    <a:pt x="416052" y="411518"/>
                  </a:lnTo>
                  <a:lnTo>
                    <a:pt x="416560" y="411302"/>
                  </a:lnTo>
                  <a:lnTo>
                    <a:pt x="443509" y="411302"/>
                  </a:lnTo>
                  <a:lnTo>
                    <a:pt x="444119" y="410933"/>
                  </a:lnTo>
                  <a:lnTo>
                    <a:pt x="474345" y="384098"/>
                  </a:lnTo>
                  <a:lnTo>
                    <a:pt x="497586" y="349745"/>
                  </a:lnTo>
                  <a:lnTo>
                    <a:pt x="511683" y="310248"/>
                  </a:lnTo>
                  <a:lnTo>
                    <a:pt x="514578" y="282930"/>
                  </a:lnTo>
                  <a:lnTo>
                    <a:pt x="514578" y="282244"/>
                  </a:lnTo>
                  <a:close/>
                </a:path>
              </a:pathLst>
            </a:custGeom>
            <a:solidFill>
              <a:srgbClr val="2E549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0" name="object 36">
              <a:extLst>
                <a:ext uri="{FF2B5EF4-FFF2-40B4-BE49-F238E27FC236}">
                  <a16:creationId xmlns:a16="http://schemas.microsoft.com/office/drawing/2014/main" id="{A65E1C6D-C126-524A-3D9C-1820384022E1}"/>
                </a:ext>
              </a:extLst>
            </p:cNvPr>
            <p:cNvSpPr/>
            <p:nvPr/>
          </p:nvSpPr>
          <p:spPr>
            <a:xfrm>
              <a:off x="8601582" y="5405501"/>
              <a:ext cx="419734" cy="419734"/>
            </a:xfrm>
            <a:custGeom>
              <a:avLst/>
              <a:gdLst/>
              <a:ahLst/>
              <a:cxnLst/>
              <a:rect l="l" t="t" r="r" b="b"/>
              <a:pathLst>
                <a:path w="419734" h="419735">
                  <a:moveTo>
                    <a:pt x="0" y="69850"/>
                  </a:moveTo>
                  <a:lnTo>
                    <a:pt x="5484" y="42648"/>
                  </a:lnTo>
                  <a:lnTo>
                    <a:pt x="20447" y="20446"/>
                  </a:lnTo>
                  <a:lnTo>
                    <a:pt x="42648" y="5484"/>
                  </a:lnTo>
                  <a:lnTo>
                    <a:pt x="69850" y="0"/>
                  </a:lnTo>
                  <a:lnTo>
                    <a:pt x="349250" y="0"/>
                  </a:lnTo>
                  <a:lnTo>
                    <a:pt x="376471" y="5484"/>
                  </a:lnTo>
                  <a:lnTo>
                    <a:pt x="398716" y="20447"/>
                  </a:lnTo>
                  <a:lnTo>
                    <a:pt x="413722" y="42648"/>
                  </a:lnTo>
                  <a:lnTo>
                    <a:pt x="419226" y="69850"/>
                  </a:lnTo>
                  <a:lnTo>
                    <a:pt x="419226" y="349262"/>
                  </a:lnTo>
                  <a:lnTo>
                    <a:pt x="413722" y="376455"/>
                  </a:lnTo>
                  <a:lnTo>
                    <a:pt x="398716" y="398662"/>
                  </a:lnTo>
                  <a:lnTo>
                    <a:pt x="376471" y="413635"/>
                  </a:lnTo>
                  <a:lnTo>
                    <a:pt x="349250" y="419125"/>
                  </a:lnTo>
                  <a:lnTo>
                    <a:pt x="69850" y="419125"/>
                  </a:lnTo>
                  <a:lnTo>
                    <a:pt x="42648" y="413635"/>
                  </a:lnTo>
                  <a:lnTo>
                    <a:pt x="20447" y="398662"/>
                  </a:lnTo>
                  <a:lnTo>
                    <a:pt x="5484" y="376455"/>
                  </a:lnTo>
                  <a:lnTo>
                    <a:pt x="0" y="349262"/>
                  </a:lnTo>
                  <a:lnTo>
                    <a:pt x="0" y="69850"/>
                  </a:lnTo>
                  <a:close/>
                </a:path>
              </a:pathLst>
            </a:custGeom>
            <a:ln w="19050">
              <a:solidFill>
                <a:srgbClr val="BE9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1" name="object 37">
              <a:extLst>
                <a:ext uri="{FF2B5EF4-FFF2-40B4-BE49-F238E27FC236}">
                  <a16:creationId xmlns:a16="http://schemas.microsoft.com/office/drawing/2014/main" id="{AF3799CC-1B38-5AA2-040E-EE80A11B767C}"/>
                </a:ext>
              </a:extLst>
            </p:cNvPr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8698310" y="5471325"/>
              <a:ext cx="237670" cy="287413"/>
            </a:xfrm>
            <a:prstGeom prst="rect">
              <a:avLst/>
            </a:prstGeom>
          </p:spPr>
        </p:pic>
        <p:pic>
          <p:nvPicPr>
            <p:cNvPr id="132" name="object 38">
              <a:extLst>
                <a:ext uri="{FF2B5EF4-FFF2-40B4-BE49-F238E27FC236}">
                  <a16:creationId xmlns:a16="http://schemas.microsoft.com/office/drawing/2014/main" id="{B261EDCA-EF07-940A-9B88-59401F9B5F0A}"/>
                </a:ext>
              </a:extLst>
            </p:cNvPr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9069196" y="4970145"/>
              <a:ext cx="438276" cy="438277"/>
            </a:xfrm>
            <a:prstGeom prst="rect">
              <a:avLst/>
            </a:prstGeom>
          </p:spPr>
        </p:pic>
        <p:pic>
          <p:nvPicPr>
            <p:cNvPr id="133" name="object 39">
              <a:extLst>
                <a:ext uri="{FF2B5EF4-FFF2-40B4-BE49-F238E27FC236}">
                  <a16:creationId xmlns:a16="http://schemas.microsoft.com/office/drawing/2014/main" id="{9EDCB23B-894B-F645-F4B7-D168EB906858}"/>
                </a:ext>
              </a:extLst>
            </p:cNvPr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9075800" y="5809919"/>
              <a:ext cx="438276" cy="438238"/>
            </a:xfrm>
            <a:prstGeom prst="rect">
              <a:avLst/>
            </a:prstGeom>
          </p:spPr>
        </p:pic>
        <p:pic>
          <p:nvPicPr>
            <p:cNvPr id="134" name="object 40">
              <a:extLst>
                <a:ext uri="{FF2B5EF4-FFF2-40B4-BE49-F238E27FC236}">
                  <a16:creationId xmlns:a16="http://schemas.microsoft.com/office/drawing/2014/main" id="{7BD986DF-EC4A-B693-A52B-5EA4B098E375}"/>
                </a:ext>
              </a:extLst>
            </p:cNvPr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9549637" y="5385435"/>
              <a:ext cx="438150" cy="438238"/>
            </a:xfrm>
            <a:prstGeom prst="rect">
              <a:avLst/>
            </a:prstGeom>
          </p:spPr>
        </p:pic>
        <p:sp>
          <p:nvSpPr>
            <p:cNvPr id="135" name="object 41">
              <a:extLst>
                <a:ext uri="{FF2B5EF4-FFF2-40B4-BE49-F238E27FC236}">
                  <a16:creationId xmlns:a16="http://schemas.microsoft.com/office/drawing/2014/main" id="{FE31AC4B-90B2-3BF2-1560-0C9D1E5C0820}"/>
                </a:ext>
              </a:extLst>
            </p:cNvPr>
            <p:cNvSpPr/>
            <p:nvPr/>
          </p:nvSpPr>
          <p:spPr>
            <a:xfrm>
              <a:off x="8796909" y="5164962"/>
              <a:ext cx="993775" cy="890905"/>
            </a:xfrm>
            <a:custGeom>
              <a:avLst/>
              <a:gdLst/>
              <a:ahLst/>
              <a:cxnLst/>
              <a:rect l="l" t="t" r="r" b="b"/>
              <a:pathLst>
                <a:path w="993775" h="890904">
                  <a:moveTo>
                    <a:pt x="281940" y="24384"/>
                  </a:moveTo>
                  <a:lnTo>
                    <a:pt x="200279" y="0"/>
                  </a:lnTo>
                  <a:lnTo>
                    <a:pt x="205371" y="28994"/>
                  </a:lnTo>
                  <a:lnTo>
                    <a:pt x="194437" y="31750"/>
                  </a:lnTo>
                  <a:lnTo>
                    <a:pt x="158750" y="48653"/>
                  </a:lnTo>
                  <a:lnTo>
                    <a:pt x="115214" y="77812"/>
                  </a:lnTo>
                  <a:lnTo>
                    <a:pt x="77343" y="113665"/>
                  </a:lnTo>
                  <a:lnTo>
                    <a:pt x="46609" y="154813"/>
                  </a:lnTo>
                  <a:lnTo>
                    <a:pt x="24257" y="200152"/>
                  </a:lnTo>
                  <a:lnTo>
                    <a:pt x="12446" y="247904"/>
                  </a:lnTo>
                  <a:lnTo>
                    <a:pt x="10922" y="272034"/>
                  </a:lnTo>
                  <a:lnTo>
                    <a:pt x="29845" y="272542"/>
                  </a:lnTo>
                  <a:lnTo>
                    <a:pt x="30187" y="261950"/>
                  </a:lnTo>
                  <a:lnTo>
                    <a:pt x="31191" y="251714"/>
                  </a:lnTo>
                  <a:lnTo>
                    <a:pt x="42519" y="205828"/>
                  </a:lnTo>
                  <a:lnTo>
                    <a:pt x="46609" y="195834"/>
                  </a:lnTo>
                  <a:lnTo>
                    <a:pt x="46723" y="195541"/>
                  </a:lnTo>
                  <a:lnTo>
                    <a:pt x="76390" y="144868"/>
                  </a:lnTo>
                  <a:lnTo>
                    <a:pt x="108737" y="108775"/>
                  </a:lnTo>
                  <a:lnTo>
                    <a:pt x="146380" y="78422"/>
                  </a:lnTo>
                  <a:lnTo>
                    <a:pt x="167703" y="65379"/>
                  </a:lnTo>
                  <a:lnTo>
                    <a:pt x="168402" y="65024"/>
                  </a:lnTo>
                  <a:lnTo>
                    <a:pt x="190119" y="54241"/>
                  </a:lnTo>
                  <a:lnTo>
                    <a:pt x="200253" y="50038"/>
                  </a:lnTo>
                  <a:lnTo>
                    <a:pt x="200964" y="49745"/>
                  </a:lnTo>
                  <a:lnTo>
                    <a:pt x="208686" y="47828"/>
                  </a:lnTo>
                  <a:lnTo>
                    <a:pt x="213487" y="75057"/>
                  </a:lnTo>
                  <a:lnTo>
                    <a:pt x="279704" y="26035"/>
                  </a:lnTo>
                  <a:lnTo>
                    <a:pt x="281940" y="24384"/>
                  </a:lnTo>
                  <a:close/>
                </a:path>
                <a:path w="993775" h="890904">
                  <a:moveTo>
                    <a:pt x="317271" y="864819"/>
                  </a:moveTo>
                  <a:lnTo>
                    <a:pt x="299974" y="864476"/>
                  </a:lnTo>
                  <a:lnTo>
                    <a:pt x="286423" y="863561"/>
                  </a:lnTo>
                  <a:lnTo>
                    <a:pt x="286258" y="863561"/>
                  </a:lnTo>
                  <a:lnTo>
                    <a:pt x="272745" y="862088"/>
                  </a:lnTo>
                  <a:lnTo>
                    <a:pt x="259524" y="860082"/>
                  </a:lnTo>
                  <a:lnTo>
                    <a:pt x="232943" y="854557"/>
                  </a:lnTo>
                  <a:lnTo>
                    <a:pt x="232791" y="854557"/>
                  </a:lnTo>
                  <a:lnTo>
                    <a:pt x="181292" y="837285"/>
                  </a:lnTo>
                  <a:lnTo>
                    <a:pt x="134112" y="813358"/>
                  </a:lnTo>
                  <a:lnTo>
                    <a:pt x="93472" y="783996"/>
                  </a:lnTo>
                  <a:lnTo>
                    <a:pt x="90868" y="781519"/>
                  </a:lnTo>
                  <a:lnTo>
                    <a:pt x="76111" y="767943"/>
                  </a:lnTo>
                  <a:lnTo>
                    <a:pt x="49047" y="734860"/>
                  </a:lnTo>
                  <a:lnTo>
                    <a:pt x="48628" y="734237"/>
                  </a:lnTo>
                  <a:lnTo>
                    <a:pt x="48171" y="733107"/>
                  </a:lnTo>
                  <a:lnTo>
                    <a:pt x="46685" y="729488"/>
                  </a:lnTo>
                  <a:lnTo>
                    <a:pt x="72898" y="721537"/>
                  </a:lnTo>
                  <a:lnTo>
                    <a:pt x="68465" y="716864"/>
                  </a:lnTo>
                  <a:lnTo>
                    <a:pt x="14351" y="659676"/>
                  </a:lnTo>
                  <a:lnTo>
                    <a:pt x="279" y="742010"/>
                  </a:lnTo>
                  <a:lnTo>
                    <a:pt x="228" y="742276"/>
                  </a:lnTo>
                  <a:lnTo>
                    <a:pt x="114" y="742950"/>
                  </a:lnTo>
                  <a:lnTo>
                    <a:pt x="0" y="743648"/>
                  </a:lnTo>
                  <a:lnTo>
                    <a:pt x="28308" y="735063"/>
                  </a:lnTo>
                  <a:lnTo>
                    <a:pt x="23876" y="724014"/>
                  </a:lnTo>
                  <a:lnTo>
                    <a:pt x="28232" y="734860"/>
                  </a:lnTo>
                  <a:lnTo>
                    <a:pt x="54102" y="772337"/>
                  </a:lnTo>
                  <a:lnTo>
                    <a:pt x="102108" y="814946"/>
                  </a:lnTo>
                  <a:lnTo>
                    <a:pt x="148717" y="843140"/>
                  </a:lnTo>
                  <a:lnTo>
                    <a:pt x="200406" y="864819"/>
                  </a:lnTo>
                  <a:lnTo>
                    <a:pt x="255778" y="878789"/>
                  </a:lnTo>
                  <a:lnTo>
                    <a:pt x="298704" y="883500"/>
                  </a:lnTo>
                  <a:lnTo>
                    <a:pt x="312928" y="883793"/>
                  </a:lnTo>
                  <a:lnTo>
                    <a:pt x="313423" y="864819"/>
                  </a:lnTo>
                  <a:lnTo>
                    <a:pt x="317271" y="864819"/>
                  </a:lnTo>
                  <a:close/>
                </a:path>
                <a:path w="993775" h="890904">
                  <a:moveTo>
                    <a:pt x="529844" y="310007"/>
                  </a:moveTo>
                  <a:lnTo>
                    <a:pt x="523557" y="297561"/>
                  </a:lnTo>
                  <a:lnTo>
                    <a:pt x="523494" y="297434"/>
                  </a:lnTo>
                  <a:lnTo>
                    <a:pt x="491490" y="234061"/>
                  </a:lnTo>
                  <a:lnTo>
                    <a:pt x="453821" y="310007"/>
                  </a:lnTo>
                  <a:lnTo>
                    <a:pt x="453707" y="310248"/>
                  </a:lnTo>
                  <a:lnTo>
                    <a:pt x="453644" y="310388"/>
                  </a:lnTo>
                  <a:lnTo>
                    <a:pt x="482257" y="310248"/>
                  </a:lnTo>
                  <a:lnTo>
                    <a:pt x="501294" y="310159"/>
                  </a:lnTo>
                  <a:lnTo>
                    <a:pt x="529844" y="310007"/>
                  </a:lnTo>
                  <a:close/>
                </a:path>
                <a:path w="993775" h="890904">
                  <a:moveTo>
                    <a:pt x="535813" y="604837"/>
                  </a:moveTo>
                  <a:lnTo>
                    <a:pt x="507276" y="604837"/>
                  </a:lnTo>
                  <a:lnTo>
                    <a:pt x="507238" y="598893"/>
                  </a:lnTo>
                  <a:lnTo>
                    <a:pt x="507111" y="579640"/>
                  </a:lnTo>
                  <a:lnTo>
                    <a:pt x="506984" y="561187"/>
                  </a:lnTo>
                  <a:lnTo>
                    <a:pt x="506857" y="543826"/>
                  </a:lnTo>
                  <a:lnTo>
                    <a:pt x="506476" y="527418"/>
                  </a:lnTo>
                  <a:lnTo>
                    <a:pt x="506476" y="527100"/>
                  </a:lnTo>
                  <a:lnTo>
                    <a:pt x="506349" y="512064"/>
                  </a:lnTo>
                  <a:lnTo>
                    <a:pt x="506095" y="498932"/>
                  </a:lnTo>
                  <a:lnTo>
                    <a:pt x="505726" y="487057"/>
                  </a:lnTo>
                  <a:lnTo>
                    <a:pt x="505472" y="477024"/>
                  </a:lnTo>
                  <a:lnTo>
                    <a:pt x="505218" y="468807"/>
                  </a:lnTo>
                  <a:lnTo>
                    <a:pt x="505104" y="465848"/>
                  </a:lnTo>
                  <a:lnTo>
                    <a:pt x="504990" y="463029"/>
                  </a:lnTo>
                  <a:lnTo>
                    <a:pt x="504875" y="460717"/>
                  </a:lnTo>
                  <a:lnTo>
                    <a:pt x="504825" y="459549"/>
                  </a:lnTo>
                  <a:lnTo>
                    <a:pt x="504710" y="458685"/>
                  </a:lnTo>
                  <a:lnTo>
                    <a:pt x="504583" y="457746"/>
                  </a:lnTo>
                  <a:lnTo>
                    <a:pt x="504520" y="457161"/>
                  </a:lnTo>
                  <a:lnTo>
                    <a:pt x="504444" y="456222"/>
                  </a:lnTo>
                  <a:lnTo>
                    <a:pt x="504367" y="455180"/>
                  </a:lnTo>
                  <a:lnTo>
                    <a:pt x="504317" y="454431"/>
                  </a:lnTo>
                  <a:lnTo>
                    <a:pt x="503859" y="453771"/>
                  </a:lnTo>
                  <a:lnTo>
                    <a:pt x="503948" y="454431"/>
                  </a:lnTo>
                  <a:lnTo>
                    <a:pt x="503847" y="453771"/>
                  </a:lnTo>
                  <a:lnTo>
                    <a:pt x="503783" y="453478"/>
                  </a:lnTo>
                  <a:lnTo>
                    <a:pt x="503682" y="451891"/>
                  </a:lnTo>
                  <a:lnTo>
                    <a:pt x="503555" y="449300"/>
                  </a:lnTo>
                  <a:lnTo>
                    <a:pt x="503428" y="446074"/>
                  </a:lnTo>
                  <a:lnTo>
                    <a:pt x="503072" y="438518"/>
                  </a:lnTo>
                  <a:lnTo>
                    <a:pt x="501777" y="371094"/>
                  </a:lnTo>
                  <a:lnTo>
                    <a:pt x="501523" y="353949"/>
                  </a:lnTo>
                  <a:lnTo>
                    <a:pt x="501523" y="353695"/>
                  </a:lnTo>
                  <a:lnTo>
                    <a:pt x="501396" y="335407"/>
                  </a:lnTo>
                  <a:lnTo>
                    <a:pt x="501307" y="310248"/>
                  </a:lnTo>
                  <a:lnTo>
                    <a:pt x="482257" y="310248"/>
                  </a:lnTo>
                  <a:lnTo>
                    <a:pt x="482473" y="353949"/>
                  </a:lnTo>
                  <a:lnTo>
                    <a:pt x="483222" y="402463"/>
                  </a:lnTo>
                  <a:lnTo>
                    <a:pt x="484098" y="437883"/>
                  </a:lnTo>
                  <a:lnTo>
                    <a:pt x="484339" y="445858"/>
                  </a:lnTo>
                  <a:lnTo>
                    <a:pt x="484466" y="449300"/>
                  </a:lnTo>
                  <a:lnTo>
                    <a:pt x="484568" y="451586"/>
                  </a:lnTo>
                  <a:lnTo>
                    <a:pt x="484670" y="453478"/>
                  </a:lnTo>
                  <a:lnTo>
                    <a:pt x="484771" y="454431"/>
                  </a:lnTo>
                  <a:lnTo>
                    <a:pt x="484886" y="455561"/>
                  </a:lnTo>
                  <a:lnTo>
                    <a:pt x="484974" y="456222"/>
                  </a:lnTo>
                  <a:lnTo>
                    <a:pt x="485051" y="457581"/>
                  </a:lnTo>
                  <a:lnTo>
                    <a:pt x="485178" y="458685"/>
                  </a:lnTo>
                  <a:lnTo>
                    <a:pt x="485279" y="459549"/>
                  </a:lnTo>
                  <a:lnTo>
                    <a:pt x="485394" y="460476"/>
                  </a:lnTo>
                  <a:lnTo>
                    <a:pt x="485851" y="461175"/>
                  </a:lnTo>
                  <a:lnTo>
                    <a:pt x="486968" y="462813"/>
                  </a:lnTo>
                  <a:lnTo>
                    <a:pt x="487045" y="463029"/>
                  </a:lnTo>
                  <a:lnTo>
                    <a:pt x="486943" y="462813"/>
                  </a:lnTo>
                  <a:lnTo>
                    <a:pt x="485851" y="461175"/>
                  </a:lnTo>
                  <a:lnTo>
                    <a:pt x="485889" y="463029"/>
                  </a:lnTo>
                  <a:lnTo>
                    <a:pt x="486029" y="465442"/>
                  </a:lnTo>
                  <a:lnTo>
                    <a:pt x="486156" y="468807"/>
                  </a:lnTo>
                  <a:lnTo>
                    <a:pt x="486384" y="476389"/>
                  </a:lnTo>
                  <a:lnTo>
                    <a:pt x="486765" y="486537"/>
                  </a:lnTo>
                  <a:lnTo>
                    <a:pt x="487032" y="498475"/>
                  </a:lnTo>
                  <a:lnTo>
                    <a:pt x="487286" y="512064"/>
                  </a:lnTo>
                  <a:lnTo>
                    <a:pt x="487299" y="512419"/>
                  </a:lnTo>
                  <a:lnTo>
                    <a:pt x="487426" y="527418"/>
                  </a:lnTo>
                  <a:lnTo>
                    <a:pt x="487794" y="543521"/>
                  </a:lnTo>
                  <a:lnTo>
                    <a:pt x="487807" y="543826"/>
                  </a:lnTo>
                  <a:lnTo>
                    <a:pt x="487934" y="561187"/>
                  </a:lnTo>
                  <a:lnTo>
                    <a:pt x="488061" y="579640"/>
                  </a:lnTo>
                  <a:lnTo>
                    <a:pt x="488188" y="598893"/>
                  </a:lnTo>
                  <a:lnTo>
                    <a:pt x="488226" y="604837"/>
                  </a:lnTo>
                  <a:lnTo>
                    <a:pt x="459740" y="604837"/>
                  </a:lnTo>
                  <a:lnTo>
                    <a:pt x="498094" y="680910"/>
                  </a:lnTo>
                  <a:lnTo>
                    <a:pt x="529551" y="617448"/>
                  </a:lnTo>
                  <a:lnTo>
                    <a:pt x="535813" y="604837"/>
                  </a:lnTo>
                  <a:close/>
                </a:path>
                <a:path w="993775" h="890904">
                  <a:moveTo>
                    <a:pt x="993394" y="726414"/>
                  </a:moveTo>
                  <a:lnTo>
                    <a:pt x="988034" y="701319"/>
                  </a:lnTo>
                  <a:lnTo>
                    <a:pt x="975614" y="643102"/>
                  </a:lnTo>
                  <a:lnTo>
                    <a:pt x="919607" y="707313"/>
                  </a:lnTo>
                  <a:lnTo>
                    <a:pt x="946073" y="714171"/>
                  </a:lnTo>
                  <a:lnTo>
                    <a:pt x="943787" y="720483"/>
                  </a:lnTo>
                  <a:lnTo>
                    <a:pt x="944499" y="719328"/>
                  </a:lnTo>
                  <a:lnTo>
                    <a:pt x="943610" y="721004"/>
                  </a:lnTo>
                  <a:lnTo>
                    <a:pt x="943787" y="720483"/>
                  </a:lnTo>
                  <a:lnTo>
                    <a:pt x="938517" y="729170"/>
                  </a:lnTo>
                  <a:lnTo>
                    <a:pt x="932942" y="737450"/>
                  </a:lnTo>
                  <a:lnTo>
                    <a:pt x="919226" y="755065"/>
                  </a:lnTo>
                  <a:lnTo>
                    <a:pt x="902817" y="772452"/>
                  </a:lnTo>
                  <a:lnTo>
                    <a:pt x="888111" y="785647"/>
                  </a:lnTo>
                  <a:lnTo>
                    <a:pt x="886206" y="787425"/>
                  </a:lnTo>
                  <a:lnTo>
                    <a:pt x="885786" y="787768"/>
                  </a:lnTo>
                  <a:lnTo>
                    <a:pt x="885532" y="787933"/>
                  </a:lnTo>
                  <a:lnTo>
                    <a:pt x="867067" y="801865"/>
                  </a:lnTo>
                  <a:lnTo>
                    <a:pt x="866355" y="802373"/>
                  </a:lnTo>
                  <a:lnTo>
                    <a:pt x="846429" y="815149"/>
                  </a:lnTo>
                  <a:lnTo>
                    <a:pt x="846112" y="815289"/>
                  </a:lnTo>
                  <a:lnTo>
                    <a:pt x="824611" y="826719"/>
                  </a:lnTo>
                  <a:lnTo>
                    <a:pt x="802754" y="836180"/>
                  </a:lnTo>
                  <a:lnTo>
                    <a:pt x="781456" y="841908"/>
                  </a:lnTo>
                  <a:lnTo>
                    <a:pt x="777506" y="815289"/>
                  </a:lnTo>
                  <a:lnTo>
                    <a:pt x="777494" y="815149"/>
                  </a:lnTo>
                  <a:lnTo>
                    <a:pt x="707644" y="864082"/>
                  </a:lnTo>
                  <a:lnTo>
                    <a:pt x="788670" y="890511"/>
                  </a:lnTo>
                  <a:lnTo>
                    <a:pt x="784745" y="864082"/>
                  </a:lnTo>
                  <a:lnTo>
                    <a:pt x="784720" y="863904"/>
                  </a:lnTo>
                  <a:lnTo>
                    <a:pt x="784263" y="860882"/>
                  </a:lnTo>
                  <a:lnTo>
                    <a:pt x="809244" y="854138"/>
                  </a:lnTo>
                  <a:lnTo>
                    <a:pt x="833247" y="843711"/>
                  </a:lnTo>
                  <a:lnTo>
                    <a:pt x="847001" y="836383"/>
                  </a:lnTo>
                  <a:lnTo>
                    <a:pt x="847852" y="835926"/>
                  </a:lnTo>
                  <a:lnTo>
                    <a:pt x="856107" y="831532"/>
                  </a:lnTo>
                  <a:lnTo>
                    <a:pt x="864133" y="826389"/>
                  </a:lnTo>
                  <a:lnTo>
                    <a:pt x="877697" y="817702"/>
                  </a:lnTo>
                  <a:lnTo>
                    <a:pt x="898017" y="802373"/>
                  </a:lnTo>
                  <a:lnTo>
                    <a:pt x="933450" y="767803"/>
                  </a:lnTo>
                  <a:lnTo>
                    <a:pt x="961136" y="728573"/>
                  </a:lnTo>
                  <a:lnTo>
                    <a:pt x="961263" y="728370"/>
                  </a:lnTo>
                  <a:lnTo>
                    <a:pt x="963891" y="721004"/>
                  </a:lnTo>
                  <a:lnTo>
                    <a:pt x="964501" y="719328"/>
                  </a:lnTo>
                  <a:lnTo>
                    <a:pt x="964628" y="718972"/>
                  </a:lnTo>
                  <a:lnTo>
                    <a:pt x="993394" y="72641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6" name="object 42">
              <a:extLst>
                <a:ext uri="{FF2B5EF4-FFF2-40B4-BE49-F238E27FC236}">
                  <a16:creationId xmlns:a16="http://schemas.microsoft.com/office/drawing/2014/main" id="{B9C577AC-241A-8836-5F12-190C294D9298}"/>
                </a:ext>
              </a:extLst>
            </p:cNvPr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10543920" y="5182882"/>
              <a:ext cx="337642" cy="399021"/>
            </a:xfrm>
            <a:prstGeom prst="rect">
              <a:avLst/>
            </a:prstGeom>
          </p:spPr>
        </p:pic>
        <p:pic>
          <p:nvPicPr>
            <p:cNvPr id="137" name="object 43">
              <a:extLst>
                <a:ext uri="{FF2B5EF4-FFF2-40B4-BE49-F238E27FC236}">
                  <a16:creationId xmlns:a16="http://schemas.microsoft.com/office/drawing/2014/main" id="{57452344-928C-BDE1-2758-5A1ED1E36B7E}"/>
                </a:ext>
              </a:extLst>
            </p:cNvPr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11495150" y="5130215"/>
              <a:ext cx="372884" cy="457936"/>
            </a:xfrm>
            <a:prstGeom prst="rect">
              <a:avLst/>
            </a:prstGeom>
          </p:spPr>
        </p:pic>
        <p:sp>
          <p:nvSpPr>
            <p:cNvPr id="138" name="object 44">
              <a:extLst>
                <a:ext uri="{FF2B5EF4-FFF2-40B4-BE49-F238E27FC236}">
                  <a16:creationId xmlns:a16="http://schemas.microsoft.com/office/drawing/2014/main" id="{0D0ECEA7-51F5-2AC0-1E29-57AC39011F65}"/>
                </a:ext>
              </a:extLst>
            </p:cNvPr>
            <p:cNvSpPr/>
            <p:nvPr/>
          </p:nvSpPr>
          <p:spPr>
            <a:xfrm>
              <a:off x="10962513" y="5270881"/>
              <a:ext cx="494665" cy="252729"/>
            </a:xfrm>
            <a:custGeom>
              <a:avLst/>
              <a:gdLst/>
              <a:ahLst/>
              <a:cxnLst/>
              <a:rect l="l" t="t" r="r" b="b"/>
              <a:pathLst>
                <a:path w="494665" h="252729">
                  <a:moveTo>
                    <a:pt x="487553" y="117348"/>
                  </a:moveTo>
                  <a:lnTo>
                    <a:pt x="76200" y="117348"/>
                  </a:lnTo>
                  <a:lnTo>
                    <a:pt x="76200" y="85598"/>
                  </a:lnTo>
                  <a:lnTo>
                    <a:pt x="0" y="123698"/>
                  </a:lnTo>
                  <a:lnTo>
                    <a:pt x="76200" y="161798"/>
                  </a:lnTo>
                  <a:lnTo>
                    <a:pt x="76200" y="130048"/>
                  </a:lnTo>
                  <a:lnTo>
                    <a:pt x="487553" y="130048"/>
                  </a:lnTo>
                  <a:lnTo>
                    <a:pt x="487553" y="117348"/>
                  </a:lnTo>
                  <a:close/>
                </a:path>
                <a:path w="494665" h="252729">
                  <a:moveTo>
                    <a:pt x="487553" y="38100"/>
                  </a:moveTo>
                  <a:lnTo>
                    <a:pt x="474853" y="31750"/>
                  </a:lnTo>
                  <a:lnTo>
                    <a:pt x="411353" y="0"/>
                  </a:lnTo>
                  <a:lnTo>
                    <a:pt x="411353" y="31750"/>
                  </a:lnTo>
                  <a:lnTo>
                    <a:pt x="14859" y="31750"/>
                  </a:lnTo>
                  <a:lnTo>
                    <a:pt x="14859" y="44450"/>
                  </a:lnTo>
                  <a:lnTo>
                    <a:pt x="411353" y="44450"/>
                  </a:lnTo>
                  <a:lnTo>
                    <a:pt x="411353" y="76200"/>
                  </a:lnTo>
                  <a:lnTo>
                    <a:pt x="474853" y="44450"/>
                  </a:lnTo>
                  <a:lnTo>
                    <a:pt x="487553" y="38100"/>
                  </a:lnTo>
                  <a:close/>
                </a:path>
                <a:path w="494665" h="252729">
                  <a:moveTo>
                    <a:pt x="494665" y="214249"/>
                  </a:moveTo>
                  <a:lnTo>
                    <a:pt x="481965" y="207899"/>
                  </a:lnTo>
                  <a:lnTo>
                    <a:pt x="418465" y="176149"/>
                  </a:lnTo>
                  <a:lnTo>
                    <a:pt x="418465" y="207899"/>
                  </a:lnTo>
                  <a:lnTo>
                    <a:pt x="21971" y="207899"/>
                  </a:lnTo>
                  <a:lnTo>
                    <a:pt x="21971" y="220599"/>
                  </a:lnTo>
                  <a:lnTo>
                    <a:pt x="418465" y="220599"/>
                  </a:lnTo>
                  <a:lnTo>
                    <a:pt x="418465" y="252349"/>
                  </a:lnTo>
                  <a:lnTo>
                    <a:pt x="481965" y="220599"/>
                  </a:lnTo>
                  <a:lnTo>
                    <a:pt x="494665" y="21424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9" name="object 45">
              <a:extLst>
                <a:ext uri="{FF2B5EF4-FFF2-40B4-BE49-F238E27FC236}">
                  <a16:creationId xmlns:a16="http://schemas.microsoft.com/office/drawing/2014/main" id="{7788EC08-1805-FEEC-9F53-F025298F23FB}"/>
                </a:ext>
              </a:extLst>
            </p:cNvPr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11043665" y="5008651"/>
              <a:ext cx="273405" cy="273405"/>
            </a:xfrm>
            <a:prstGeom prst="rect">
              <a:avLst/>
            </a:prstGeom>
          </p:spPr>
        </p:pic>
        <p:pic>
          <p:nvPicPr>
            <p:cNvPr id="140" name="object 46">
              <a:extLst>
                <a:ext uri="{FF2B5EF4-FFF2-40B4-BE49-F238E27FC236}">
                  <a16:creationId xmlns:a16="http://schemas.microsoft.com/office/drawing/2014/main" id="{AC76A751-6CBC-0B8E-44E7-D321E10DA1E9}"/>
                </a:ext>
              </a:extLst>
            </p:cNvPr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10744580" y="5766168"/>
              <a:ext cx="952601" cy="541553"/>
            </a:xfrm>
            <a:prstGeom prst="rect">
              <a:avLst/>
            </a:prstGeom>
          </p:spPr>
        </p:pic>
        <p:sp>
          <p:nvSpPr>
            <p:cNvPr id="141" name="object 47">
              <a:extLst>
                <a:ext uri="{FF2B5EF4-FFF2-40B4-BE49-F238E27FC236}">
                  <a16:creationId xmlns:a16="http://schemas.microsoft.com/office/drawing/2014/main" id="{5B8286D7-957A-F2CC-5175-719C0460F5EB}"/>
                </a:ext>
              </a:extLst>
            </p:cNvPr>
            <p:cNvSpPr/>
            <p:nvPr/>
          </p:nvSpPr>
          <p:spPr>
            <a:xfrm>
              <a:off x="10712704" y="5572125"/>
              <a:ext cx="971550" cy="202565"/>
            </a:xfrm>
            <a:custGeom>
              <a:avLst/>
              <a:gdLst/>
              <a:ahLst/>
              <a:cxnLst/>
              <a:rect l="l" t="t" r="r" b="b"/>
              <a:pathLst>
                <a:path w="971550" h="202564">
                  <a:moveTo>
                    <a:pt x="971169" y="21958"/>
                  </a:moveTo>
                  <a:lnTo>
                    <a:pt x="966597" y="10160"/>
                  </a:lnTo>
                  <a:lnTo>
                    <a:pt x="576961" y="160667"/>
                  </a:lnTo>
                  <a:lnTo>
                    <a:pt x="565531" y="131038"/>
                  </a:lnTo>
                  <a:lnTo>
                    <a:pt x="508228" y="193929"/>
                  </a:lnTo>
                  <a:lnTo>
                    <a:pt x="510413" y="188074"/>
                  </a:lnTo>
                  <a:lnTo>
                    <a:pt x="73787" y="29819"/>
                  </a:lnTo>
                  <a:lnTo>
                    <a:pt x="75361" y="25476"/>
                  </a:lnTo>
                  <a:lnTo>
                    <a:pt x="84582" y="0"/>
                  </a:lnTo>
                  <a:lnTo>
                    <a:pt x="0" y="9779"/>
                  </a:lnTo>
                  <a:lnTo>
                    <a:pt x="58674" y="71602"/>
                  </a:lnTo>
                  <a:lnTo>
                    <a:pt x="69469" y="41757"/>
                  </a:lnTo>
                  <a:lnTo>
                    <a:pt x="505968" y="200012"/>
                  </a:lnTo>
                  <a:lnTo>
                    <a:pt x="508177" y="194056"/>
                  </a:lnTo>
                  <a:lnTo>
                    <a:pt x="592963" y="202120"/>
                  </a:lnTo>
                  <a:lnTo>
                    <a:pt x="583285" y="177076"/>
                  </a:lnTo>
                  <a:lnTo>
                    <a:pt x="581533" y="172516"/>
                  </a:lnTo>
                  <a:lnTo>
                    <a:pt x="971169" y="2195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2" name="object 48">
              <a:extLst>
                <a:ext uri="{FF2B5EF4-FFF2-40B4-BE49-F238E27FC236}">
                  <a16:creationId xmlns:a16="http://schemas.microsoft.com/office/drawing/2014/main" id="{5F742BC2-A14A-531E-E5AD-7134B63EB57F}"/>
                </a:ext>
              </a:extLst>
            </p:cNvPr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10575035" y="5646420"/>
              <a:ext cx="392429" cy="32080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57084312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29BE44-E076-9B19-6841-4B3F11206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3840DD7D-92CF-E97E-38AC-A7B5B4930159}"/>
              </a:ext>
            </a:extLst>
          </p:cNvPr>
          <p:cNvSpPr/>
          <p:nvPr/>
        </p:nvSpPr>
        <p:spPr>
          <a:xfrm>
            <a:off x="234082" y="384870"/>
            <a:ext cx="496852" cy="496851"/>
          </a:xfrm>
          <a:prstGeom prst="rect">
            <a:avLst/>
          </a:prstGeom>
          <a:solidFill>
            <a:srgbClr val="2E5696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05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55C975C-1F85-5E6C-2C42-ED0DA66F7052}"/>
              </a:ext>
            </a:extLst>
          </p:cNvPr>
          <p:cNvSpPr/>
          <p:nvPr/>
        </p:nvSpPr>
        <p:spPr>
          <a:xfrm>
            <a:off x="478878" y="651275"/>
            <a:ext cx="331236" cy="331236"/>
          </a:xfrm>
          <a:prstGeom prst="rect">
            <a:avLst/>
          </a:prstGeom>
          <a:solidFill>
            <a:srgbClr val="2E5696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05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8" name="TextBox 28">
            <a:extLst>
              <a:ext uri="{FF2B5EF4-FFF2-40B4-BE49-F238E27FC236}">
                <a16:creationId xmlns:a16="http://schemas.microsoft.com/office/drawing/2014/main" id="{2E5BA504-59A4-8FFF-7DD0-B75694406A97}"/>
              </a:ext>
            </a:extLst>
          </p:cNvPr>
          <p:cNvSpPr txBox="1"/>
          <p:nvPr/>
        </p:nvSpPr>
        <p:spPr>
          <a:xfrm>
            <a:off x="830709" y="330292"/>
            <a:ext cx="9806592" cy="660538"/>
          </a:xfrm>
          <a:prstGeom prst="rect">
            <a:avLst/>
          </a:prstGeom>
          <a:noFill/>
        </p:spPr>
        <p:txBody>
          <a:bodyPr wrap="square" lIns="105509" tIns="52755" rIns="105509" bIns="52755" rtlCol="0">
            <a:spAutoFit/>
          </a:bodyPr>
          <a:lstStyle/>
          <a:p>
            <a:pPr lvl="0">
              <a:defRPr/>
            </a:pPr>
            <a:r>
              <a:rPr lang="zh-CN" altLang="en-US" sz="3600" b="1" spc="300" dirty="0">
                <a:solidFill>
                  <a:srgbClr val="2E5696"/>
                </a:solidFill>
                <a:latin typeface="微软雅黑" panose="020B0503020204020204" charset="-122"/>
                <a:ea typeface="微软雅黑" panose="020B0503020204020204" charset="-122"/>
              </a:rPr>
              <a:t>大语言模型智能体的应用领域</a:t>
            </a:r>
          </a:p>
        </p:txBody>
      </p:sp>
      <p:cxnSp>
        <p:nvCxnSpPr>
          <p:cNvPr id="122" name="直接连接符 46">
            <a:extLst>
              <a:ext uri="{FF2B5EF4-FFF2-40B4-BE49-F238E27FC236}">
                <a16:creationId xmlns:a16="http://schemas.microsoft.com/office/drawing/2014/main" id="{DA120C8F-2634-0665-8512-87C119489FED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810340" y="982409"/>
            <a:ext cx="11135003" cy="0"/>
          </a:xfrm>
          <a:prstGeom prst="line">
            <a:avLst/>
          </a:prstGeom>
          <a:noFill/>
          <a:ln w="9525" cmpd="sng">
            <a:solidFill>
              <a:srgbClr val="4D4948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" name="object 29">
            <a:extLst>
              <a:ext uri="{FF2B5EF4-FFF2-40B4-BE49-F238E27FC236}">
                <a16:creationId xmlns:a16="http://schemas.microsoft.com/office/drawing/2014/main" id="{931659C6-B8B4-6D9E-9D12-B70955C17194}"/>
              </a:ext>
            </a:extLst>
          </p:cNvPr>
          <p:cNvSpPr txBox="1"/>
          <p:nvPr/>
        </p:nvSpPr>
        <p:spPr>
          <a:xfrm>
            <a:off x="522223" y="1054998"/>
            <a:ext cx="1073277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354965" algn="l"/>
              </a:tabLst>
            </a:pPr>
            <a:r>
              <a:rPr sz="2400" dirty="0">
                <a:latin typeface="Microsoft YaHei"/>
                <a:cs typeface="Microsoft YaHei"/>
              </a:rPr>
              <a:t>工作流存在</a:t>
            </a:r>
            <a:r>
              <a:rPr sz="2400" b="1" dirty="0">
                <a:solidFill>
                  <a:srgbClr val="0074DD"/>
                </a:solidFill>
                <a:latin typeface="Microsoft YaHei"/>
                <a:cs typeface="Microsoft YaHei"/>
              </a:rPr>
              <a:t>手工构建耗费人力、工作流动态性不足、任务经验无法重用</a:t>
            </a:r>
            <a:r>
              <a:rPr sz="2400" spc="-20" dirty="0">
                <a:latin typeface="Microsoft YaHei"/>
                <a:cs typeface="Microsoft YaHei"/>
              </a:rPr>
              <a:t>等挑战</a:t>
            </a:r>
            <a:endParaRPr sz="2400">
              <a:latin typeface="Microsoft YaHei"/>
              <a:cs typeface="Microsoft YaHei"/>
            </a:endParaRPr>
          </a:p>
        </p:txBody>
      </p:sp>
      <p:grpSp>
        <p:nvGrpSpPr>
          <p:cNvPr id="5" name="object 20">
            <a:extLst>
              <a:ext uri="{FF2B5EF4-FFF2-40B4-BE49-F238E27FC236}">
                <a16:creationId xmlns:a16="http://schemas.microsoft.com/office/drawing/2014/main" id="{F28DF6E3-F232-6222-F7D3-7C857E5A51BE}"/>
              </a:ext>
            </a:extLst>
          </p:cNvPr>
          <p:cNvGrpSpPr/>
          <p:nvPr/>
        </p:nvGrpSpPr>
        <p:grpSpPr>
          <a:xfrm>
            <a:off x="1246517" y="1617037"/>
            <a:ext cx="2566670" cy="4747260"/>
            <a:chOff x="1246517" y="1654873"/>
            <a:chExt cx="2566670" cy="4747260"/>
          </a:xfrm>
        </p:grpSpPr>
        <p:sp>
          <p:nvSpPr>
            <p:cNvPr id="6" name="object 21">
              <a:extLst>
                <a:ext uri="{FF2B5EF4-FFF2-40B4-BE49-F238E27FC236}">
                  <a16:creationId xmlns:a16="http://schemas.microsoft.com/office/drawing/2014/main" id="{ABA2DC2B-C854-427E-9628-3A527A47965C}"/>
                </a:ext>
              </a:extLst>
            </p:cNvPr>
            <p:cNvSpPr/>
            <p:nvPr/>
          </p:nvSpPr>
          <p:spPr>
            <a:xfrm>
              <a:off x="1260805" y="1847849"/>
              <a:ext cx="2538095" cy="4540250"/>
            </a:xfrm>
            <a:custGeom>
              <a:avLst/>
              <a:gdLst/>
              <a:ahLst/>
              <a:cxnLst/>
              <a:rect l="l" t="t" r="r" b="b"/>
              <a:pathLst>
                <a:path w="2538095" h="4540250">
                  <a:moveTo>
                    <a:pt x="0" y="78612"/>
                  </a:moveTo>
                  <a:lnTo>
                    <a:pt x="6181" y="48005"/>
                  </a:lnTo>
                  <a:lnTo>
                    <a:pt x="23028" y="23018"/>
                  </a:lnTo>
                  <a:lnTo>
                    <a:pt x="47995" y="6175"/>
                  </a:lnTo>
                  <a:lnTo>
                    <a:pt x="78536" y="0"/>
                  </a:lnTo>
                  <a:lnTo>
                    <a:pt x="2459024" y="0"/>
                  </a:lnTo>
                  <a:lnTo>
                    <a:pt x="2489611" y="6175"/>
                  </a:lnTo>
                  <a:lnTo>
                    <a:pt x="2514555" y="23018"/>
                  </a:lnTo>
                  <a:lnTo>
                    <a:pt x="2531355" y="48005"/>
                  </a:lnTo>
                  <a:lnTo>
                    <a:pt x="2537510" y="78612"/>
                  </a:lnTo>
                  <a:lnTo>
                    <a:pt x="2537510" y="4461103"/>
                  </a:lnTo>
                  <a:lnTo>
                    <a:pt x="2531355" y="4491671"/>
                  </a:lnTo>
                  <a:lnTo>
                    <a:pt x="2514555" y="4516635"/>
                  </a:lnTo>
                  <a:lnTo>
                    <a:pt x="2489611" y="4533468"/>
                  </a:lnTo>
                  <a:lnTo>
                    <a:pt x="2459024" y="4539640"/>
                  </a:lnTo>
                  <a:lnTo>
                    <a:pt x="78536" y="4539640"/>
                  </a:lnTo>
                  <a:lnTo>
                    <a:pt x="47995" y="4533468"/>
                  </a:lnTo>
                  <a:lnTo>
                    <a:pt x="23028" y="4516635"/>
                  </a:lnTo>
                  <a:lnTo>
                    <a:pt x="6181" y="4491671"/>
                  </a:lnTo>
                  <a:lnTo>
                    <a:pt x="0" y="4461103"/>
                  </a:lnTo>
                  <a:lnTo>
                    <a:pt x="0" y="78612"/>
                  </a:lnTo>
                  <a:close/>
                </a:path>
              </a:pathLst>
            </a:custGeom>
            <a:ln w="28575">
              <a:solidFill>
                <a:srgbClr val="16182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22">
              <a:extLst>
                <a:ext uri="{FF2B5EF4-FFF2-40B4-BE49-F238E27FC236}">
                  <a16:creationId xmlns:a16="http://schemas.microsoft.com/office/drawing/2014/main" id="{775460B9-2108-1F24-EAB2-3E50EFFF176B}"/>
                </a:ext>
              </a:extLst>
            </p:cNvPr>
            <p:cNvSpPr/>
            <p:nvPr/>
          </p:nvSpPr>
          <p:spPr>
            <a:xfrm>
              <a:off x="1405763" y="1654873"/>
              <a:ext cx="2247900" cy="400685"/>
            </a:xfrm>
            <a:custGeom>
              <a:avLst/>
              <a:gdLst/>
              <a:ahLst/>
              <a:cxnLst/>
              <a:rect l="l" t="t" r="r" b="b"/>
              <a:pathLst>
                <a:path w="2247900" h="400685">
                  <a:moveTo>
                    <a:pt x="2247645" y="0"/>
                  </a:moveTo>
                  <a:lnTo>
                    <a:pt x="0" y="0"/>
                  </a:lnTo>
                  <a:lnTo>
                    <a:pt x="0" y="400113"/>
                  </a:lnTo>
                  <a:lnTo>
                    <a:pt x="2247645" y="400113"/>
                  </a:lnTo>
                  <a:lnTo>
                    <a:pt x="224764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23">
            <a:extLst>
              <a:ext uri="{FF2B5EF4-FFF2-40B4-BE49-F238E27FC236}">
                <a16:creationId xmlns:a16="http://schemas.microsoft.com/office/drawing/2014/main" id="{59D063BA-BCA2-8182-3728-31D93C845769}"/>
              </a:ext>
            </a:extLst>
          </p:cNvPr>
          <p:cNvSpPr txBox="1"/>
          <p:nvPr/>
        </p:nvSpPr>
        <p:spPr>
          <a:xfrm>
            <a:off x="1498853" y="1639834"/>
            <a:ext cx="206438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10" dirty="0">
                <a:solidFill>
                  <a:srgbClr val="0074DD"/>
                </a:solidFill>
                <a:latin typeface="Microsoft YaHei"/>
                <a:cs typeface="Microsoft YaHei"/>
              </a:rPr>
              <a:t>手工构建耗费人力</a:t>
            </a:r>
            <a:endParaRPr sz="2000">
              <a:latin typeface="Microsoft YaHei"/>
              <a:cs typeface="Microsoft YaHei"/>
            </a:endParaRPr>
          </a:p>
        </p:txBody>
      </p:sp>
      <p:grpSp>
        <p:nvGrpSpPr>
          <p:cNvPr id="10" name="object 4">
            <a:extLst>
              <a:ext uri="{FF2B5EF4-FFF2-40B4-BE49-F238E27FC236}">
                <a16:creationId xmlns:a16="http://schemas.microsoft.com/office/drawing/2014/main" id="{B52CA1E8-D6E2-4D6B-A630-681344DCE8C3}"/>
              </a:ext>
            </a:extLst>
          </p:cNvPr>
          <p:cNvGrpSpPr/>
          <p:nvPr/>
        </p:nvGrpSpPr>
        <p:grpSpPr>
          <a:xfrm>
            <a:off x="4701222" y="1617037"/>
            <a:ext cx="2566670" cy="4749165"/>
            <a:chOff x="4701222" y="1654873"/>
            <a:chExt cx="2566670" cy="4749165"/>
          </a:xfrm>
        </p:grpSpPr>
        <p:sp>
          <p:nvSpPr>
            <p:cNvPr id="11" name="object 5">
              <a:extLst>
                <a:ext uri="{FF2B5EF4-FFF2-40B4-BE49-F238E27FC236}">
                  <a16:creationId xmlns:a16="http://schemas.microsoft.com/office/drawing/2014/main" id="{252DA067-C7E1-823D-B73E-D9FD55D87B06}"/>
                </a:ext>
              </a:extLst>
            </p:cNvPr>
            <p:cNvSpPr/>
            <p:nvPr/>
          </p:nvSpPr>
          <p:spPr>
            <a:xfrm>
              <a:off x="4715509" y="1850008"/>
              <a:ext cx="2538095" cy="4539615"/>
            </a:xfrm>
            <a:custGeom>
              <a:avLst/>
              <a:gdLst/>
              <a:ahLst/>
              <a:cxnLst/>
              <a:rect l="l" t="t" r="r" b="b"/>
              <a:pathLst>
                <a:path w="2538095" h="4539615">
                  <a:moveTo>
                    <a:pt x="0" y="78486"/>
                  </a:moveTo>
                  <a:lnTo>
                    <a:pt x="6173" y="47952"/>
                  </a:lnTo>
                  <a:lnTo>
                    <a:pt x="23002" y="23002"/>
                  </a:lnTo>
                  <a:lnTo>
                    <a:pt x="47952" y="6173"/>
                  </a:lnTo>
                  <a:lnTo>
                    <a:pt x="78486" y="0"/>
                  </a:lnTo>
                  <a:lnTo>
                    <a:pt x="2458973" y="0"/>
                  </a:lnTo>
                  <a:lnTo>
                    <a:pt x="2489581" y="6173"/>
                  </a:lnTo>
                  <a:lnTo>
                    <a:pt x="2514568" y="23002"/>
                  </a:lnTo>
                  <a:lnTo>
                    <a:pt x="2531411" y="47952"/>
                  </a:lnTo>
                  <a:lnTo>
                    <a:pt x="2537587" y="78486"/>
                  </a:lnTo>
                  <a:lnTo>
                    <a:pt x="2537587" y="4461078"/>
                  </a:lnTo>
                  <a:lnTo>
                    <a:pt x="2531411" y="4491646"/>
                  </a:lnTo>
                  <a:lnTo>
                    <a:pt x="2514568" y="4516610"/>
                  </a:lnTo>
                  <a:lnTo>
                    <a:pt x="2489581" y="4533442"/>
                  </a:lnTo>
                  <a:lnTo>
                    <a:pt x="2458973" y="4539615"/>
                  </a:lnTo>
                  <a:lnTo>
                    <a:pt x="78486" y="4539615"/>
                  </a:lnTo>
                  <a:lnTo>
                    <a:pt x="47952" y="4533442"/>
                  </a:lnTo>
                  <a:lnTo>
                    <a:pt x="23002" y="4516610"/>
                  </a:lnTo>
                  <a:lnTo>
                    <a:pt x="6173" y="4491646"/>
                  </a:lnTo>
                  <a:lnTo>
                    <a:pt x="0" y="4461078"/>
                  </a:lnTo>
                  <a:lnTo>
                    <a:pt x="0" y="78486"/>
                  </a:lnTo>
                  <a:close/>
                </a:path>
              </a:pathLst>
            </a:custGeom>
            <a:ln w="28575">
              <a:solidFill>
                <a:srgbClr val="16182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6">
              <a:extLst>
                <a:ext uri="{FF2B5EF4-FFF2-40B4-BE49-F238E27FC236}">
                  <a16:creationId xmlns:a16="http://schemas.microsoft.com/office/drawing/2014/main" id="{4F0CE55B-1BE1-DCE3-6963-A4A10F8E3486}"/>
                </a:ext>
              </a:extLst>
            </p:cNvPr>
            <p:cNvSpPr/>
            <p:nvPr/>
          </p:nvSpPr>
          <p:spPr>
            <a:xfrm>
              <a:off x="4880991" y="1654873"/>
              <a:ext cx="2228215" cy="2199640"/>
            </a:xfrm>
            <a:custGeom>
              <a:avLst/>
              <a:gdLst/>
              <a:ahLst/>
              <a:cxnLst/>
              <a:rect l="l" t="t" r="r" b="b"/>
              <a:pathLst>
                <a:path w="2228215" h="2199640">
                  <a:moveTo>
                    <a:pt x="2228215" y="367474"/>
                  </a:moveTo>
                  <a:lnTo>
                    <a:pt x="2219833" y="367474"/>
                  </a:lnTo>
                  <a:lnTo>
                    <a:pt x="2219833" y="0"/>
                  </a:lnTo>
                  <a:lnTo>
                    <a:pt x="0" y="0"/>
                  </a:lnTo>
                  <a:lnTo>
                    <a:pt x="0" y="400113"/>
                  </a:lnTo>
                  <a:lnTo>
                    <a:pt x="7874" y="400113"/>
                  </a:lnTo>
                  <a:lnTo>
                    <a:pt x="7874" y="2199576"/>
                  </a:lnTo>
                  <a:lnTo>
                    <a:pt x="2228215" y="2199576"/>
                  </a:lnTo>
                  <a:lnTo>
                    <a:pt x="2228215" y="36747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7">
            <a:extLst>
              <a:ext uri="{FF2B5EF4-FFF2-40B4-BE49-F238E27FC236}">
                <a16:creationId xmlns:a16="http://schemas.microsoft.com/office/drawing/2014/main" id="{87F412EA-C205-10B8-A951-26AF6CB90BC1}"/>
              </a:ext>
            </a:extLst>
          </p:cNvPr>
          <p:cNvSpPr txBox="1"/>
          <p:nvPr/>
        </p:nvSpPr>
        <p:spPr>
          <a:xfrm>
            <a:off x="4960365" y="1515460"/>
            <a:ext cx="2068830" cy="2268855"/>
          </a:xfrm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20320" marR="5080" indent="-8255" algn="just">
              <a:lnSpc>
                <a:spcPct val="131400"/>
              </a:lnSpc>
              <a:spcBef>
                <a:spcPts val="330"/>
              </a:spcBef>
            </a:pPr>
            <a:r>
              <a:rPr sz="2000" b="1" dirty="0">
                <a:solidFill>
                  <a:srgbClr val="0074DD"/>
                </a:solidFill>
                <a:latin typeface="Microsoft YaHei"/>
                <a:cs typeface="Microsoft YaHei"/>
              </a:rPr>
              <a:t>工作流动态性不足</a:t>
            </a:r>
            <a:r>
              <a:rPr sz="1800" spc="190" dirty="0">
                <a:solidFill>
                  <a:srgbClr val="374151"/>
                </a:solidFill>
                <a:latin typeface="Microsoft YaHei"/>
                <a:cs typeface="Microsoft YaHei"/>
              </a:rPr>
              <a:t>静态的工作流无法</a:t>
            </a:r>
            <a:r>
              <a:rPr sz="1800" spc="195" dirty="0">
                <a:solidFill>
                  <a:srgbClr val="374151"/>
                </a:solidFill>
                <a:latin typeface="Microsoft YaHei"/>
                <a:cs typeface="Microsoft YaHei"/>
              </a:rPr>
              <a:t>根据任务特性智能动态地扩展执行流</a:t>
            </a:r>
            <a:r>
              <a:rPr sz="1800" spc="110" dirty="0">
                <a:solidFill>
                  <a:srgbClr val="374151"/>
                </a:solidFill>
                <a:latin typeface="Microsoft YaHei"/>
                <a:cs typeface="Microsoft YaHei"/>
              </a:rPr>
              <a:t>程， 缺乏灵活性和</a:t>
            </a:r>
            <a:r>
              <a:rPr sz="1800" dirty="0">
                <a:solidFill>
                  <a:srgbClr val="374151"/>
                </a:solidFill>
                <a:latin typeface="Microsoft YaHei"/>
                <a:cs typeface="Microsoft YaHei"/>
              </a:rPr>
              <a:t>适应性</a:t>
            </a:r>
            <a:endParaRPr sz="1800">
              <a:latin typeface="Microsoft YaHei"/>
              <a:cs typeface="Microsoft YaHei"/>
            </a:endParaRPr>
          </a:p>
        </p:txBody>
      </p:sp>
      <p:grpSp>
        <p:nvGrpSpPr>
          <p:cNvPr id="14" name="object 8">
            <a:extLst>
              <a:ext uri="{FF2B5EF4-FFF2-40B4-BE49-F238E27FC236}">
                <a16:creationId xmlns:a16="http://schemas.microsoft.com/office/drawing/2014/main" id="{A7A94F4E-6907-C269-47CB-FF6BF1E9BD5C}"/>
              </a:ext>
            </a:extLst>
          </p:cNvPr>
          <p:cNvGrpSpPr/>
          <p:nvPr/>
        </p:nvGrpSpPr>
        <p:grpSpPr>
          <a:xfrm>
            <a:off x="4824221" y="3894718"/>
            <a:ext cx="2298700" cy="1911985"/>
            <a:chOff x="4824221" y="3932554"/>
            <a:chExt cx="2298700" cy="1911985"/>
          </a:xfrm>
        </p:grpSpPr>
        <p:sp>
          <p:nvSpPr>
            <p:cNvPr id="15" name="object 9">
              <a:extLst>
                <a:ext uri="{FF2B5EF4-FFF2-40B4-BE49-F238E27FC236}">
                  <a16:creationId xmlns:a16="http://schemas.microsoft.com/office/drawing/2014/main" id="{EB5EE839-6654-0221-E766-55E44759F2EF}"/>
                </a:ext>
              </a:extLst>
            </p:cNvPr>
            <p:cNvSpPr/>
            <p:nvPr/>
          </p:nvSpPr>
          <p:spPr>
            <a:xfrm>
              <a:off x="4860416" y="3938904"/>
              <a:ext cx="2247900" cy="0"/>
            </a:xfrm>
            <a:custGeom>
              <a:avLst/>
              <a:gdLst/>
              <a:ahLst/>
              <a:cxnLst/>
              <a:rect l="l" t="t" r="r" b="b"/>
              <a:pathLst>
                <a:path w="2247900">
                  <a:moveTo>
                    <a:pt x="0" y="0"/>
                  </a:moveTo>
                  <a:lnTo>
                    <a:pt x="2247646" y="0"/>
                  </a:lnTo>
                </a:path>
              </a:pathLst>
            </a:custGeom>
            <a:ln w="12700">
              <a:solidFill>
                <a:srgbClr val="BEBEB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0">
              <a:extLst>
                <a:ext uri="{FF2B5EF4-FFF2-40B4-BE49-F238E27FC236}">
                  <a16:creationId xmlns:a16="http://schemas.microsoft.com/office/drawing/2014/main" id="{3D7C3E02-1766-A85B-3474-B3A0744109AE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824221" y="4315066"/>
              <a:ext cx="2298446" cy="1529461"/>
            </a:xfrm>
            <a:prstGeom prst="rect">
              <a:avLst/>
            </a:prstGeom>
          </p:spPr>
        </p:pic>
      </p:grpSp>
      <p:grpSp>
        <p:nvGrpSpPr>
          <p:cNvPr id="17" name="object 11">
            <a:extLst>
              <a:ext uri="{FF2B5EF4-FFF2-40B4-BE49-F238E27FC236}">
                <a16:creationId xmlns:a16="http://schemas.microsoft.com/office/drawing/2014/main" id="{056D83BD-6FE3-552E-8946-A8F38DFC9F98}"/>
              </a:ext>
            </a:extLst>
          </p:cNvPr>
          <p:cNvGrpSpPr/>
          <p:nvPr/>
        </p:nvGrpSpPr>
        <p:grpSpPr>
          <a:xfrm>
            <a:off x="8155876" y="1617545"/>
            <a:ext cx="2566670" cy="4747260"/>
            <a:chOff x="8155876" y="1655381"/>
            <a:chExt cx="2566670" cy="4747260"/>
          </a:xfrm>
        </p:grpSpPr>
        <p:sp>
          <p:nvSpPr>
            <p:cNvPr id="18" name="object 12">
              <a:extLst>
                <a:ext uri="{FF2B5EF4-FFF2-40B4-BE49-F238E27FC236}">
                  <a16:creationId xmlns:a16="http://schemas.microsoft.com/office/drawing/2014/main" id="{C6878304-1A1B-250E-BE2A-C72823EAEA0F}"/>
                </a:ext>
              </a:extLst>
            </p:cNvPr>
            <p:cNvSpPr/>
            <p:nvPr/>
          </p:nvSpPr>
          <p:spPr>
            <a:xfrm>
              <a:off x="8170164" y="1848485"/>
              <a:ext cx="2538095" cy="4539615"/>
            </a:xfrm>
            <a:custGeom>
              <a:avLst/>
              <a:gdLst/>
              <a:ahLst/>
              <a:cxnLst/>
              <a:rect l="l" t="t" r="r" b="b"/>
              <a:pathLst>
                <a:path w="2538095" h="4539615">
                  <a:moveTo>
                    <a:pt x="0" y="78486"/>
                  </a:moveTo>
                  <a:lnTo>
                    <a:pt x="6173" y="47898"/>
                  </a:lnTo>
                  <a:lnTo>
                    <a:pt x="23002" y="22955"/>
                  </a:lnTo>
                  <a:lnTo>
                    <a:pt x="47952" y="6155"/>
                  </a:lnTo>
                  <a:lnTo>
                    <a:pt x="78485" y="0"/>
                  </a:lnTo>
                  <a:lnTo>
                    <a:pt x="2458974" y="0"/>
                  </a:lnTo>
                  <a:lnTo>
                    <a:pt x="2489580" y="6155"/>
                  </a:lnTo>
                  <a:lnTo>
                    <a:pt x="2514568" y="22955"/>
                  </a:lnTo>
                  <a:lnTo>
                    <a:pt x="2531411" y="47898"/>
                  </a:lnTo>
                  <a:lnTo>
                    <a:pt x="2537586" y="78486"/>
                  </a:lnTo>
                  <a:lnTo>
                    <a:pt x="2537586" y="4461014"/>
                  </a:lnTo>
                  <a:lnTo>
                    <a:pt x="2531411" y="4491588"/>
                  </a:lnTo>
                  <a:lnTo>
                    <a:pt x="2514568" y="4516551"/>
                  </a:lnTo>
                  <a:lnTo>
                    <a:pt x="2489580" y="4533380"/>
                  </a:lnTo>
                  <a:lnTo>
                    <a:pt x="2458974" y="4539551"/>
                  </a:lnTo>
                  <a:lnTo>
                    <a:pt x="78485" y="4539551"/>
                  </a:lnTo>
                  <a:lnTo>
                    <a:pt x="47952" y="4533380"/>
                  </a:lnTo>
                  <a:lnTo>
                    <a:pt x="23002" y="4516551"/>
                  </a:lnTo>
                  <a:lnTo>
                    <a:pt x="6173" y="4491588"/>
                  </a:lnTo>
                  <a:lnTo>
                    <a:pt x="0" y="4461014"/>
                  </a:lnTo>
                  <a:lnTo>
                    <a:pt x="0" y="78486"/>
                  </a:lnTo>
                  <a:close/>
                </a:path>
              </a:pathLst>
            </a:custGeom>
            <a:ln w="28575">
              <a:solidFill>
                <a:srgbClr val="16182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3">
              <a:extLst>
                <a:ext uri="{FF2B5EF4-FFF2-40B4-BE49-F238E27FC236}">
                  <a16:creationId xmlns:a16="http://schemas.microsoft.com/office/drawing/2014/main" id="{60E14671-5E85-44E8-FA10-0B9090409A87}"/>
                </a:ext>
              </a:extLst>
            </p:cNvPr>
            <p:cNvSpPr/>
            <p:nvPr/>
          </p:nvSpPr>
          <p:spPr>
            <a:xfrm>
              <a:off x="8321802" y="1655381"/>
              <a:ext cx="2281555" cy="400685"/>
            </a:xfrm>
            <a:custGeom>
              <a:avLst/>
              <a:gdLst/>
              <a:ahLst/>
              <a:cxnLst/>
              <a:rect l="l" t="t" r="r" b="b"/>
              <a:pathLst>
                <a:path w="2281554" h="400685">
                  <a:moveTo>
                    <a:pt x="2281554" y="0"/>
                  </a:moveTo>
                  <a:lnTo>
                    <a:pt x="0" y="0"/>
                  </a:lnTo>
                  <a:lnTo>
                    <a:pt x="0" y="400113"/>
                  </a:lnTo>
                  <a:lnTo>
                    <a:pt x="2281554" y="400113"/>
                  </a:lnTo>
                  <a:lnTo>
                    <a:pt x="228155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14">
            <a:extLst>
              <a:ext uri="{FF2B5EF4-FFF2-40B4-BE49-F238E27FC236}">
                <a16:creationId xmlns:a16="http://schemas.microsoft.com/office/drawing/2014/main" id="{AEB23ED4-0AC9-C22B-79CB-C1BD11AB27AD}"/>
              </a:ext>
            </a:extLst>
          </p:cNvPr>
          <p:cNvSpPr txBox="1"/>
          <p:nvPr/>
        </p:nvSpPr>
        <p:spPr>
          <a:xfrm>
            <a:off x="8432672" y="1640469"/>
            <a:ext cx="206438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10" dirty="0">
                <a:solidFill>
                  <a:srgbClr val="0074DD"/>
                </a:solidFill>
                <a:latin typeface="Microsoft YaHei"/>
                <a:cs typeface="Microsoft YaHei"/>
              </a:rPr>
              <a:t>任务经验无法重用</a:t>
            </a:r>
            <a:endParaRPr sz="2000">
              <a:latin typeface="Microsoft YaHei"/>
              <a:cs typeface="Microsoft YaHei"/>
            </a:endParaRPr>
          </a:p>
        </p:txBody>
      </p:sp>
      <p:sp>
        <p:nvSpPr>
          <p:cNvPr id="21" name="object 24">
            <a:extLst>
              <a:ext uri="{FF2B5EF4-FFF2-40B4-BE49-F238E27FC236}">
                <a16:creationId xmlns:a16="http://schemas.microsoft.com/office/drawing/2014/main" id="{E4A77F7F-CE36-E80B-78E2-862C9B23810E}"/>
              </a:ext>
            </a:extLst>
          </p:cNvPr>
          <p:cNvSpPr/>
          <p:nvPr/>
        </p:nvSpPr>
        <p:spPr>
          <a:xfrm>
            <a:off x="1348232" y="2050424"/>
            <a:ext cx="2247900" cy="1765300"/>
          </a:xfrm>
          <a:custGeom>
            <a:avLst/>
            <a:gdLst/>
            <a:ahLst/>
            <a:cxnLst/>
            <a:rect l="l" t="t" r="r" b="b"/>
            <a:pathLst>
              <a:path w="2247900" h="1765300">
                <a:moveTo>
                  <a:pt x="2247646" y="0"/>
                </a:moveTo>
                <a:lnTo>
                  <a:pt x="0" y="0"/>
                </a:lnTo>
                <a:lnTo>
                  <a:pt x="0" y="1765045"/>
                </a:lnTo>
                <a:lnTo>
                  <a:pt x="2247646" y="1765045"/>
                </a:lnTo>
                <a:lnTo>
                  <a:pt x="224764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5">
            <a:extLst>
              <a:ext uri="{FF2B5EF4-FFF2-40B4-BE49-F238E27FC236}">
                <a16:creationId xmlns:a16="http://schemas.microsoft.com/office/drawing/2014/main" id="{2A7990F9-1219-D170-4A4A-8099CAF63C9F}"/>
              </a:ext>
            </a:extLst>
          </p:cNvPr>
          <p:cNvSpPr txBox="1"/>
          <p:nvPr/>
        </p:nvSpPr>
        <p:spPr>
          <a:xfrm>
            <a:off x="1427225" y="2041695"/>
            <a:ext cx="2087880" cy="18084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just">
              <a:lnSpc>
                <a:spcPct val="130000"/>
              </a:lnSpc>
              <a:spcBef>
                <a:spcPts val="95"/>
              </a:spcBef>
            </a:pPr>
            <a:r>
              <a:rPr sz="1800" spc="-10" dirty="0">
                <a:solidFill>
                  <a:srgbClr val="374151"/>
                </a:solidFill>
                <a:latin typeface="Microsoft YaHei"/>
                <a:cs typeface="Microsoft YaHei"/>
              </a:rPr>
              <a:t>构建工作流往往需求特定专家知识和大量人力物力，存在自动化不足的瓶颈，效率</a:t>
            </a:r>
            <a:r>
              <a:rPr sz="1800" spc="-15" dirty="0">
                <a:solidFill>
                  <a:srgbClr val="374151"/>
                </a:solidFill>
                <a:latin typeface="Microsoft YaHei"/>
                <a:cs typeface="Microsoft YaHei"/>
              </a:rPr>
              <a:t>难以提升</a:t>
            </a:r>
            <a:endParaRPr sz="1800">
              <a:latin typeface="Microsoft YaHei"/>
              <a:cs typeface="Microsoft YaHei"/>
            </a:endParaRPr>
          </a:p>
        </p:txBody>
      </p:sp>
      <p:sp>
        <p:nvSpPr>
          <p:cNvPr id="23" name="object 15">
            <a:extLst>
              <a:ext uri="{FF2B5EF4-FFF2-40B4-BE49-F238E27FC236}">
                <a16:creationId xmlns:a16="http://schemas.microsoft.com/office/drawing/2014/main" id="{E96BEEEC-765B-CAC6-4A0B-E40F78F6FC36}"/>
              </a:ext>
            </a:extLst>
          </p:cNvPr>
          <p:cNvSpPr/>
          <p:nvPr/>
        </p:nvSpPr>
        <p:spPr>
          <a:xfrm>
            <a:off x="8313166" y="2051059"/>
            <a:ext cx="2247900" cy="1765300"/>
          </a:xfrm>
          <a:custGeom>
            <a:avLst/>
            <a:gdLst/>
            <a:ahLst/>
            <a:cxnLst/>
            <a:rect l="l" t="t" r="r" b="b"/>
            <a:pathLst>
              <a:path w="2247900" h="1765300">
                <a:moveTo>
                  <a:pt x="2247646" y="0"/>
                </a:moveTo>
                <a:lnTo>
                  <a:pt x="0" y="0"/>
                </a:lnTo>
                <a:lnTo>
                  <a:pt x="0" y="1765045"/>
                </a:lnTo>
                <a:lnTo>
                  <a:pt x="2247646" y="1765045"/>
                </a:lnTo>
                <a:lnTo>
                  <a:pt x="224764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16">
            <a:extLst>
              <a:ext uri="{FF2B5EF4-FFF2-40B4-BE49-F238E27FC236}">
                <a16:creationId xmlns:a16="http://schemas.microsoft.com/office/drawing/2014/main" id="{D4D03C12-4FCB-B4D8-00E0-354E9202B75D}"/>
              </a:ext>
            </a:extLst>
          </p:cNvPr>
          <p:cNvSpPr txBox="1"/>
          <p:nvPr/>
        </p:nvSpPr>
        <p:spPr>
          <a:xfrm>
            <a:off x="8393048" y="2041915"/>
            <a:ext cx="2087245" cy="180911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30000"/>
              </a:lnSpc>
              <a:spcBef>
                <a:spcPts val="100"/>
              </a:spcBef>
            </a:pPr>
            <a:r>
              <a:rPr sz="1800" spc="-10" dirty="0">
                <a:solidFill>
                  <a:srgbClr val="374151"/>
                </a:solidFill>
                <a:latin typeface="Microsoft YaHei"/>
                <a:cs typeface="Microsoft YaHei"/>
              </a:rPr>
              <a:t>智能体执行任务的轨迹蕴含了过去的成功经验，有效地利用这些知识可以帮助智能体不断进化</a:t>
            </a:r>
            <a:endParaRPr sz="1800">
              <a:latin typeface="Microsoft YaHei"/>
              <a:cs typeface="Microsoft YaHei"/>
            </a:endParaRPr>
          </a:p>
        </p:txBody>
      </p:sp>
      <p:grpSp>
        <p:nvGrpSpPr>
          <p:cNvPr id="25" name="object 26">
            <a:extLst>
              <a:ext uri="{FF2B5EF4-FFF2-40B4-BE49-F238E27FC236}">
                <a16:creationId xmlns:a16="http://schemas.microsoft.com/office/drawing/2014/main" id="{9C362F0D-1CAB-985D-9C29-17B6B4803B59}"/>
              </a:ext>
            </a:extLst>
          </p:cNvPr>
          <p:cNvGrpSpPr/>
          <p:nvPr/>
        </p:nvGrpSpPr>
        <p:grpSpPr>
          <a:xfrm>
            <a:off x="1405763" y="3893703"/>
            <a:ext cx="2247900" cy="2092325"/>
            <a:chOff x="1405763" y="3931539"/>
            <a:chExt cx="2247900" cy="2092325"/>
          </a:xfrm>
        </p:grpSpPr>
        <p:sp>
          <p:nvSpPr>
            <p:cNvPr id="26" name="object 27">
              <a:extLst>
                <a:ext uri="{FF2B5EF4-FFF2-40B4-BE49-F238E27FC236}">
                  <a16:creationId xmlns:a16="http://schemas.microsoft.com/office/drawing/2014/main" id="{B7DFA136-948F-5FC6-758B-4EC8F86B2F24}"/>
                </a:ext>
              </a:extLst>
            </p:cNvPr>
            <p:cNvSpPr/>
            <p:nvPr/>
          </p:nvSpPr>
          <p:spPr>
            <a:xfrm>
              <a:off x="1405763" y="3937889"/>
              <a:ext cx="2247900" cy="0"/>
            </a:xfrm>
            <a:custGeom>
              <a:avLst/>
              <a:gdLst/>
              <a:ahLst/>
              <a:cxnLst/>
              <a:rect l="l" t="t" r="r" b="b"/>
              <a:pathLst>
                <a:path w="2247900">
                  <a:moveTo>
                    <a:pt x="0" y="0"/>
                  </a:moveTo>
                  <a:lnTo>
                    <a:pt x="2247646" y="0"/>
                  </a:lnTo>
                </a:path>
              </a:pathLst>
            </a:custGeom>
            <a:ln w="12700">
              <a:solidFill>
                <a:srgbClr val="BEBEB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7" name="object 28">
              <a:extLst>
                <a:ext uri="{FF2B5EF4-FFF2-40B4-BE49-F238E27FC236}">
                  <a16:creationId xmlns:a16="http://schemas.microsoft.com/office/drawing/2014/main" id="{3EF8545F-5E93-30B5-4E05-42FD2B827D9F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602740" y="4165777"/>
              <a:ext cx="1852930" cy="1857628"/>
            </a:xfrm>
            <a:prstGeom prst="rect">
              <a:avLst/>
            </a:prstGeom>
          </p:spPr>
        </p:pic>
      </p:grpSp>
      <p:grpSp>
        <p:nvGrpSpPr>
          <p:cNvPr id="28" name="object 17">
            <a:extLst>
              <a:ext uri="{FF2B5EF4-FFF2-40B4-BE49-F238E27FC236}">
                <a16:creationId xmlns:a16="http://schemas.microsoft.com/office/drawing/2014/main" id="{0646AC81-40AF-57EF-8994-E4C5F55BAEF5}"/>
              </a:ext>
            </a:extLst>
          </p:cNvPr>
          <p:cNvGrpSpPr/>
          <p:nvPr/>
        </p:nvGrpSpPr>
        <p:grpSpPr>
          <a:xfrm>
            <a:off x="8315070" y="3894210"/>
            <a:ext cx="2247900" cy="2092325"/>
            <a:chOff x="8315070" y="3932046"/>
            <a:chExt cx="2247900" cy="2092325"/>
          </a:xfrm>
        </p:grpSpPr>
        <p:sp>
          <p:nvSpPr>
            <p:cNvPr id="29" name="object 18">
              <a:extLst>
                <a:ext uri="{FF2B5EF4-FFF2-40B4-BE49-F238E27FC236}">
                  <a16:creationId xmlns:a16="http://schemas.microsoft.com/office/drawing/2014/main" id="{6E723B44-0CC0-FFB4-611E-048FE8A66A1B}"/>
                </a:ext>
              </a:extLst>
            </p:cNvPr>
            <p:cNvSpPr/>
            <p:nvPr/>
          </p:nvSpPr>
          <p:spPr>
            <a:xfrm>
              <a:off x="8315070" y="3938396"/>
              <a:ext cx="2247900" cy="0"/>
            </a:xfrm>
            <a:custGeom>
              <a:avLst/>
              <a:gdLst/>
              <a:ahLst/>
              <a:cxnLst/>
              <a:rect l="l" t="t" r="r" b="b"/>
              <a:pathLst>
                <a:path w="2247900">
                  <a:moveTo>
                    <a:pt x="0" y="0"/>
                  </a:moveTo>
                  <a:lnTo>
                    <a:pt x="2247646" y="0"/>
                  </a:lnTo>
                </a:path>
              </a:pathLst>
            </a:custGeom>
            <a:ln w="12700">
              <a:solidFill>
                <a:srgbClr val="BEBEB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0" name="object 19">
              <a:extLst>
                <a:ext uri="{FF2B5EF4-FFF2-40B4-BE49-F238E27FC236}">
                  <a16:creationId xmlns:a16="http://schemas.microsoft.com/office/drawing/2014/main" id="{905E6544-D7DF-A90B-D7D5-B96267F42613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536050" y="4166336"/>
              <a:ext cx="1852929" cy="185762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72967715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BB221D-F663-E0D6-4CE6-338B963853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5655999E-81C0-DE33-6FDC-2266EF3B4F71}"/>
              </a:ext>
            </a:extLst>
          </p:cNvPr>
          <p:cNvSpPr/>
          <p:nvPr/>
        </p:nvSpPr>
        <p:spPr>
          <a:xfrm>
            <a:off x="234082" y="391176"/>
            <a:ext cx="496852" cy="496851"/>
          </a:xfrm>
          <a:prstGeom prst="rect">
            <a:avLst/>
          </a:prstGeom>
          <a:solidFill>
            <a:srgbClr val="2E5696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05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5C1D3BB-B347-633B-C7CB-8E46816C50E0}"/>
              </a:ext>
            </a:extLst>
          </p:cNvPr>
          <p:cNvSpPr/>
          <p:nvPr/>
        </p:nvSpPr>
        <p:spPr>
          <a:xfrm>
            <a:off x="478878" y="657581"/>
            <a:ext cx="331236" cy="331236"/>
          </a:xfrm>
          <a:prstGeom prst="rect">
            <a:avLst/>
          </a:prstGeom>
          <a:solidFill>
            <a:srgbClr val="2E5696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05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8" name="TextBox 28">
            <a:extLst>
              <a:ext uri="{FF2B5EF4-FFF2-40B4-BE49-F238E27FC236}">
                <a16:creationId xmlns:a16="http://schemas.microsoft.com/office/drawing/2014/main" id="{CA2C57B9-8547-FCF8-3849-ACA6EEAA1362}"/>
              </a:ext>
            </a:extLst>
          </p:cNvPr>
          <p:cNvSpPr txBox="1"/>
          <p:nvPr/>
        </p:nvSpPr>
        <p:spPr>
          <a:xfrm>
            <a:off x="830709" y="336598"/>
            <a:ext cx="9806592" cy="660538"/>
          </a:xfrm>
          <a:prstGeom prst="rect">
            <a:avLst/>
          </a:prstGeom>
          <a:noFill/>
        </p:spPr>
        <p:txBody>
          <a:bodyPr wrap="square" lIns="105509" tIns="52755" rIns="105509" bIns="52755" rtlCol="0">
            <a:spAutoFit/>
          </a:bodyPr>
          <a:lstStyle/>
          <a:p>
            <a:pPr lvl="0">
              <a:defRPr/>
            </a:pPr>
            <a:r>
              <a:rPr lang="zh-CN" altLang="en-US" sz="3600" b="1" spc="300" dirty="0">
                <a:solidFill>
                  <a:srgbClr val="2E5696"/>
                </a:solidFill>
                <a:latin typeface="微软雅黑" panose="020B0503020204020204" charset="-122"/>
                <a:ea typeface="微软雅黑" panose="020B0503020204020204" charset="-122"/>
              </a:rPr>
              <a:t>大语言模型智能体的应用领域</a:t>
            </a:r>
          </a:p>
        </p:txBody>
      </p:sp>
      <p:cxnSp>
        <p:nvCxnSpPr>
          <p:cNvPr id="122" name="直接连接符 46">
            <a:extLst>
              <a:ext uri="{FF2B5EF4-FFF2-40B4-BE49-F238E27FC236}">
                <a16:creationId xmlns:a16="http://schemas.microsoft.com/office/drawing/2014/main" id="{FE410791-1B83-110B-F538-99663F1D5765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810340" y="988715"/>
            <a:ext cx="11135003" cy="0"/>
          </a:xfrm>
          <a:prstGeom prst="line">
            <a:avLst/>
          </a:prstGeom>
          <a:noFill/>
          <a:ln w="9525" cmpd="sng">
            <a:solidFill>
              <a:srgbClr val="4D4948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32" name="object 5">
            <a:extLst>
              <a:ext uri="{FF2B5EF4-FFF2-40B4-BE49-F238E27FC236}">
                <a16:creationId xmlns:a16="http://schemas.microsoft.com/office/drawing/2014/main" id="{D45D8F06-D1C6-3DD5-1981-89C18C2D7930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670585" y="1931403"/>
            <a:ext cx="6973538" cy="4353516"/>
          </a:xfrm>
          <a:prstGeom prst="rect">
            <a:avLst/>
          </a:prstGeom>
        </p:spPr>
      </p:pic>
      <p:sp>
        <p:nvSpPr>
          <p:cNvPr id="34" name="object 6">
            <a:extLst>
              <a:ext uri="{FF2B5EF4-FFF2-40B4-BE49-F238E27FC236}">
                <a16:creationId xmlns:a16="http://schemas.microsoft.com/office/drawing/2014/main" id="{231EF56E-018D-B457-07DD-17035969B284}"/>
              </a:ext>
            </a:extLst>
          </p:cNvPr>
          <p:cNvSpPr txBox="1"/>
          <p:nvPr/>
        </p:nvSpPr>
        <p:spPr>
          <a:xfrm>
            <a:off x="644753" y="1249341"/>
            <a:ext cx="8717280" cy="47745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latin typeface="Microsoft YaHei"/>
                <a:cs typeface="Microsoft YaHei"/>
              </a:rPr>
              <a:t>ICE</a:t>
            </a:r>
            <a:r>
              <a:rPr sz="2400" spc="-15" dirty="0">
                <a:latin typeface="Microsoft YaHei"/>
                <a:cs typeface="Microsoft YaHei"/>
              </a:rPr>
              <a:t>框架：通过传递任务间的成功经验实现智能体的自我演化增强</a:t>
            </a:r>
            <a:endParaRPr sz="2400" dirty="0">
              <a:latin typeface="Microsoft YaHei"/>
              <a:cs typeface="Microsoft YaHei"/>
            </a:endParaRPr>
          </a:p>
          <a:p>
            <a:pPr marL="355600" marR="5300980" indent="-342900">
              <a:lnSpc>
                <a:spcPct val="150000"/>
              </a:lnSpc>
              <a:spcBef>
                <a:spcPts val="3304"/>
              </a:spcBef>
              <a:buFont typeface="Arial"/>
              <a:buChar char="•"/>
              <a:tabLst>
                <a:tab pos="355600" algn="l"/>
              </a:tabLst>
            </a:pPr>
            <a:r>
              <a:rPr sz="2000" b="1" spc="-10" dirty="0">
                <a:solidFill>
                  <a:srgbClr val="0074DD"/>
                </a:solidFill>
                <a:latin typeface="Microsoft YaHei"/>
                <a:cs typeface="Microsoft YaHei"/>
              </a:rPr>
              <a:t>Investigate</a:t>
            </a:r>
            <a:r>
              <a:rPr sz="2000" spc="-15" dirty="0">
                <a:latin typeface="Microsoft YaHei"/>
                <a:cs typeface="Microsoft YaHei"/>
              </a:rPr>
              <a:t>：识别值得学</a:t>
            </a:r>
            <a:r>
              <a:rPr sz="2000" spc="-10" dirty="0">
                <a:latin typeface="Microsoft YaHei"/>
                <a:cs typeface="Microsoft YaHei"/>
              </a:rPr>
              <a:t>习和参考的经验，提取所有成功执行轨迹</a:t>
            </a:r>
            <a:endParaRPr sz="2000" dirty="0">
              <a:latin typeface="Microsoft YaHei"/>
              <a:cs typeface="Microsoft YaHei"/>
            </a:endParaRPr>
          </a:p>
          <a:p>
            <a:pPr marL="352425" marR="5300345" indent="-339725" algn="just">
              <a:lnSpc>
                <a:spcPct val="150000"/>
              </a:lnSpc>
              <a:spcBef>
                <a:spcPts val="1200"/>
              </a:spcBef>
              <a:buFont typeface="Arial"/>
              <a:buChar char="•"/>
              <a:tabLst>
                <a:tab pos="355600" algn="l"/>
              </a:tabLst>
            </a:pPr>
            <a:r>
              <a:rPr sz="2000" b="1" spc="-10" dirty="0">
                <a:solidFill>
                  <a:srgbClr val="0074DD"/>
                </a:solidFill>
                <a:latin typeface="Microsoft YaHei"/>
                <a:cs typeface="Microsoft YaHei"/>
              </a:rPr>
              <a:t>Consolidate</a:t>
            </a:r>
            <a:r>
              <a:rPr sz="2000" spc="-15" dirty="0">
                <a:latin typeface="Microsoft YaHei"/>
                <a:cs typeface="Microsoft YaHei"/>
              </a:rPr>
              <a:t>：巩固经验并	</a:t>
            </a:r>
            <a:r>
              <a:rPr sz="2000" spc="-20" dirty="0">
                <a:latin typeface="Microsoft YaHei"/>
                <a:cs typeface="Microsoft YaHei"/>
              </a:rPr>
              <a:t>存储为标准化的格式，以便	</a:t>
            </a:r>
            <a:r>
              <a:rPr sz="2000" spc="-10" dirty="0">
                <a:latin typeface="Microsoft YaHei"/>
                <a:cs typeface="Microsoft YaHei"/>
              </a:rPr>
              <a:t>于未来的经验重用</a:t>
            </a:r>
            <a:endParaRPr sz="2000" dirty="0">
              <a:latin typeface="Microsoft YaHei"/>
              <a:cs typeface="Microsoft YaHei"/>
            </a:endParaRPr>
          </a:p>
          <a:p>
            <a:pPr marL="352425" marR="5300980" indent="-339725" algn="just">
              <a:lnSpc>
                <a:spcPct val="150100"/>
              </a:lnSpc>
              <a:spcBef>
                <a:spcPts val="1195"/>
              </a:spcBef>
              <a:buFont typeface="Arial"/>
              <a:buChar char="•"/>
              <a:tabLst>
                <a:tab pos="355600" algn="l"/>
              </a:tabLst>
            </a:pPr>
            <a:r>
              <a:rPr sz="2000" b="1" spc="-10" dirty="0">
                <a:solidFill>
                  <a:srgbClr val="0074DD"/>
                </a:solidFill>
                <a:latin typeface="Microsoft YaHei"/>
                <a:cs typeface="Microsoft YaHei"/>
              </a:rPr>
              <a:t>Exploit</a:t>
            </a:r>
            <a:r>
              <a:rPr sz="2000" spc="-15" dirty="0">
                <a:latin typeface="Microsoft YaHei"/>
                <a:cs typeface="Microsoft YaHei"/>
              </a:rPr>
              <a:t>：利用巩固的经验	</a:t>
            </a:r>
            <a:r>
              <a:rPr sz="2000" spc="-10" dirty="0">
                <a:latin typeface="Microsoft YaHei"/>
                <a:cs typeface="Microsoft YaHei"/>
              </a:rPr>
              <a:t>来提高新任务的效率和效果</a:t>
            </a:r>
            <a:endParaRPr sz="2000" dirty="0">
              <a:latin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330373297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5.36572334487,&quot;left&quot;:360.8,&quot;top&quot;:137.5,&quot;width&quot;:378.8136220472441}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5.36572334487,&quot;left&quot;:360.8,&quot;top&quot;:137.5,&quot;width&quot;:378.8136220472441}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5.36572334487,&quot;left&quot;:360.8,&quot;top&quot;:137.5,&quot;width&quot;:378.8136220472441}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5.36572334487,&quot;left&quot;:360.8,&quot;top&quot;:137.5,&quot;width&quot;:378.8136220472441}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5.36572334487,&quot;left&quot;:360.8,&quot;top&quot;:137.5,&quot;width&quot;:378.8136220472441}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5.36572334487,&quot;left&quot;:360.8,&quot;top&quot;:137.5,&quot;width&quot;:378.8136220472441}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5.36572334487,&quot;left&quot;:360.8,&quot;top&quot;:137.5,&quot;width&quot;:378.8136220472441}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5.36572334487,&quot;left&quot;:360.8,&quot;top&quot;:137.5,&quot;width&quot;:378.8136220472441}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5.36572334487,&quot;left&quot;:360.8,&quot;top&quot;:137.5,&quot;width&quot;:378.8136220472441}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5.36572334487,&quot;left&quot;:360.8,&quot;top&quot;:137.5,&quot;width&quot;:378.8136220472441}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5.36572334487,&quot;left&quot;:360.8,&quot;top&quot;:137.5,&quot;width&quot;:378.8136220472441}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5.36572334487,&quot;left&quot;:360.8,&quot;top&quot;:137.5,&quot;width&quot;:378.8136220472441}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5.36572334487,&quot;left&quot;:360.8,&quot;top&quot;:137.5,&quot;width&quot;:378.8136220472441}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5.36572334487,&quot;left&quot;:360.8,&quot;top&quot;:137.5,&quot;width&quot;:378.8136220472441}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5.36572334487,&quot;left&quot;:360.8,&quot;top&quot;:137.5,&quot;width&quot;:378.8136220472441}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5.36572334487,&quot;left&quot;:360.8,&quot;top&quot;:137.5,&quot;width&quot;:378.8136220472441}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5.36572334487,&quot;left&quot;:360.8,&quot;top&quot;:137.5,&quot;width&quot;:378.8136220472441}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5.36572334487,&quot;left&quot;:360.8,&quot;top&quot;:137.5,&quot;width&quot;:378.8136220472441}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5.36572334487,&quot;left&quot;:360.8,&quot;top&quot;:137.5,&quot;width&quot;:378.8136220472441}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5.36572334487,&quot;left&quot;:360.8,&quot;top&quot;:137.5,&quot;width&quot;:378.8136220472441}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5.36572334487,&quot;left&quot;:360.8,&quot;top&quot;:137.5,&quot;width&quot;:378.8136220472441}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5.36572334487,&quot;left&quot;:360.8,&quot;top&quot;:137.5,&quot;width&quot;:378.8136220472441}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5.36572334487,&quot;left&quot;:360.8,&quot;top&quot;:137.5,&quot;width&quot;:378.8136220472441}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5.36572334487,&quot;left&quot;:360.8,&quot;top&quot;:137.5,&quot;width&quot;:378.8136220472441}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5.36572334487,&quot;left&quot;:360.8,&quot;top&quot;:137.5,&quot;width&quot;:378.8136220472441}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5.36572334487,&quot;left&quot;:360.8,&quot;top&quot;:137.5,&quot;width&quot;:378.8136220472441}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5.36572334487,&quot;left&quot;:360.8,&quot;top&quot;:137.5,&quot;width&quot;:378.8136220472441}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5.36572334487,&quot;left&quot;:360.8,&quot;top&quot;:137.5,&quot;width&quot;:378.8136220472441}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5.36572334487,&quot;left&quot;:360.8,&quot;top&quot;:137.5,&quot;width&quot;:378.8136220472441}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5.36572334487,&quot;left&quot;:360.8,&quot;top&quot;:137.5,&quot;width&quot;:378.8136220472441}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5.36572334487,&quot;left&quot;:360.8,&quot;top&quot;:137.5,&quot;width&quot;:378.8136220472441}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5.36572334487,&quot;left&quot;:360.8,&quot;top&quot;:137.5,&quot;width&quot;:378.8136220472441}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5.36572334487,&quot;left&quot;:360.8,&quot;top&quot;:137.5,&quot;width&quot;:378.8136220472441}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5.36572334487,&quot;left&quot;:360.8,&quot;top&quot;:137.5,&quot;width&quot;:378.8136220472441}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5.36572334487,&quot;left&quot;:360.8,&quot;top&quot;:137.5,&quot;width&quot;:378.8136220472441}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5.36572334487,&quot;left&quot;:360.8,&quot;top&quot;:137.5,&quot;width&quot;:378.8136220472441}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5.36572334487,&quot;left&quot;:360.8,&quot;top&quot;:137.5,&quot;width&quot;:378.8136220472441}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5.36572334487,&quot;left&quot;:360.8,&quot;top&quot;:137.5,&quot;width&quot;:378.8136220472441}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5.36572334487,&quot;left&quot;:360.8,&quot;top&quot;:137.5,&quot;width&quot;:378.8136220472441}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5.36572334487,&quot;left&quot;:360.8,&quot;top&quot;:137.5,&quot;width&quot;:378.8136220472441}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5.36572334487,&quot;left&quot;:360.8,&quot;top&quot;:137.5,&quot;width&quot;:378.8136220472441}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5.36572334487,&quot;left&quot;:360.8,&quot;top&quot;:137.5,&quot;width&quot;:378.8136220472441}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5.36572334487,&quot;left&quot;:360.8,&quot;top&quot;:137.5,&quot;width&quot;:378.8136220472441}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5.36572334487,&quot;left&quot;:360.8,&quot;top&quot;:137.5,&quot;width&quot;:378.8136220472441}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5.36572334487,&quot;left&quot;:360.8,&quot;top&quot;:137.5,&quot;width&quot;:378.8136220472441}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5.36572334487,&quot;left&quot;:360.8,&quot;top&quot;:137.5,&quot;width&quot;:378.8136220472441}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5.36572334487,&quot;left&quot;:360.8,&quot;top&quot;:137.5,&quot;width&quot;:378.8136220472441}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5.36572334487,&quot;left&quot;:360.8,&quot;top&quot;:137.5,&quot;width&quot;:378.8136220472441}"/>
</p:tagLst>
</file>

<file path=ppt/theme/theme1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Office 主题​​">
  <a:themeElements>
    <a:clrScheme name="新版空白演示配色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4885</TotalTime>
  <Words>1296</Words>
  <Application>Microsoft Office PowerPoint</Application>
  <PresentationFormat>宽屏</PresentationFormat>
  <Paragraphs>182</Paragraphs>
  <Slides>19</Slides>
  <Notes>19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19</vt:i4>
      </vt:variant>
    </vt:vector>
  </HeadingPairs>
  <TitlesOfParts>
    <vt:vector size="31" baseType="lpstr">
      <vt:lpstr>PMingLiU</vt:lpstr>
      <vt:lpstr>等线</vt:lpstr>
      <vt:lpstr>等线 Light</vt:lpstr>
      <vt:lpstr>Microsoft YaHei</vt:lpstr>
      <vt:lpstr>Microsoft YaHei</vt:lpstr>
      <vt:lpstr>Arial</vt:lpstr>
      <vt:lpstr>Calibri</vt:lpstr>
      <vt:lpstr>Franklin Gothic Medium</vt:lpstr>
      <vt:lpstr>Impact</vt:lpstr>
      <vt:lpstr>Wingdings</vt:lpstr>
      <vt:lpstr>1_Office 主题​​</vt:lpstr>
      <vt:lpstr>2_Office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胡深</dc:creator>
  <cp:lastModifiedBy>十三 刘</cp:lastModifiedBy>
  <cp:revision>771</cp:revision>
  <dcterms:created xsi:type="dcterms:W3CDTF">2025-02-22T12:04:00Z</dcterms:created>
  <dcterms:modified xsi:type="dcterms:W3CDTF">2026-10-20T08:13:24Z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2052-11.8.2.8411</vt:lpwstr>
  </property>
</Properties>
</file>