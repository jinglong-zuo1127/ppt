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【建议讲解】约1分钟，可按讨论深度调整。</a:t>
            </a:r>
          </a:p>
          <a:p>
            <a:r>
              <a:t>开场：本次综述讨论的是具有感知与行动能力的广义智能体；LLM Agent是其中一条重要实现路线。先用经典定义建立共同语言，再用上海旅行任务说明大模型如何参与一个可执行、可反馈、可终止的系统。</a:t>
            </a:r>
          </a:p>
          <a:p>
            <a:r>
              <a:t>本轮文件只完成前两章，后续三章在目录中保留。封面的单位名称、汇报人及日期沿用原稿；蓝白配色与两个机构标识也保留。</a:t>
            </a:r>
          </a:p>
          <a:p/>
          <a:p>
            <a:r>
              <a:t>【来源与口径】</a:t>
            </a:r>
          </a:p>
          <a:p>
            <a:r>
              <a:t>原稿第1页。日期沿用原稿，并非按文件生成时间推定。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【建议讲解】约2分钟，可按讨论深度调整。</a:t>
            </a:r>
          </a:p>
          <a:p>
            <a:r>
              <a:t>交代报告的五章路线：概念和历史回答是什么；架构回答如何执行；论文回答具体研究方法；应用回答在哪里使用；评估与挑战回答是否可靠。</a:t>
            </a:r>
          </a:p>
          <a:p>
            <a:r>
              <a:t>建议整场时间分配：第一章约20分钟、第二章约45分钟、第三章约40分钟、第四章约25分钟、第五章约20分钟，合计150分钟，均含互动。这是完整报告的编排建议，并不表示本轮16页已覆盖2.5小时。</a:t>
            </a:r>
          </a:p>
          <a:p>
            <a:r>
              <a:t>第三章将重点讲ReAct与Reflexion，本轮不提前堆砌其性能结果。下面先进入广义Agent的经典定义。</a:t>
            </a:r>
          </a:p>
          <a:p/>
          <a:p>
            <a:r>
              <a:t>【来源与口径】</a:t>
            </a:r>
          </a:p>
          <a:p>
            <a:r>
              <a:t>目录由原稿第2、5、10、11页合并，补齐第五章。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【建议讲解】约5分钟，可按讨论深度调整。</a:t>
            </a:r>
          </a:p>
          <a:p>
            <a:r>
              <a:t>讲法：先问“一个没有语言能力的扫地机器人是不是Agent？”再逐一介绍三个经典视角。</a:t>
            </a:r>
          </a:p>
          <a:p>
            <a:r>
              <a:t>Russell与Norvig在《Artificial Intelligence: A Modern Approach》第一版（1995）第二章用传感器与执行器界定Agent；不要将原稿的目标导向中文概括当作Russell的逐字原文，也不能遗漏Norvig。AIMA的宽泛Agent定义与理性Agent的性能准则应区分。</a:t>
            </a:r>
          </a:p>
          <a:p>
            <a:r>
              <a:t>Franklin与Graesser强调situated、over time、own agenda，以及行动对未来感知的影响。对应论文是1996年ATAL工作坊论文，收录于1997年出版的Intelligent Agents III（LNCS 1193），不是原稿标注的1999年。自身议程不意味着系统一定自行发明目标。</a:t>
            </a:r>
          </a:p>
          <a:p>
            <a:r>
              <a:t>Wooldridge与Jennings在1995年综述中讨论weak notion of agency及四个性质；这里不声称四项是跨学派的统一必要充分条件。省去作者现任职位，避免用今天任职替代发表时背景。</a:t>
            </a:r>
          </a:p>
          <a:p>
            <a:r>
              <a:t>结论：广义Agent不等于LLM Agent。下一页解释四个经典性质。</a:t>
            </a:r>
          </a:p>
          <a:p/>
          <a:p>
            <a:r>
              <a:t>【来源与口径】</a:t>
            </a:r>
          </a:p>
          <a:p>
            <a:r>
              <a:t>[1] 1995第一版第二章；[2] Is it an Agent, or just a Program?: A Taxonomy for Autonomous Agents，1997，pp.21–35；[3] Intelligent agents: Theory and practice，1995，10(2):115–152。页面全部为释义，不作直接引文。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【建议讲解】约4分钟，可按讨论深度调整。</a:t>
            </a:r>
          </a:p>
          <a:p>
            <a:r>
              <a:t>讲法：依次用扫地机器人的具体行为解释四个术语，不引入LLM内部技术。自主性指能够在授权条件下控制自身状态与行为，人仍然可以设定目标、限制范围并终止系统。反应性针对外部变化；主动性强调目标驱动，二者可以同时存在。社会性指通过通信或交互与人或其他主体协作，不等同于拟人化情绪。</a:t>
            </a:r>
          </a:p>
          <a:p>
            <a:r>
              <a:t>机器人例子是教学示意，并非宣称所有扫地机器人都实现上述全部能力；向用户发出求助只是人机交互的简化例子，经典社会性还涉及Agent通信。</a:t>
            </a:r>
          </a:p>
          <a:p>
            <a:r>
              <a:t>主动回充也可以由预先编写的规则实现，因此“使用规则”与“具有智能体行为”并不矛盾。一个研究者可根据任务采用更宽或更窄的Agent定义。</a:t>
            </a:r>
          </a:p>
          <a:p>
            <a:r>
              <a:t>衔接：这些行为不是一份孤立的功能列表，它们依托Agent与环境的持续交互。</a:t>
            </a:r>
          </a:p>
          <a:p/>
          <a:p>
            <a:r>
              <a:t>【来源与口径】</a:t>
            </a:r>
          </a:p>
          <a:p>
            <a:r>
              <a:t>[3] Wooldridge &amp; Jennings (1995)。反应性对应reactivity，主动性对应pro-activeness。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【建议讲解】约4分钟，可按讨论深度调整。</a:t>
            </a:r>
          </a:p>
          <a:p>
            <a:r>
              <a:t>沿箭头解释闭环：房间状态经传感器产生观察，机器人根据观察及内部状态选择动作，执行器改变物理环境，下一次观察反映动作后的变化。观察不一定等于完整真实状态，例如机器人无法看见墙后障碍；这为后续部分可观测性与记忆埋下伏笔。</a:t>
            </a:r>
          </a:p>
          <a:p>
            <a:r>
              <a:t>这里的“决策”可以是条件规则、搜索、经典控制、学习到的策略或其他实现，不要求显式语言推理。简单反射型Agent也可能直接把当前感知映射到动作。</a:t>
            </a:r>
          </a:p>
          <a:p>
            <a:r>
              <a:t>不能将每个环境反馈都称作reward。在强化学习建模中，奖励是专门定义的标量信号；普通传感器读数或工具返回首先是观察。训练得到策略与部署时执行策略也应区分，Agent不一定每次执行都更新参数。</a:t>
            </a:r>
          </a:p>
          <a:p>
            <a:r>
              <a:t>澄清传统程序对比：传统程序可以有循环、状态、随机性和容错；规则程序也可以实现Agent。普通批处理脚本与Agent的典型区别在持续交互角色，而非有没有if-else。下一页看决策技术如何演变。</a:t>
            </a:r>
          </a:p>
          <a:p/>
          <a:p>
            <a:r>
              <a:t>【来源与口径】</a:t>
            </a:r>
          </a:p>
          <a:p>
            <a:r>
              <a:t>[1] AIMA智能体与环境章节；[4] RL教材第三章的Agent–Environment接口。图为本稿用原生形状重新绘制的教学抽象。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【建议讲解】约6分钟，可按讨论深度调整。</a:t>
            </a:r>
          </a:p>
          <a:p>
            <a:r>
              <a:t>本页是第一章最后一页。先读三类范式，再沿年代轴辨认代表节点。箭头表示讲解和事件顺序，路线持续并行，不是后一代淘汰前一代。</a:t>
            </a:r>
          </a:p>
          <a:p>
            <a:r>
              <a:t>1971：Fikes与Nilsson的STRIPS，将行动表达为前提与效果并进行自动规划。1995：Rao与Georgeff的BDI Agents: From Theory to Practice是重要代表，BDI的思想与实践早于该论文，不能将1995说成全部BDI思想的唯一诞生点；Belief、Desire、Intention分别对应信念、愿望与承诺执行的意图。1997：Deep Blue击败卡斯帕罗夫；这里引用2002年系统论文，区分事件年与论文年。Deep Blue不是简单规则库，其核心含大规模搜索、评估函数、知识和专用硬件。</a:t>
            </a:r>
          </a:p>
          <a:p>
            <a:r>
              <a:t>2016年AlphaGo结合监督学习、强化学习、策略/价值网络和蒙特卡洛树搜索；不能说它只靠强化学习，也不能把所有学习Agent都限定为神经网络。</a:t>
            </a:r>
          </a:p>
          <a:p>
            <a:r>
              <a:t>2022年ReAct预印本、2023年ICLR论文，以及2023年的AutoGPT开源探索，展示LLM参与规划和工具交互的路线。AutoGPT是工程示例，不是通用自主能力已解决的证据，也不是一个与Deep Blue/AlphaGo同口径的能力比较。</a:t>
            </a:r>
          </a:p>
          <a:p>
            <a:r>
              <a:t>过渡：接下来只放大LLM Agent这条路线，看LLM如何进入一个任务执行系统。</a:t>
            </a:r>
          </a:p>
          <a:p/>
          <a:p>
            <a:r>
              <a:t>【来源与口径】</a:t>
            </a:r>
          </a:p>
          <a:p>
            <a:r>
              <a:t>原稿第4页的三类结构、Deep Blue / AlphaGo / AutoGPT三张图片保留并重排。历史节点与出处见随附参考文献。[5]1971；[6]1995；[7]事件1997/论文2002；[8]2016；[9]2023起。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【建议讲解】约4分钟，可按讨论深度调整。</a:t>
            </a:r>
          </a:p>
          <a:p>
            <a:r>
              <a:t>本页正式进入LLM Agent。基础LLM的能力由输入、参数与可用上下文决定；没有工具连接时，它可以基于给定材料回答新信息，但不能自己从外部来源主动抓取实时数据或在外部软件中执行动作。避免绝对说“LLM没有推理或规划能力”。</a:t>
            </a:r>
          </a:p>
          <a:p>
            <a:r>
              <a:t>带搜索或函数调用的聊天系统已经具备一些行动能力，若其能够自动迭代、维护状态并根据反馈选择后续行为，也可以构成某种Agent；三栏是典型配置而非互斥的学术类别。RAG也能给模型补充外部信息，但单次检索增强不自动等于长期自主任务执行。</a:t>
            </a:r>
          </a:p>
          <a:p>
            <a:r>
              <a:t>LLM Agent把语言模型放进一个更大的控制系统：目标、工具、状态、终止条件与错误处理共同决定实际行为。模型输出不直接等于外部行动。下一页沿用原稿上海旅行案例，把这些差别具体化。</a:t>
            </a:r>
          </a:p>
          <a:p/>
          <a:p>
            <a:r>
              <a:t>【来源与口径】</a:t>
            </a:r>
          </a:p>
          <a:p>
            <a:r>
              <a:t>[10]作者官方综述仓库明确采用profile/memory/planning/action模块；[11]作者官方综述仓库采用brain/perception/action分类。两种分类共同支持系统性理解，并非唯一架构标准。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【建议讲解】约4分钟，可按讨论深度调整。</a:t>
            </a:r>
          </a:p>
          <a:p>
            <a:r>
              <a:t>先读用户任务和约束：上海一日游、总预算不超过500元。预算范围按原稿，是列出的本地项目费用，不包括往返上海的城际交通与住宿。日期、人数、口味、预约时段等真实任务所需条件在本教学例中暂设已确定。</a:t>
            </a:r>
          </a:p>
          <a:p>
            <a:r>
              <a:t>初步行程合计为0+120+80+220+60=480元，形式上满足预算，但这些费用尚待核对。执行系统分别调用交通、景点和餐饮信息工具。假设本轮外部反馈确认本帮菜应为220元，其余项目保持原假设，合计更新为580元，超预算80元。</a:t>
            </a:r>
          </a:p>
          <a:p>
            <a:r>
              <a:t>这里不能把图中的580元称为真实最新价格；没有实际旅游接口调用，也没有实际预订。关键是区分“模型生成的估计”与“系统收到的观察”。</a:t>
            </a:r>
          </a:p>
          <a:p>
            <a:r>
              <a:t>讲解时让听众先算480与580，并问：此时应编造更低价格、直接结束，还是回到计划层选择可行替代方案？下一页展示反馈驱动的重规划。</a:t>
            </a:r>
          </a:p>
          <a:p/>
          <a:p>
            <a:r>
              <a:t>【来源与口径】</a:t>
            </a:r>
          </a:p>
          <a:p>
            <a:r>
              <a:t>原稿第7页可读到初始480元、餐费120→220元与反馈580元；原稿第8页包含调整午餐后460元。所有金额为教学假设。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【建议讲解】约5分钟，可按讨论深度调整。</a:t>
            </a:r>
          </a:p>
          <a:p>
            <a:r>
              <a:t>对比三列：初始预估480元只是未经核验的候选；反馈后580元表明原候选不可行；重规划选择100元的东北菜午餐，变为0+100+80+220+60=460元，预算余量40元。</a:t>
            </a:r>
          </a:p>
          <a:p>
            <a:r>
              <a:t>应说“更换餐饮选择”，不要把220元的已观察价格强行改为100元；新方案必须有对应替代对象与来源。这是更新计划与篡改观察的区别。</a:t>
            </a:r>
          </a:p>
          <a:p>
            <a:r>
              <a:t>最终输出应包含景点顺序、交通方式、费用明细、来源、时间戳及未验证项。本例只充分演示列出项目的费用约束，不以此声称真实上海行程已经可执行。若日期、开放时间、预约与通行耗时不满足条件，还要继续循环；如果是预订或付款，需满足用户授权，生成行程并不意味着已经下单。</a:t>
            </a:r>
          </a:p>
          <a:p>
            <a:r>
              <a:t>原稿用大幅截图呈现人手动查价与Agent自动执行，本稿拆成两页，并重绘为可编辑任务卡与对比表。下一页将案例抽象成通用执行闭环。</a:t>
            </a:r>
          </a:p>
          <a:p/>
          <a:p>
            <a:r>
              <a:t>【来源与口径】</a:t>
            </a:r>
          </a:p>
          <a:p>
            <a:r>
              <a:t>金额与替代午餐沿用原稿；未新增旅游价格事实。三列合计经独立计算核对。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【建议讲解】约4分钟，可按讨论深度调整。</a:t>
            </a:r>
          </a:p>
          <a:p>
            <a:r>
              <a:t>沿六个节点依次讲解。任务输入包含目标、预算与授权；LLM理解并规划，但真实查询由执行程序调用工具完成；返回值作为观察被记录；控制器结合观察更新状态，LLM据此决定继续查询、重规划或完成。示例580元不是奖励，而是能够触发预算检查的观察。</a:t>
            </a:r>
          </a:p>
          <a:p>
            <a:r>
              <a:t>本图的顺序是教学抽象。在真实系统中，状态更新常发生在每次工具返回后，验证模块也可以用确定性程序实现；不是每轮都必须写出长篇推理文字。LLM参与决策不代表全部控制逻辑由LLM决定。</a:t>
            </a:r>
          </a:p>
          <a:p>
            <a:r>
              <a:t>与第一章的区别：第一章说的是任意Agent与环境的接口；本页说的是LLM驱动系统在多步任务中的具体控制流。图中的继续分支返回规划层，完成分支输出核对后的结果。超时、成本用尽、工具不可用或用户取消都可以导致受控终止，不应该无限循环或虚报成功。</a:t>
            </a:r>
          </a:p>
          <a:p>
            <a:r>
              <a:t>问题：状态究竟放在哪里？查询由谁执行？下一页用整体架构回答。</a:t>
            </a:r>
          </a:p>
          <a:p/>
          <a:p>
            <a:r>
              <a:t>【来源与口径】</a:t>
            </a:r>
          </a:p>
          <a:p>
            <a:r>
              <a:t>[10] Wang et al.；[11] Xi et al.。原稿第9页运行流程的可编辑重构。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【建议讲解】约5分钟，可按讨论深度调整。</a:t>
            </a:r>
          </a:p>
          <a:p>
            <a:r>
              <a:t>从边界讲起：浅蓝框内是实现Agent任务执行的系统；Environment是其交互对象与反馈来源。工具位于系统与环境之间，负责把结构化调用落实为查询、操作或计算。用户、网页、数据库、软件以及物理世界都可能构成环境的一部分。</a:t>
            </a:r>
          </a:p>
          <a:p>
            <a:r>
              <a:t>LLM承担语言理解、推理与下一步选择，但不能把它解释为保证正确的大脑。Planning管理任务分解、依赖和重规划；Memory为当前决策提供任务上下文、长期信息与经验；Tools提供模型参数之外的访问与执行能力。环境反馈经校验、记录与上下文整理后进入下一轮LLM调用。</a:t>
            </a:r>
          </a:p>
          <a:p>
            <a:r>
              <a:t>这是综合抽象，不是唯一学术标准。Wang等将构建分成profile、memory、planning、action；Xi等使用brain、perception、action。这里把角色设定放入目标与约束，将观察解析放入状态管理，并突出用户要求的五个模块。规划可由同一LLM提示完成，长期记忆可按任务省略；无需机械地把每个框部署成单独服务。</a:t>
            </a:r>
          </a:p>
          <a:p>
            <a:r>
              <a:t>下一步逐一放大规划、记忆和工具，回答为什么需要、如何工作及有哪些局限。</a:t>
            </a:r>
          </a:p>
          <a:p/>
          <a:p>
            <a:r>
              <a:t>【来源与口径】</a:t>
            </a:r>
          </a:p>
          <a:p>
            <a:r>
              <a:t>[10] A Survey on Large Language Model based Autonomous Agents，arXiv:2308.11432，2023；[11] The Rise and Potential of Large Language Model Based Agents: A Survey，arXiv:2309.07864，2023。架构为原创重绘。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【建议讲解】约5分钟，可按讨论深度调整。</a:t>
            </a:r>
          </a:p>
          <a:p>
            <a:r>
              <a:t>为什么需要：一日游并不只是列出景点，还包含先查什么、哪些查询可独立进行、哪些信息必须合并后才能判断可行等依赖。</a:t>
            </a:r>
          </a:p>
          <a:p>
            <a:r>
              <a:t>如何工作：将目标和约束结构化，形成子任务；不同信息查询可以按依赖关系调度，结果合并后使用规则或程序检查预算与冲突。若超预算，保留反馈事实并重新选择餐饮候选。图是任务依赖示意，不表示所有Agent都必须先生成完整DAG。</a:t>
            </a:r>
          </a:p>
          <a:p>
            <a:r>
              <a:t>两种常见组织方式：先规划再执行，优点是全局依赖清楚；边执行边规划，优点是适应新反馈。两者可组合。ReAct将是后者的重要研究代表，但不是所有逐步规划都叫ReAct，也不要把Plan-and-Solve语言推理提示直接当作外部工具执行DAG。</a:t>
            </a:r>
          </a:p>
          <a:p>
            <a:r>
              <a:t>局限：LLM可能遗漏预约条件、低估通行时间，分解错误会传播；增加搜索分支与检查也增加延迟和成本。可执行性需由具体工具能力、环境约束与结果验证支撑。下一页看如何记住执行过程，避免后续步骤丢失约束或重复查询。</a:t>
            </a:r>
          </a:p>
          <a:p/>
          <a:p>
            <a:r>
              <a:t>【来源与口径】</a:t>
            </a:r>
          </a:p>
          <a:p>
            <a:r>
              <a:t>参考经典自动规划与LLM Agent综述；本页不声称语言规划已具备完备性或最优性保证。示例不是实测运行轨迹。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【建议讲解】约5分钟，可按讨论深度调整。</a:t>
            </a:r>
          </a:p>
          <a:p>
            <a:r>
              <a:t>为什么需要：旅行任务查询到餐费220元后，如果下一轮忘了这条反馈，就可能重复生成480元的旧方案。短期上下文和工作状态保留目标、约束、已查事实、待办与中间结果。</a:t>
            </a:r>
          </a:p>
          <a:p>
            <a:r>
              <a:t>长期信息用于跨任务保存偏好、文档与历史记录；经验管理保存可复用的成功或失败教训。这是教学分类，不是互斥的三种物理存储器，经验也可能保存在长期存储中；短期与工作记忆也可采用消息历史、结构化状态或摘要实现。</a:t>
            </a:r>
          </a:p>
          <a:p>
            <a:r>
              <a:t>工作过程：先决定哪些观察值得保留，附带来源、时间戳与适用条件；需要时检索相关条目，再注入当前上下文。向量数据库只是一种实现选择，检索可以使用关键词、结构化查询、时间和重要性等信号。</a:t>
            </a:r>
          </a:p>
          <a:p>
            <a:r>
              <a:t>局限：摘要丢失细节、过时信息污染、检索不相关、存储隐私与成本。上下文中的“记住”不同于参数学习：本轮写入经验通常不改变模型权重。Reflexion的语言反馈是第三章要展开的代表思路，不能简单等同于传统数值强化学习，也不能承诺每次反思都改善。</a:t>
            </a:r>
          </a:p>
          <a:p>
            <a:r>
              <a:t>下一页解释工具调用如何把文字决策变成真正的执行。</a:t>
            </a:r>
          </a:p>
          <a:p/>
          <a:p>
            <a:r>
              <a:t>【来源与口径】</a:t>
            </a:r>
          </a:p>
          <a:p>
            <a:r>
              <a:t>[13] 正确题名为Language Agents with Verbal Reinforcement Learning；教程核心概念页将副标题写成Iterative Design Learning，本稿已纠正。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【建议讲解】约5分钟，可按讨论深度调整。</a:t>
            </a:r>
          </a:p>
          <a:p>
            <a:r>
              <a:t>区分四个角色：模型根据工具描述选择工具、生成调用参数；执行器校验字段、权限和资源限制；真实程序调用API或运行代码；返回结果或报错被记录为观察。函数名称和参数Schema是工具说明书，并不包含实现本身。</a:t>
            </a:r>
          </a:p>
          <a:p>
            <a:r>
              <a:t>本页query_price是教学伪接口，220元仍是原稿假设，不是真实联网查询。精确求和可以交给计算器或确定性代码，语言模型主要负责解释结果与选择下一步。格式符合JSON Schema，只能说明结构正确，不能证明价格来源真实或业务结果有效。</a:t>
            </a:r>
          </a:p>
          <a:p>
            <a:r>
              <a:t>执行层还要处理工具不存在、参数错误、超时、限流、返回内容不可信等问题。网页或工具返回中的指令不应自动被视为更高优先级的系统指令。对于预订、付款、删除等不可逆动作，应按用户授权与任务规则做额外检查；查询成功不等于预订成功。</a:t>
            </a:r>
          </a:p>
          <a:p>
            <a:r>
              <a:t>工具调用可由单个Agent调度，也可由多主体分工。下一页只介绍多智能体的基本差异与协作代价，不扩展到应用细节。</a:t>
            </a:r>
          </a:p>
          <a:p/>
          <a:p>
            <a:r>
              <a:t>【来源与口径】</a:t>
            </a:r>
          </a:p>
          <a:p>
            <a:r>
              <a:t>教程3.2的模型/执行程序/工具Schema分工与两篇综述交叉参考。原生形状重绘；没有复制教程截图。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【建议讲解】约4分钟，可按讨论深度调整。</a:t>
            </a:r>
          </a:p>
          <a:p>
            <a:r>
              <a:t>单智能体指一个主要决策主体维护任务状态、选择动作，它完全可以并发调用多个独立工具，因此不能说“单Agent必然只能串行”。多智能体指多个具有决策行为的主体相互协调，可以共享一个底层语言模型，也可以使用不同模型或工具；多个Agent不要求多个物理进程。</a:t>
            </a:r>
          </a:p>
          <a:p>
            <a:r>
              <a:t>用上海例子说明角色分工：规划者产生路线与依赖，查询者获取证据，核验者检查预算和冲突，协调者整合结果并决定继续或完成。图中是一种中心协调结构，不代表多智能体只有这种组织方式；也可采用对等通信或共享黑板。</a:t>
            </a:r>
          </a:p>
          <a:p>
            <a:r>
              <a:t>能力扩展可能来自任务并行、不同工具访问与职责约束，但角色提示不会自动使模型成为领域专家。多个相同模型也可能共享错误，投票或互相评审不保证独立性与正确性。通信次数、Token费用、同步延迟、重复劳动、状态冲突和责任归属都应纳入成本。</a:t>
            </a:r>
          </a:p>
          <a:p>
            <a:r>
              <a:t>这里不展开ChatDev等应用，保留给第四章。下一页以一个研究问题结束架构章，并进入ReAct。</a:t>
            </a:r>
          </a:p>
          <a:p/>
          <a:p>
            <a:r>
              <a:t>【来源与口径】</a:t>
            </a:r>
          </a:p>
          <a:p>
            <a:r>
              <a:t>[11]作者官方综述介绍单Agent、多Agent与人机协作。图为教学性角色设计，不声称经过系统实验验证。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【建议讲解】约3分钟，可按讨论深度调整。</a:t>
            </a:r>
          </a:p>
          <a:p>
            <a:r>
              <a:t>收束第二章：规划回答下一步做什么，记忆回答下一步依据什么，工具回答行动如何真正发生，环境提供结果与约束，控制器负责继续或终止。</a:t>
            </a:r>
          </a:p>
          <a:p>
            <a:r>
              <a:t>用用户指定过渡语结束：“我们已经知道LLM Agent需要推理、行动以及环境反馈，那么如何让大语言模型在推理过程中采取行动，并根据观察结果不断调整决策？ReAct提供了一种具有代表性的研究思路。”</a:t>
            </a:r>
          </a:p>
          <a:p>
            <a:r>
              <a:t>强调页面只是研究问题与下一章入口，不宣称本轮已完成ReAct论文讲解。ReAct通常以Thought、Action、Observation轨迹组织交互，但不能说每个Agent都必须展示内部思维链，也不能把可见推理文本视为真实内部计算的完整证明。</a:t>
            </a:r>
          </a:p>
          <a:p>
            <a:r>
              <a:t>第三章计划先读ReAct的动机、提示范式、任务与实验，再对比Reflexion把反馈总结为语言经验、影响后续尝试的机制。两篇论文涉及的实验数字本轮不引用，以免脱离模型、任务和评测条件。</a:t>
            </a:r>
          </a:p>
          <a:p/>
          <a:p>
            <a:r>
              <a:t>【来源与口径】</a:t>
            </a:r>
          </a:p>
          <a:p>
            <a:r>
              <a:t>[12] 作者官方仓库明确为ICLR 2023；arXiv编号2210.03629对应2022预印本。[13] 官方仓库明确为NeurIPS 2023，题名含Verbal Reinforcement Learning。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DIG—大模型 &amp; 智能体前沿研究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智能体综述 / 全景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30352" y="6400800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>
                <a:solidFill>
                  <a:srgbClr val="596E80"/>
                </a:solidFill>
                <a:latin typeface="Noto Sans CJK SC"/>
                <a:ea typeface="Noto Sans CJK SC"/>
              </a:rPr>
              <a:t>研究生大组会｜第一章与第二章正式内容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" y="1691640"/>
            <a:ext cx="12079224" cy="1078992"/>
          </a:xfrm>
          <a:prstGeom prst="rect">
            <a:avLst/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" y="2770632"/>
            <a:ext cx="12079224" cy="82296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901952"/>
            <a:ext cx="10789920" cy="6675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从广义 Agent 到大模型智能体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46704"/>
            <a:ext cx="6675120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2385D"/>
                </a:solidFill>
                <a:latin typeface="Noto Sans CJK SC"/>
                <a:ea typeface="Noto Sans CJK SC"/>
              </a:rPr>
              <a:t>概念与历史建立边界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12385D"/>
                </a:solidFill>
                <a:latin typeface="Noto Sans CJK SC"/>
                <a:ea typeface="Noto Sans CJK SC"/>
              </a:rPr>
              <a:t>案例与架构解释机制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855464"/>
            <a:ext cx="7955279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96E80"/>
                </a:solidFill>
                <a:latin typeface="Noto Sans CJK SC"/>
                <a:ea typeface="Noto Sans CJK SC"/>
              </a:rPr>
              <a:t>大数据科学与产业研究院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96E80"/>
                </a:solidFill>
                <a:latin typeface="Noto Sans CJK SC"/>
                <a:ea typeface="Noto Sans CJK SC"/>
              </a:rPr>
              <a:t>演化科学智能山西省重点实验室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8873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565A8"/>
                </a:solidFill>
                <a:latin typeface="Noto Sans CJK SC"/>
                <a:ea typeface="Noto Sans CJK SC"/>
              </a:rPr>
              <a:t>汇报人：左金隆    ｜    2026年10月27日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328416"/>
            <a:ext cx="1225296" cy="594360"/>
          </a:xfrm>
          <a:prstGeom prst="roundRect">
            <a:avLst>
              <a:gd name="adj" fmla="val 8000"/>
            </a:avLst>
          </a:prstGeom>
          <a:solidFill>
            <a:srgbClr val="E7F3F8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14816" y="3447288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565A8"/>
                </a:solidFill>
                <a:latin typeface="Noto Sans CJK SC"/>
                <a:ea typeface="Noto Sans CJK SC"/>
              </a:rPr>
              <a:t>感知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4224528"/>
            <a:ext cx="1225296" cy="594360"/>
          </a:xfrm>
          <a:prstGeom prst="roundRect">
            <a:avLst>
              <a:gd name="adj" fmla="val 8000"/>
            </a:avLst>
          </a:prstGeom>
          <a:solidFill>
            <a:srgbClr val="E7F3F8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0736" y="4343400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565A8"/>
                </a:solidFill>
                <a:latin typeface="Noto Sans CJK SC"/>
                <a:ea typeface="Noto Sans CJK SC"/>
              </a:rPr>
              <a:t>决策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5120640"/>
            <a:ext cx="1225296" cy="594360"/>
          </a:xfrm>
          <a:prstGeom prst="roundRect">
            <a:avLst>
              <a:gd name="adj" fmla="val 8000"/>
            </a:avLst>
          </a:prstGeom>
          <a:solidFill>
            <a:srgbClr val="E7F3F8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14816" y="5239512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565A8"/>
                </a:solidFill>
                <a:latin typeface="Noto Sans CJK SC"/>
                <a:ea typeface="Noto Sans CJK SC"/>
              </a:rPr>
              <a:t>行动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12096" y="3630168"/>
            <a:ext cx="1033272" cy="0"/>
          </a:xfrm>
          <a:prstGeom prst="line">
            <a:avLst/>
          </a:prstGeom>
          <a:ln w="22860">
            <a:solidFill>
              <a:srgbClr val="36A3CF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10945368" y="3630168"/>
            <a:ext cx="0" cy="594360"/>
          </a:xfrm>
          <a:prstGeom prst="line">
            <a:avLst/>
          </a:prstGeom>
          <a:ln w="22860">
            <a:solidFill>
              <a:srgbClr val="36A3CF"/>
            </a:solidFill>
            <a:tailEnd type="triangle" w="sm" len="sm"/>
          </a:ln>
        </p:spPr>
      </p:cxnSp>
      <p:cxnSp>
        <p:nvCxnSpPr>
          <p:cNvPr id="27" name="Connector 26"/>
          <p:cNvCxnSpPr/>
          <p:nvPr/>
        </p:nvCxnSpPr>
        <p:spPr>
          <a:xfrm>
            <a:off x="10945368" y="4818888"/>
            <a:ext cx="0" cy="603504"/>
          </a:xfrm>
          <a:prstGeom prst="line">
            <a:avLst/>
          </a:prstGeom>
          <a:ln w="22860">
            <a:solidFill>
              <a:srgbClr val="36A3C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H="1">
            <a:off x="9912096" y="5422392"/>
            <a:ext cx="1033272" cy="0"/>
          </a:xfrm>
          <a:prstGeom prst="line">
            <a:avLst/>
          </a:prstGeom>
          <a:ln w="22860">
            <a:solidFill>
              <a:srgbClr val="36A3CF"/>
            </a:solidFill>
            <a:tailEnd type="triangle" w="sm" len="sm"/>
          </a:ln>
        </p:spPr>
      </p:cxnSp>
      <p:cxnSp>
        <p:nvCxnSpPr>
          <p:cNvPr id="29" name="Connector 28"/>
          <p:cNvCxnSpPr/>
          <p:nvPr/>
        </p:nvCxnSpPr>
        <p:spPr>
          <a:xfrm flipH="1">
            <a:off x="8284464" y="5422392"/>
            <a:ext cx="402336" cy="0"/>
          </a:xfrm>
          <a:prstGeom prst="line">
            <a:avLst/>
          </a:prstGeom>
          <a:ln w="22860">
            <a:solidFill>
              <a:srgbClr val="36A3C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8284464" y="3630168"/>
            <a:ext cx="0" cy="1792224"/>
          </a:xfrm>
          <a:prstGeom prst="line">
            <a:avLst/>
          </a:prstGeom>
          <a:ln w="22860">
            <a:solidFill>
              <a:srgbClr val="36A3CF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8284464" y="3630168"/>
            <a:ext cx="402336" cy="0"/>
          </a:xfrm>
          <a:prstGeom prst="line">
            <a:avLst/>
          </a:prstGeom>
          <a:ln w="22860">
            <a:solidFill>
              <a:srgbClr val="36A3CF"/>
            </a:solidFill>
            <a:tailEnd type="triangl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汇报路线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五章构成全景：本轮先建立概念与架构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4475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整场约150分钟；本轮完成前两章，后续围绕论文、应用与评估展开。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1929384"/>
            <a:ext cx="11109960" cy="64008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057400"/>
            <a:ext cx="676656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565A8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16252"/>
            <a:ext cx="491947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2385D"/>
                </a:solidFill>
                <a:latin typeface="Noto Sans CJK SC"/>
                <a:ea typeface="Noto Sans CJK SC"/>
              </a:rPr>
              <a:t>智能体的概念与发展历程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075688"/>
            <a:ext cx="4901184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96E80"/>
                </a:solidFill>
                <a:latin typeface="Noto Sans CJK SC"/>
                <a:ea typeface="Noto Sans CJK SC"/>
              </a:rPr>
              <a:t>定义 · 特征 · 环境交互 · 并行发展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929384"/>
            <a:ext cx="59436" cy="64008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2679191"/>
            <a:ext cx="11109960" cy="64008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07208"/>
            <a:ext cx="676656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565A8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2766060"/>
            <a:ext cx="491947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2385D"/>
                </a:solidFill>
                <a:latin typeface="Noto Sans CJK SC"/>
                <a:ea typeface="Noto Sans CJK SC"/>
              </a:rPr>
              <a:t>大模型智能体的核心架构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825496"/>
            <a:ext cx="4901184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96E80"/>
                </a:solidFill>
                <a:latin typeface="Noto Sans CJK SC"/>
                <a:ea typeface="Noto Sans CJK SC"/>
              </a:rPr>
              <a:t>上海案例 · 执行闭环 · 规划 / 记忆 / 工具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679191"/>
            <a:ext cx="59436" cy="64008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429000"/>
            <a:ext cx="11109960" cy="6400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557016"/>
            <a:ext cx="676656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596E80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7904" y="3515868"/>
            <a:ext cx="491947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596E80"/>
                </a:solidFill>
                <a:latin typeface="Noto Sans CJK SC"/>
                <a:ea typeface="Noto Sans CJK SC"/>
              </a:rPr>
              <a:t>代表性研究工作与关键技术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3575304"/>
            <a:ext cx="4901184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96E80"/>
                </a:solidFill>
                <a:latin typeface="Noto Sans CJK SC"/>
                <a:ea typeface="Noto Sans CJK SC"/>
              </a:rPr>
              <a:t>重点：ReAct（ICLR 2023）与 Reflexion（NeurIPS 2023）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178808"/>
            <a:ext cx="11109960" cy="6400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306824"/>
            <a:ext cx="676656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596E80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17904" y="4265676"/>
            <a:ext cx="491947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596E80"/>
                </a:solidFill>
                <a:latin typeface="Noto Sans CJK SC"/>
                <a:ea typeface="Noto Sans CJK SC"/>
              </a:rPr>
              <a:t>智能体的典型应用与实践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4325112"/>
            <a:ext cx="4901184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96E80"/>
                </a:solidFill>
                <a:latin typeface="Noto Sans CJK SC"/>
                <a:ea typeface="Noto Sans CJK SC"/>
              </a:rPr>
              <a:t>后续补充应用场景与可复现实践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28616"/>
            <a:ext cx="11109960" cy="6400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56631"/>
            <a:ext cx="676656" cy="448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596E80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7904" y="5015483"/>
            <a:ext cx="491947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596E80"/>
                </a:solidFill>
                <a:latin typeface="Noto Sans CJK SC"/>
                <a:ea typeface="Noto Sans CJK SC"/>
              </a:rPr>
              <a:t>智能体的评估、挑战与发展趋势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5074920"/>
            <a:ext cx="4901184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96E80"/>
                </a:solidFill>
                <a:latin typeface="Noto Sans CJK SC"/>
                <a:ea typeface="Noto Sans CJK SC"/>
              </a:rPr>
              <a:t>后续讨论可靠性、成本与开放问题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第一章 01｜概念与发展历程 · 1.1 学术定义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智能体的本质：在环境中感知并采取行动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4475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以下为中文释义：三种经典视角强调不同侧面，并不限定决策必须由LLM实现。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30352" y="6400800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>
                <a:solidFill>
                  <a:srgbClr val="596E80"/>
                </a:solidFill>
                <a:latin typeface="Noto Sans CJK SC"/>
                <a:ea typeface="Noto Sans CJK SC"/>
              </a:rPr>
              <a:t>[1] Russell &amp; Norvig, AIMA, 1995, Ch.2   [2] Franklin &amp; Graesser, ATAL 1996 / 1997   [3] Wooldridge &amp; Jennings, KER, 1995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029968"/>
            <a:ext cx="3547872" cy="2990088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29968"/>
            <a:ext cx="50292" cy="2990088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85416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RUSSELL &amp; NORVIG · 1995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78608"/>
            <a:ext cx="3182112" cy="4663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2385D"/>
                </a:solidFill>
                <a:latin typeface="Noto Sans CJK SC"/>
                <a:ea typeface="Noto Sans CJK SC"/>
              </a:rPr>
              <a:t>感知—行动视角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72968"/>
            <a:ext cx="3182112" cy="1746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72D43"/>
                </a:solidFill>
                <a:latin typeface="Noto Sans CJK SC"/>
                <a:ea typeface="Noto Sans CJK SC"/>
              </a:rPr>
              <a:t>通过传感器感知环境，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72D43"/>
                </a:solidFill>
                <a:latin typeface="Noto Sans CJK SC"/>
                <a:ea typeface="Noto Sans CJK SC"/>
              </a:rPr>
              <a:t>通过执行器对环境行动。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72D43"/>
                </a:solidFill>
                <a:latin typeface="Noto Sans CJK SC"/>
                <a:ea typeface="Noto Sans CJK SC"/>
              </a:rPr>
              <a:t>关注：系统与环境的接口。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2029968"/>
            <a:ext cx="3547872" cy="2990088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2029968"/>
            <a:ext cx="50292" cy="2990088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185416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FRANKLIN &amp; GRAESSER · 1997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578608"/>
            <a:ext cx="3182112" cy="4663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2385D"/>
                </a:solidFill>
                <a:latin typeface="Noto Sans CJK SC"/>
                <a:ea typeface="Noto Sans CJK SC"/>
              </a:rPr>
              <a:t>持续、嵌入的主体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3172968"/>
            <a:ext cx="3182112" cy="1746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72D43"/>
                </a:solidFill>
                <a:latin typeface="Noto Sans CJK SC"/>
                <a:ea typeface="Noto Sans CJK SC"/>
              </a:rPr>
              <a:t>处于环境之中，持续感知、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72D43"/>
                </a:solidFill>
                <a:latin typeface="Noto Sans CJK SC"/>
                <a:ea typeface="Noto Sans CJK SC"/>
              </a:rPr>
              <a:t>行动，并追求自身议程。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72D43"/>
                </a:solidFill>
                <a:latin typeface="Noto Sans CJK SC"/>
                <a:ea typeface="Noto Sans CJK SC"/>
              </a:rPr>
              <a:t>关注：行动影响后续感知。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2029968"/>
            <a:ext cx="3547872" cy="2990088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83296" y="2029968"/>
            <a:ext cx="50292" cy="2990088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5" y="2185416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WOOLDRIDGE &amp; JENNINGS · 1995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2578608"/>
            <a:ext cx="3182112" cy="4663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2385D"/>
                </a:solidFill>
                <a:latin typeface="Noto Sans CJK SC"/>
                <a:ea typeface="Noto Sans CJK SC"/>
              </a:rPr>
              <a:t>弱智能体概念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3172968"/>
            <a:ext cx="3182112" cy="1746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72D43"/>
                </a:solidFill>
                <a:latin typeface="Noto Sans CJK SC"/>
                <a:ea typeface="Noto Sans CJK SC"/>
              </a:rPr>
              <a:t>用自主性、社会性、反应性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72D43"/>
                </a:solidFill>
                <a:latin typeface="Noto Sans CJK SC"/>
                <a:ea typeface="Noto Sans CJK SC"/>
              </a:rPr>
              <a:t>和主动性描述一类系统。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72D43"/>
                </a:solidFill>
                <a:latin typeface="Noto Sans CJK SC"/>
                <a:ea typeface="Noto Sans CJK SC"/>
              </a:rPr>
              <a:t>关注：行为与控制特征。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5221224"/>
            <a:ext cx="10881360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目标可以由设计者或用户给定；行为是否合理，需要结合任务的性能标准评价。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" y="5687568"/>
            <a:ext cx="11128248" cy="448056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747004"/>
            <a:ext cx="10771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共同关注的是“系统如何行动”，而不是“系统是否拥有大语言模型”。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第一章 01｜概念与发展历程 · 1.2 基本特征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四个典型特征描述行为，不是一张统一的准入清单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4475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以扫地机器人为例：自主性是授权范围内的控制能力，不等于不受约束。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30352" y="6400800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>
                <a:solidFill>
                  <a:srgbClr val="596E80"/>
                </a:solidFill>
                <a:latin typeface="Noto Sans CJK SC"/>
                <a:ea typeface="Noto Sans CJK SC"/>
              </a:rPr>
              <a:t>[3] Wooldridge &amp; Jennings, 1995, “weak notion of agency”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057400"/>
            <a:ext cx="5413248" cy="155448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85416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565A8"/>
                </a:solidFill>
                <a:latin typeface="Noto Sans CJK SC"/>
                <a:ea typeface="Noto Sans CJK SC"/>
              </a:rPr>
              <a:t>01 · AUTONOMY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496312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2385D"/>
                </a:solidFill>
                <a:latin typeface="Noto Sans CJK SC"/>
                <a:ea typeface="Noto Sans CJK SC"/>
              </a:rPr>
              <a:t>自主性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496312"/>
            <a:ext cx="3675887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172D43"/>
                </a:solidFill>
                <a:latin typeface="Noto Sans CJK SC"/>
                <a:ea typeface="Noto Sans CJK SC"/>
              </a:rPr>
              <a:t>独立管理自身状态与行动。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18104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596E80"/>
                </a:solidFill>
                <a:latin typeface="Noto Sans CJK SC"/>
                <a:ea typeface="Noto Sans CJK SC"/>
              </a:rPr>
              <a:t>例：按任务自行完成房间清扫。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57400"/>
            <a:ext cx="5413248" cy="155448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185416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565A8"/>
                </a:solidFill>
                <a:latin typeface="Noto Sans CJK SC"/>
                <a:ea typeface="Noto Sans CJK SC"/>
              </a:rPr>
              <a:t>02 · REACTIVITY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96312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2385D"/>
                </a:solidFill>
                <a:latin typeface="Noto Sans CJK SC"/>
                <a:ea typeface="Noto Sans CJK SC"/>
              </a:rPr>
              <a:t>反应性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496312"/>
            <a:ext cx="3675887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172D43"/>
                </a:solidFill>
                <a:latin typeface="Noto Sans CJK SC"/>
                <a:ea typeface="Noto Sans CJK SC"/>
              </a:rPr>
              <a:t>感知环境变化，并及时作出响应。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18104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596E80"/>
                </a:solidFill>
                <a:latin typeface="Noto Sans CJK SC"/>
                <a:ea typeface="Noto Sans CJK SC"/>
              </a:rPr>
              <a:t>例：遇到障碍时改变行进方向。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40480"/>
            <a:ext cx="5413248" cy="155448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68496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565A8"/>
                </a:solidFill>
                <a:latin typeface="Noto Sans CJK SC"/>
                <a:ea typeface="Noto Sans CJK SC"/>
              </a:rPr>
              <a:t>03 · PROACTIVITY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79392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2385D"/>
                </a:solidFill>
                <a:latin typeface="Noto Sans CJK SC"/>
                <a:ea typeface="Noto Sans CJK SC"/>
              </a:rPr>
              <a:t>主动性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279392"/>
            <a:ext cx="3675887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172D43"/>
                </a:solidFill>
                <a:latin typeface="Noto Sans CJK SC"/>
                <a:ea typeface="Noto Sans CJK SC"/>
              </a:rPr>
              <a:t>围绕目标采取主动行为。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01184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596E80"/>
                </a:solidFill>
                <a:latin typeface="Noto Sans CJK SC"/>
                <a:ea typeface="Noto Sans CJK SC"/>
              </a:rPr>
              <a:t>例：电量不足时主动规划回充。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840480"/>
            <a:ext cx="5413248" cy="155448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968496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565A8"/>
                </a:solidFill>
                <a:latin typeface="Noto Sans CJK SC"/>
                <a:ea typeface="Noto Sans CJK SC"/>
              </a:rPr>
              <a:t>04 · SOCIAL 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79392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2385D"/>
                </a:solidFill>
                <a:latin typeface="Noto Sans CJK SC"/>
                <a:ea typeface="Noto Sans CJK SC"/>
              </a:rPr>
              <a:t>社会性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4279392"/>
            <a:ext cx="3675887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172D43"/>
                </a:solidFill>
                <a:latin typeface="Noto Sans CJK SC"/>
                <a:ea typeface="Noto Sans CJK SC"/>
              </a:rPr>
              <a:t>与人或其他Agent通信、协作。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01184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596E80"/>
                </a:solidFill>
                <a:latin typeface="Noto Sans CJK SC"/>
                <a:ea typeface="Noto Sans CJK SC"/>
              </a:rPr>
              <a:t>例：向用户报告卡困并请求协助。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5687568"/>
            <a:ext cx="11128248" cy="448056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747004"/>
            <a:ext cx="10771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这些能力早于LLM；不同系统具备的程度、组合及实现方式并不相同。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第一章 01｜概念与发展历程 · 1.2 环境交互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广义Agent的核心机制是“感知—决策—行动”闭环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4475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扫地机器人只需传感器、控制策略与执行器，也可以构成智能体。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30352" y="6400800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>
                <a:solidFill>
                  <a:srgbClr val="596E80"/>
                </a:solidFill>
                <a:latin typeface="Noto Sans CJK SC"/>
                <a:ea typeface="Noto Sans CJK SC"/>
              </a:rPr>
              <a:t>[1] AIMA, Ch.2   [4] Sutton &amp; Barto, Reinforcement Learning: An Introduction, 2nd ed., 2018, Ch.3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194560"/>
            <a:ext cx="4069080" cy="2761488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3774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2385D"/>
                </a:solidFill>
                <a:latin typeface="Noto Sans CJK SC"/>
                <a:ea typeface="Noto Sans CJK SC"/>
              </a:rPr>
              <a:t>Agent｜扫地机器人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1" y="3081528"/>
            <a:ext cx="1371600" cy="114300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3200400"/>
            <a:ext cx="111556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565A8"/>
                </a:solidFill>
                <a:latin typeface="Noto Sans CJK SC"/>
                <a:ea typeface="Noto Sans CJK SC"/>
              </a:rPr>
              <a:t>感知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3" y="3675888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距离 / 电量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62656" y="3081528"/>
            <a:ext cx="1572768" cy="114300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200400"/>
            <a:ext cx="1316736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565A8"/>
                </a:solidFill>
                <a:latin typeface="Noto Sans CJK SC"/>
                <a:ea typeface="Noto Sans CJK SC"/>
              </a:rPr>
              <a:t>决策与行动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1528" y="3675888"/>
            <a:ext cx="1335024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避障 / 回充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04872" y="3648456"/>
            <a:ext cx="557784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sp>
        <p:nvSpPr>
          <p:cNvPr id="23" name="Rounded Rectangle 22"/>
          <p:cNvSpPr/>
          <p:nvPr/>
        </p:nvSpPr>
        <p:spPr>
          <a:xfrm>
            <a:off x="7360920" y="2194560"/>
            <a:ext cx="4050791" cy="2761488"/>
          </a:xfrm>
          <a:prstGeom prst="roundRect">
            <a:avLst>
              <a:gd name="adj" fmla="val 8000"/>
            </a:avLst>
          </a:prstGeom>
          <a:solidFill>
            <a:srgbClr val="E7F3F8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3" y="2386584"/>
            <a:ext cx="3511296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2385D"/>
                </a:solidFill>
                <a:latin typeface="Noto Sans CJK SC"/>
                <a:ea typeface="Noto Sans CJK SC"/>
              </a:rPr>
              <a:t>Environment｜房间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1816" y="3218688"/>
            <a:ext cx="3337560" cy="1124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172D43"/>
                </a:solidFill>
                <a:latin typeface="Noto Sans CJK SC"/>
                <a:ea typeface="Noto Sans CJK SC"/>
              </a:rPr>
              <a:t>障碍物与地面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172D43"/>
                </a:solidFill>
                <a:latin typeface="Noto Sans CJK SC"/>
                <a:ea typeface="Noto Sans CJK SC"/>
              </a:rPr>
              <a:t>充电座与动态变化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071616" y="2898648"/>
            <a:ext cx="1289304" cy="0"/>
          </a:xfrm>
          <a:prstGeom prst="line">
            <a:avLst/>
          </a:prstGeom>
          <a:ln w="30480">
            <a:solidFill>
              <a:srgbClr val="36A3C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H="1">
            <a:off x="4846320" y="2898648"/>
            <a:ext cx="1225296" cy="0"/>
          </a:xfrm>
          <a:prstGeom prst="line">
            <a:avLst/>
          </a:prstGeom>
          <a:ln w="30480">
            <a:solidFill>
              <a:srgbClr val="36A3CF"/>
            </a:solidFill>
            <a:tailEnd type="triangle" w="sm" len="sm"/>
          </a:ln>
        </p:spPr>
      </p:cxnSp>
      <p:sp>
        <p:nvSpPr>
          <p:cNvPr id="28" name="TextBox 27"/>
          <p:cNvSpPr txBox="1"/>
          <p:nvPr/>
        </p:nvSpPr>
        <p:spPr>
          <a:xfrm>
            <a:off x="5001768" y="2368296"/>
            <a:ext cx="2221992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565A8"/>
                </a:solidFill>
                <a:latin typeface="Noto Sans CJK SC"/>
                <a:ea typeface="Noto Sans CJK SC"/>
              </a:rPr>
              <a:t>感知：环境观察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46320" y="4224528"/>
            <a:ext cx="1225296" cy="0"/>
          </a:xfrm>
          <a:prstGeom prst="line">
            <a:avLst/>
          </a:prstGeom>
          <a:ln w="30480">
            <a:solidFill>
              <a:srgbClr val="1565A8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6071616" y="4224528"/>
            <a:ext cx="1289304" cy="0"/>
          </a:xfrm>
          <a:prstGeom prst="line">
            <a:avLst/>
          </a:prstGeom>
          <a:ln w="30480">
            <a:solidFill>
              <a:srgbClr val="1565A8"/>
            </a:solidFill>
            <a:tailEnd type="triangle" w="sm" len="sm"/>
          </a:ln>
        </p:spPr>
      </p:cxnSp>
      <p:sp>
        <p:nvSpPr>
          <p:cNvPr id="31" name="TextBox 30"/>
          <p:cNvSpPr txBox="1"/>
          <p:nvPr/>
        </p:nvSpPr>
        <p:spPr>
          <a:xfrm>
            <a:off x="5001768" y="4480560"/>
            <a:ext cx="222199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565A8"/>
                </a:solidFill>
                <a:latin typeface="Noto Sans CJK SC"/>
                <a:ea typeface="Noto Sans CJK SC"/>
              </a:rPr>
              <a:t>行动：改变环境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230368"/>
            <a:ext cx="10469880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596E80"/>
                </a:solidFill>
                <a:latin typeface="Noto Sans CJK SC"/>
                <a:ea typeface="Noto Sans CJK SC"/>
              </a:rPr>
              <a:t>观察通常只是环境状态的一部分；反馈不一定是奖励，运行时也不一定进行学习。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5687568"/>
            <a:ext cx="11128248" cy="448056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747004"/>
            <a:ext cx="10771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Agent本身也可以是传统程序；关键在于其在环境中的角色与交互方式。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第一章 01｜概念与发展历程 · 1.3 技术脉络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发展历程：目标未变，决策、学习与行动的技术在演变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4475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代表节点按年代排列（非等距）；三类路线长期并行，也会在同一系统中组合。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30352" y="6400800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>
                <a:solidFill>
                  <a:srgbClr val="596E80"/>
                </a:solidFill>
                <a:latin typeface="Noto Sans CJK SC"/>
                <a:ea typeface="Noto Sans CJK SC"/>
              </a:rPr>
              <a:t>[5] STRIPS, 1971   [6] BDI, 1995   [7] Deep Blue, 2002   [8] AlphaGo, 2016   [9] AutoGPT官方项目, 2023起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784" y="2029968"/>
            <a:ext cx="3529584" cy="288036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2176272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2385D"/>
                </a:solidFill>
                <a:latin typeface="Noto Sans CJK SC"/>
                <a:ea typeface="Noto Sans CJK SC"/>
              </a:rPr>
              <a:t>符号、规则与搜索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706624"/>
            <a:ext cx="3200400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565A8"/>
                </a:solidFill>
                <a:latin typeface="Noto Sans CJK SC"/>
                <a:ea typeface="Noto Sans CJK SC"/>
              </a:rPr>
              <a:t>1971 / 1995 / 1997</a:t>
            </a:r>
          </a:p>
        </p:txBody>
      </p:sp>
      <p:pic>
        <p:nvPicPr>
          <p:cNvPr id="17" name="Picture 16" descr="page04_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36392"/>
            <a:ext cx="911477" cy="6035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0664" y="3849624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2385D"/>
                </a:solidFill>
                <a:latin typeface="Noto Sans CJK SC"/>
                <a:ea typeface="Noto Sans CJK SC"/>
              </a:rPr>
              <a:t>STRIPS · BDI · Deep Blue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288536"/>
            <a:ext cx="3182112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显式知识表示与计划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规则、启发式搜索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2029968"/>
            <a:ext cx="3529584" cy="288036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176272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2385D"/>
                </a:solidFill>
                <a:latin typeface="Noto Sans CJK SC"/>
                <a:ea typeface="Noto Sans CJK SC"/>
              </a:rPr>
              <a:t>强化学习与搜索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706624"/>
            <a:ext cx="3200400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565A8"/>
                </a:solidFill>
                <a:latin typeface="Noto Sans CJK SC"/>
                <a:ea typeface="Noto Sans CJK SC"/>
              </a:rPr>
              <a:t>长期发展 · 2016代表</a:t>
            </a:r>
          </a:p>
        </p:txBody>
      </p:sp>
      <p:pic>
        <p:nvPicPr>
          <p:cNvPr id="23" name="Picture 22" descr="page04_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3136392"/>
            <a:ext cx="1067504" cy="6035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17136" y="3849624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2385D"/>
                </a:solidFill>
                <a:latin typeface="Noto Sans CJK SC"/>
                <a:ea typeface="Noto Sans CJK SC"/>
              </a:rPr>
              <a:t>AlphaGo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4288536"/>
            <a:ext cx="3182112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策略 / 价值学习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结合监督学习与树搜索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0727" y="2029968"/>
            <a:ext cx="3529584" cy="288036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2176272"/>
            <a:ext cx="32004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2385D"/>
                </a:solidFill>
                <a:latin typeface="Noto Sans CJK SC"/>
                <a:ea typeface="Noto Sans CJK SC"/>
              </a:rPr>
              <a:t>大语言模型驱动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706624"/>
            <a:ext cx="3200400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565A8"/>
                </a:solidFill>
                <a:latin typeface="Noto Sans CJK SC"/>
                <a:ea typeface="Noto Sans CJK SC"/>
              </a:rPr>
              <a:t>2022—2023起快速发展</a:t>
            </a:r>
          </a:p>
        </p:txBody>
      </p:sp>
      <p:pic>
        <p:nvPicPr>
          <p:cNvPr id="29" name="Picture 28" descr="page04_7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3" y="3136392"/>
            <a:ext cx="1294080" cy="6035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93607" y="3849624"/>
            <a:ext cx="318211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2385D"/>
                </a:solidFill>
                <a:latin typeface="Noto Sans CJK SC"/>
                <a:ea typeface="Noto Sans CJK SC"/>
              </a:rPr>
              <a:t>ReAct / AutoGPT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7" y="4288536"/>
            <a:ext cx="3182112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语言模型参与决策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连接工具与外部反馈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23944" y="2834640"/>
            <a:ext cx="155448" cy="0"/>
          </a:xfrm>
          <a:prstGeom prst="line">
            <a:avLst/>
          </a:prstGeom>
          <a:ln w="25400">
            <a:solidFill>
              <a:srgbClr val="1565A8"/>
            </a:solidFill>
            <a:tailEnd type="triangle" w="sm" len="sm"/>
          </a:ln>
        </p:spPr>
      </p:cxnSp>
      <p:cxnSp>
        <p:nvCxnSpPr>
          <p:cNvPr id="33" name="Connector 32"/>
          <p:cNvCxnSpPr/>
          <p:nvPr/>
        </p:nvCxnSpPr>
        <p:spPr>
          <a:xfrm>
            <a:off x="7900416" y="2834640"/>
            <a:ext cx="155447" cy="0"/>
          </a:xfrm>
          <a:prstGeom prst="line">
            <a:avLst/>
          </a:prstGeom>
          <a:ln w="25400">
            <a:solidFill>
              <a:srgbClr val="1565A8"/>
            </a:solidFill>
            <a:tailEnd type="triangle" w="sm" len="sm"/>
          </a:ln>
        </p:spPr>
      </p:cxnSp>
      <p:cxnSp>
        <p:nvCxnSpPr>
          <p:cNvPr id="34" name="Connector 33"/>
          <p:cNvCxnSpPr/>
          <p:nvPr/>
        </p:nvCxnSpPr>
        <p:spPr>
          <a:xfrm>
            <a:off x="1078992" y="5340096"/>
            <a:ext cx="10058400" cy="0"/>
          </a:xfrm>
          <a:prstGeom prst="line">
            <a:avLst/>
          </a:prstGeom>
          <a:ln w="25400">
            <a:solidFill>
              <a:srgbClr val="36A3CF"/>
            </a:solidFill>
            <a:tailEnd type="triangle" w="sm" len="sm"/>
          </a:ln>
        </p:spPr>
      </p:cxnSp>
      <p:sp>
        <p:nvSpPr>
          <p:cNvPr id="35" name="TextBox 34"/>
          <p:cNvSpPr txBox="1"/>
          <p:nvPr/>
        </p:nvSpPr>
        <p:spPr>
          <a:xfrm>
            <a:off x="694944" y="4974336"/>
            <a:ext cx="1078992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565A8"/>
                </a:solidFill>
                <a:latin typeface="Noto Sans CJK SC"/>
                <a:ea typeface="Noto Sans CJK SC"/>
              </a:rPr>
              <a:t>1971</a:t>
            </a:r>
          </a:p>
        </p:txBody>
      </p:sp>
      <p:sp>
        <p:nvSpPr>
          <p:cNvPr id="36" name="Oval 35"/>
          <p:cNvSpPr/>
          <p:nvPr/>
        </p:nvSpPr>
        <p:spPr>
          <a:xfrm>
            <a:off x="1179576" y="5285232"/>
            <a:ext cx="109728" cy="109728"/>
          </a:xfrm>
          <a:prstGeom prst="ellipse">
            <a:avLst/>
          </a:prstGeom>
          <a:solidFill>
            <a:srgbClr val="1565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5468112"/>
            <a:ext cx="1627632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96E80"/>
                </a:solidFill>
                <a:latin typeface="Noto Sans CJK SC"/>
                <a:ea typeface="Noto Sans CJK SC"/>
              </a:rPr>
              <a:t>STRIPS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16936" y="4974336"/>
            <a:ext cx="1078992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565A8"/>
                </a:solidFill>
                <a:latin typeface="Noto Sans CJK SC"/>
                <a:ea typeface="Noto Sans CJK SC"/>
              </a:rPr>
              <a:t>1995</a:t>
            </a:r>
          </a:p>
        </p:txBody>
      </p:sp>
      <p:sp>
        <p:nvSpPr>
          <p:cNvPr id="39" name="Oval 38"/>
          <p:cNvSpPr/>
          <p:nvPr/>
        </p:nvSpPr>
        <p:spPr>
          <a:xfrm>
            <a:off x="3401568" y="5285232"/>
            <a:ext cx="109728" cy="109728"/>
          </a:xfrm>
          <a:prstGeom prst="ellipse">
            <a:avLst/>
          </a:prstGeom>
          <a:solidFill>
            <a:srgbClr val="1565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42615" y="5468112"/>
            <a:ext cx="1627632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96E80"/>
                </a:solidFill>
                <a:latin typeface="Noto Sans CJK SC"/>
                <a:ea typeface="Noto Sans CJK SC"/>
              </a:rPr>
              <a:t>BDI代表论文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38928" y="4974336"/>
            <a:ext cx="1078992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565A8"/>
                </a:solidFill>
                <a:latin typeface="Noto Sans CJK SC"/>
                <a:ea typeface="Noto Sans CJK SC"/>
              </a:rPr>
              <a:t>1997</a:t>
            </a:r>
          </a:p>
        </p:txBody>
      </p:sp>
      <p:sp>
        <p:nvSpPr>
          <p:cNvPr id="42" name="Oval 41"/>
          <p:cNvSpPr/>
          <p:nvPr/>
        </p:nvSpPr>
        <p:spPr>
          <a:xfrm>
            <a:off x="5623560" y="5285232"/>
            <a:ext cx="109728" cy="109728"/>
          </a:xfrm>
          <a:prstGeom prst="ellipse">
            <a:avLst/>
          </a:prstGeom>
          <a:solidFill>
            <a:srgbClr val="1565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64608" y="5468112"/>
            <a:ext cx="1627632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96E80"/>
                </a:solidFill>
                <a:latin typeface="Noto Sans CJK SC"/>
                <a:ea typeface="Noto Sans CJK SC"/>
              </a:rPr>
              <a:t>Deep Blue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4974336"/>
            <a:ext cx="1078992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565A8"/>
                </a:solidFill>
                <a:latin typeface="Noto Sans CJK SC"/>
                <a:ea typeface="Noto Sans CJK SC"/>
              </a:rPr>
              <a:t>2016</a:t>
            </a:r>
          </a:p>
        </p:txBody>
      </p:sp>
      <p:sp>
        <p:nvSpPr>
          <p:cNvPr id="45" name="Oval 44"/>
          <p:cNvSpPr/>
          <p:nvPr/>
        </p:nvSpPr>
        <p:spPr>
          <a:xfrm>
            <a:off x="7845552" y="5285232"/>
            <a:ext cx="109728" cy="109728"/>
          </a:xfrm>
          <a:prstGeom prst="ellipse">
            <a:avLst/>
          </a:prstGeom>
          <a:solidFill>
            <a:srgbClr val="1565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86600" y="5468112"/>
            <a:ext cx="1627632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96E80"/>
                </a:solidFill>
                <a:latin typeface="Noto Sans CJK SC"/>
                <a:ea typeface="Noto Sans CJK SC"/>
              </a:rPr>
              <a:t>AlphaGo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82912" y="4974336"/>
            <a:ext cx="1078992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565A8"/>
                </a:solidFill>
                <a:latin typeface="Noto Sans CJK SC"/>
                <a:ea typeface="Noto Sans CJK SC"/>
              </a:rPr>
              <a:t>2023</a:t>
            </a:r>
          </a:p>
        </p:txBody>
      </p:sp>
      <p:sp>
        <p:nvSpPr>
          <p:cNvPr id="48" name="Oval 47"/>
          <p:cNvSpPr/>
          <p:nvPr/>
        </p:nvSpPr>
        <p:spPr>
          <a:xfrm>
            <a:off x="10067544" y="5285232"/>
            <a:ext cx="109728" cy="109728"/>
          </a:xfrm>
          <a:prstGeom prst="ellipse">
            <a:avLst/>
          </a:prstGeom>
          <a:solidFill>
            <a:srgbClr val="1565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08592" y="5468112"/>
            <a:ext cx="1627632" cy="21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96E80"/>
                </a:solidFill>
                <a:latin typeface="Noto Sans CJK SC"/>
                <a:ea typeface="Noto Sans CJK SC"/>
              </a:rPr>
              <a:t>AutoGPT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0352" y="5687568"/>
            <a:ext cx="11128248" cy="448056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088" y="5747004"/>
            <a:ext cx="10771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1">
                <a:solidFill>
                  <a:srgbClr val="FFFFFF"/>
                </a:solidFill>
                <a:latin typeface="Noto Sans CJK SC"/>
                <a:ea typeface="Noto Sans CJK SC"/>
              </a:rPr>
              <a:t>智能体的基本目标没有改变，变化的是驱动其决策、学习和行动的技术手段。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第二章 02｜大模型智能体的核心架构 · 2.1 动机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从LLM到LLM Agent：把生成能力嵌入任务执行系统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4475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这里比较三种典型配置；产品能力存在连续谱，工具聊天系统也可能具备Agent特征。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30352" y="6400800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>
                <a:solidFill>
                  <a:srgbClr val="596E80"/>
                </a:solidFill>
                <a:latin typeface="Noto Sans CJK SC"/>
                <a:ea typeface="Noto Sans CJK SC"/>
              </a:rPr>
              <a:t>[10] Wang et al., 2023, arXiv:2308.11432   [11] Xi et al., 2023, arXiv:2309.07864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784" y="2084831"/>
            <a:ext cx="3529584" cy="306324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" y="2084831"/>
            <a:ext cx="50292" cy="306324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240279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配置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633472"/>
            <a:ext cx="3163824" cy="4663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2385D"/>
                </a:solidFill>
                <a:latin typeface="Noto Sans CJK SC"/>
                <a:ea typeface="Noto Sans CJK SC"/>
              </a:rPr>
              <a:t>基础LLM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3227832"/>
            <a:ext cx="3163824" cy="1819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>
                <a:solidFill>
                  <a:srgbClr val="172D43"/>
                </a:solidFill>
                <a:latin typeface="Noto Sans CJK SC"/>
                <a:ea typeface="Noto Sans CJK SC"/>
              </a:rPr>
              <a:t>从输入上下文生成输出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>
                <a:solidFill>
                  <a:srgbClr val="172D43"/>
                </a:solidFill>
                <a:latin typeface="Noto Sans CJK SC"/>
                <a:ea typeface="Noto Sans CJK SC"/>
              </a:rPr>
              <a:t>未连接工具时：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>
                <a:solidFill>
                  <a:srgbClr val="172D43"/>
                </a:solidFill>
                <a:latin typeface="Noto Sans CJK SC"/>
                <a:ea typeface="Noto Sans CJK SC"/>
              </a:rPr>
              <a:t>不能自行查询实时数据，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>
                <a:solidFill>
                  <a:srgbClr val="172D43"/>
                </a:solidFill>
                <a:latin typeface="Noto Sans CJK SC"/>
                <a:ea typeface="Noto Sans CJK SC"/>
              </a:rPr>
              <a:t>也不能直接操作外部软件。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2084831"/>
            <a:ext cx="3529584" cy="306324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4256" y="2084831"/>
            <a:ext cx="50292" cy="306324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2240279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配置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633472"/>
            <a:ext cx="3163824" cy="4663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2385D"/>
                </a:solidFill>
                <a:latin typeface="Noto Sans CJK SC"/>
                <a:ea typeface="Noto Sans CJK SC"/>
              </a:rPr>
              <a:t>工具增强聊天系统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3227832"/>
            <a:ext cx="3163824" cy="1819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>
                <a:solidFill>
                  <a:srgbClr val="172D43"/>
                </a:solidFill>
                <a:latin typeface="Noto Sans CJK SC"/>
                <a:ea typeface="Noto Sans CJK SC"/>
              </a:rPr>
              <a:t>可在对话中搜索或计算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>
                <a:solidFill>
                  <a:srgbClr val="172D43"/>
                </a:solidFill>
                <a:latin typeface="Noto Sans CJK SC"/>
                <a:ea typeface="Noto Sans CJK SC"/>
              </a:rPr>
              <a:t>常由用户逐轮推进；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>
                <a:solidFill>
                  <a:srgbClr val="172D43"/>
                </a:solidFill>
                <a:latin typeface="Noto Sans CJK SC"/>
                <a:ea typeface="Noto Sans CJK SC"/>
              </a:rPr>
              <a:t>任务状态、验证和终止机制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>
                <a:solidFill>
                  <a:srgbClr val="172D43"/>
                </a:solidFill>
                <a:latin typeface="Noto Sans CJK SC"/>
                <a:ea typeface="Noto Sans CJK SC"/>
              </a:rPr>
              <a:t>取决于系统实现。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0727" y="2084831"/>
            <a:ext cx="3529584" cy="306324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10727" y="2084831"/>
            <a:ext cx="50292" cy="3063240"/>
          </a:xfrm>
          <a:prstGeom prst="rect">
            <a:avLst/>
          </a:prstGeom>
          <a:solidFill>
            <a:srgbClr val="1684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7" y="2240279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847D"/>
                </a:solidFill>
                <a:latin typeface="Noto Sans CJK SC"/>
                <a:ea typeface="Noto Sans CJK SC"/>
              </a:rPr>
              <a:t>配置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7" y="2633472"/>
            <a:ext cx="3163824" cy="4663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2385D"/>
                </a:solidFill>
                <a:latin typeface="Noto Sans CJK SC"/>
                <a:ea typeface="Noto Sans CJK SC"/>
              </a:rPr>
              <a:t>自主任务执行型Agent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7" y="3227832"/>
            <a:ext cx="3163824" cy="1819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>
                <a:solidFill>
                  <a:srgbClr val="172D43"/>
                </a:solidFill>
                <a:latin typeface="Noto Sans CJK SC"/>
                <a:ea typeface="Noto Sans CJK SC"/>
              </a:rPr>
              <a:t>围绕目标连续选择行动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>
                <a:solidFill>
                  <a:srgbClr val="172D43"/>
                </a:solidFill>
                <a:latin typeface="Noto Sans CJK SC"/>
                <a:ea typeface="Noto Sans CJK SC"/>
              </a:rPr>
              <a:t>维护执行状态，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>
                <a:solidFill>
                  <a:srgbClr val="172D43"/>
                </a:solidFill>
                <a:latin typeface="Noto Sans CJK SC"/>
                <a:ea typeface="Noto Sans CJK SC"/>
              </a:rPr>
              <a:t>依据环境反馈修正计划，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0">
                <a:solidFill>
                  <a:srgbClr val="172D43"/>
                </a:solidFill>
                <a:latin typeface="Noto Sans CJK SC"/>
                <a:ea typeface="Noto Sans CJK SC"/>
              </a:rPr>
              <a:t>直到完成或触发停止条件。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330952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596E80"/>
                </a:solidFill>
                <a:latin typeface="Noto Sans CJK SC"/>
                <a:ea typeface="Noto Sans CJK SC"/>
              </a:rPr>
              <a:t>长程任务的难点不仅是“会回答”，还包括执行、验证、状态管理和错误恢复。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" y="5687568"/>
            <a:ext cx="11128248" cy="448056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747004"/>
            <a:ext cx="10771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LLM提供语言理解与决策能力；系统负责把决策落实为可检查的执行过程。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第二章 02｜大模型智能体的核心架构 · 2.2 核心案例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上海一日游：生成一个480元方案，只是任务的起点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4475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教学示例：所有价格均沿用原稿的假设数据，不代表实时查询结果或实际报价。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30352" y="6400800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>
                <a:solidFill>
                  <a:srgbClr val="596E80"/>
                </a:solidFill>
                <a:latin typeface="Noto Sans CJK SC"/>
                <a:ea typeface="Noto Sans CJK SC"/>
              </a:rPr>
              <a:t>案例与费用：原稿第6—9页；本稿重绘。查询交通、景点、餐饮的过程均为机制示意。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2011680"/>
            <a:ext cx="3081528" cy="3429000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5528" y="2231136"/>
            <a:ext cx="1033271" cy="283464"/>
          </a:xfrm>
          <a:prstGeom prst="roundRect">
            <a:avLst>
              <a:gd name="adj" fmla="val 8000"/>
            </a:avLst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244852"/>
            <a:ext cx="923543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  <a:ea typeface="Noto Sans CJK SC"/>
              </a:rPr>
              <a:t>用户任务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770632"/>
            <a:ext cx="2596896" cy="1060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</a:rPr>
              <a:t>“帮我规划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</a:rPr>
              <a:t>上海一日游”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87952"/>
            <a:ext cx="254203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FFFFFF"/>
                </a:solidFill>
                <a:latin typeface="Noto Sans CJK SC"/>
                <a:ea typeface="Noto Sans CJK SC"/>
              </a:rPr>
              <a:t>预算 ≤ 500元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FFFFFF"/>
                </a:solidFill>
                <a:latin typeface="Noto Sans CJK SC"/>
                <a:ea typeface="Noto Sans CJK SC"/>
              </a:rPr>
              <a:t>核对行程与费用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2057400"/>
            <a:ext cx="3072384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2385D"/>
                </a:solidFill>
                <a:latin typeface="Noto Sans CJK SC"/>
                <a:ea typeface="Noto Sans CJK SC"/>
              </a:rPr>
              <a:t>初步规划｜待验证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05656" y="2660904"/>
            <a:ext cx="3118104" cy="384048"/>
          </a:xfrm>
          <a:prstGeom prst="rect">
            <a:avLst/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2692908"/>
            <a:ext cx="2304288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72D43"/>
                </a:solidFill>
                <a:latin typeface="Noto Sans CJK SC"/>
                <a:ea typeface="Noto Sans CJK SC"/>
              </a:rPr>
              <a:t>外滩＋南京路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692908"/>
            <a:ext cx="521207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565A8"/>
                </a:solidFill>
                <a:latin typeface="Noto Sans CJK SC"/>
                <a:ea typeface="Noto Sans CJK SC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05656" y="3108960"/>
            <a:ext cx="3118104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140964"/>
            <a:ext cx="2304288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72D43"/>
                </a:solidFill>
                <a:latin typeface="Noto Sans CJK SC"/>
                <a:ea typeface="Noto Sans CJK SC"/>
              </a:rPr>
              <a:t>午餐：本帮菜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3140964"/>
            <a:ext cx="521207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565A8"/>
                </a:solidFill>
                <a:latin typeface="Noto Sans CJK SC"/>
                <a:ea typeface="Noto Sans CJK SC"/>
              </a:rPr>
              <a:t>120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05656" y="3557016"/>
            <a:ext cx="3118104" cy="384048"/>
          </a:xfrm>
          <a:prstGeom prst="rect">
            <a:avLst/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3589020"/>
            <a:ext cx="2304288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72D43"/>
                </a:solidFill>
                <a:latin typeface="Noto Sans CJK SC"/>
                <a:ea typeface="Noto Sans CJK SC"/>
              </a:rPr>
              <a:t>豫园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3589020"/>
            <a:ext cx="521207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565A8"/>
                </a:solidFill>
                <a:latin typeface="Noto Sans CJK SC"/>
                <a:ea typeface="Noto Sans CJK SC"/>
              </a:rPr>
              <a:t>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05656" y="4005072"/>
            <a:ext cx="3118104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4037076"/>
            <a:ext cx="2304288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72D43"/>
                </a:solidFill>
                <a:latin typeface="Noto Sans CJK SC"/>
                <a:ea typeface="Noto Sans CJK SC"/>
              </a:rPr>
              <a:t>城隍庙＋游船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7104" y="4037076"/>
            <a:ext cx="521207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565A8"/>
                </a:solidFill>
                <a:latin typeface="Noto Sans CJK SC"/>
                <a:ea typeface="Noto Sans CJK SC"/>
              </a:rPr>
              <a:t>220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05656" y="4453128"/>
            <a:ext cx="3118104" cy="384048"/>
          </a:xfrm>
          <a:prstGeom prst="rect">
            <a:avLst/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4485132"/>
            <a:ext cx="2304288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172D43"/>
                </a:solidFill>
                <a:latin typeface="Noto Sans CJK SC"/>
                <a:ea typeface="Noto Sans CJK SC"/>
              </a:rPr>
              <a:t>交通：地铁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4485132"/>
            <a:ext cx="521207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565A8"/>
                </a:solidFill>
                <a:latin typeface="Noto Sans CJK SC"/>
                <a:ea typeface="Noto Sans CJK SC"/>
              </a:rPr>
              <a:t>60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05656" y="5029200"/>
            <a:ext cx="3118104" cy="411480"/>
          </a:xfrm>
          <a:prstGeom prst="roundRect">
            <a:avLst>
              <a:gd name="adj" fmla="val 8000"/>
            </a:avLst>
          </a:prstGeom>
          <a:solidFill>
            <a:srgbClr val="E7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5084064"/>
            <a:ext cx="2798064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565A8"/>
                </a:solidFill>
                <a:latin typeface="Noto Sans CJK SC"/>
                <a:ea typeface="Noto Sans CJK SC"/>
              </a:rPr>
              <a:t>初步合计：480元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06640" y="3703320"/>
            <a:ext cx="512064" cy="0"/>
          </a:xfrm>
          <a:prstGeom prst="line">
            <a:avLst/>
          </a:prstGeom>
          <a:ln w="25400">
            <a:solidFill>
              <a:srgbClr val="1565A8"/>
            </a:solidFill>
            <a:tailEnd type="triangle" w="sm" len="sm"/>
          </a:ln>
        </p:spPr>
      </p:cxnSp>
      <p:sp>
        <p:nvSpPr>
          <p:cNvPr id="38" name="Rounded Rectangle 37"/>
          <p:cNvSpPr/>
          <p:nvPr/>
        </p:nvSpPr>
        <p:spPr>
          <a:xfrm>
            <a:off x="8119872" y="2011680"/>
            <a:ext cx="3529584" cy="342900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39327" y="2231136"/>
            <a:ext cx="1920240" cy="283464"/>
          </a:xfrm>
          <a:prstGeom prst="roundRect">
            <a:avLst>
              <a:gd name="adj" fmla="val 8000"/>
            </a:avLst>
          </a:prstGeom>
          <a:solidFill>
            <a:srgbClr val="E7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94192" y="2244852"/>
            <a:ext cx="1810512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工具查询 → 外部观察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7" y="2862072"/>
            <a:ext cx="304495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72D43"/>
                </a:solidFill>
                <a:latin typeface="Noto Sans CJK SC"/>
                <a:ea typeface="Noto Sans CJK SC"/>
              </a:rPr>
              <a:t>查询交通、景点与餐饮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72D43"/>
                </a:solidFill>
                <a:latin typeface="Noto Sans CJK SC"/>
                <a:ea typeface="Noto Sans CJK SC"/>
              </a:rPr>
              <a:t>发现本帮菜费用为220元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7" y="3995928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B5453F"/>
                </a:solidFill>
                <a:latin typeface="Noto Sans CJK SC"/>
                <a:ea typeface="Noto Sans CJK SC"/>
              </a:rPr>
              <a:t>480 → 580元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7616" y="4837176"/>
            <a:ext cx="298094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B5453F"/>
                </a:solidFill>
                <a:latin typeface="Noto Sans CJK SC"/>
                <a:ea typeface="Noto Sans CJK SC"/>
              </a:rPr>
              <a:t>超出预算80元，需要修正。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0352" y="5687568"/>
            <a:ext cx="11128248" cy="448056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" y="5747004"/>
            <a:ext cx="10771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计划是待验证的假设；环境反馈可以否定模型最初的判断。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第二章 02｜大模型智能体的核心架构 · 2.2 核心案例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依据反馈重规划：改变行动选择，而不是修改事实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4475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发现约束冲突 → 查找替代方案 → 重新计算与检查 → 输出最终行程。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30352" y="6400800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>
                <a:solidFill>
                  <a:srgbClr val="596E80"/>
                </a:solidFill>
                <a:latin typeface="Noto Sans CJK SC"/>
                <a:ea typeface="Noto Sans CJK SC"/>
              </a:rPr>
              <a:t>教学假设，非实时价格；本页只演示费用约束，真实行程还需验证时段、预约、路线与可用性。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6072" y="2039112"/>
            <a:ext cx="11045952" cy="475488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103120"/>
            <a:ext cx="3730752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103120"/>
            <a:ext cx="2011680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初始预估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2103120"/>
            <a:ext cx="2011680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反馈后方案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03120"/>
            <a:ext cx="2011680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重规划方案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2596896"/>
            <a:ext cx="11045952" cy="393192"/>
          </a:xfrm>
          <a:prstGeom prst="rect">
            <a:avLst/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2624327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上午｜外滩＋南京路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2624327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2624327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624327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" y="3017520"/>
            <a:ext cx="11045952" cy="393192"/>
          </a:xfrm>
          <a:prstGeom prst="rect">
            <a:avLst/>
          </a:prstGeom>
          <a:solidFill>
            <a:srgbClr val="E7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044951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565A8"/>
                </a:solidFill>
                <a:latin typeface="Noto Sans CJK SC"/>
                <a:ea typeface="Noto Sans CJK SC"/>
              </a:rPr>
              <a:t>午餐｜本帮菜 → 东北菜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044951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565A8"/>
                </a:solidFill>
                <a:latin typeface="Noto Sans CJK SC"/>
                <a:ea typeface="Noto Sans CJK SC"/>
              </a:rPr>
              <a:t>120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3044951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565A8"/>
                </a:solidFill>
                <a:latin typeface="Noto Sans CJK SC"/>
                <a:ea typeface="Noto Sans CJK SC"/>
              </a:rPr>
              <a:t>220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044951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565A8"/>
                </a:solidFill>
                <a:latin typeface="Noto Sans CJK SC"/>
                <a:ea typeface="Noto Sans CJK SC"/>
              </a:rPr>
              <a:t>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" y="3438144"/>
            <a:ext cx="11045952" cy="393192"/>
          </a:xfrm>
          <a:prstGeom prst="rect">
            <a:avLst/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3465575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下午｜豫园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3465575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3465575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465575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" y="3858768"/>
            <a:ext cx="11045952" cy="3931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3886200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晚上｜城隍庙＋游船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388620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220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3448" y="388620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220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88620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220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" y="4279392"/>
            <a:ext cx="11045952" cy="393192"/>
          </a:xfrm>
          <a:prstGeom prst="rect">
            <a:avLst/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4306824"/>
            <a:ext cx="3886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交通｜地铁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430682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13448" y="430682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30682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60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" y="4800600"/>
            <a:ext cx="11045952" cy="539496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" y="4928616"/>
            <a:ext cx="3749039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2385D"/>
                </a:solidFill>
                <a:latin typeface="Noto Sans CJK SC"/>
                <a:ea typeface="Noto Sans CJK SC"/>
              </a:rPr>
              <a:t>合计 / 预算检查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8" y="4928616"/>
            <a:ext cx="192024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596E80"/>
                </a:solidFill>
                <a:latin typeface="Noto Sans CJK SC"/>
                <a:ea typeface="Noto Sans CJK SC"/>
              </a:rPr>
              <a:t>480元 · 待核对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3448" y="4928616"/>
            <a:ext cx="192024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B5453F"/>
                </a:solidFill>
                <a:latin typeface="Noto Sans CJK SC"/>
                <a:ea typeface="Noto Sans CJK SC"/>
              </a:rPr>
              <a:t>580元 · 超预算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928616"/>
            <a:ext cx="2221992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6847D"/>
                </a:solidFill>
                <a:latin typeface="Noto Sans CJK SC"/>
                <a:ea typeface="Noto Sans CJK SC"/>
              </a:rPr>
              <a:t>460元 · 满足预算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54589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596E80"/>
                </a:solidFill>
                <a:latin typeface="Noto Sans CJK SC"/>
                <a:ea typeface="Noto Sans CJK SC"/>
              </a:rPr>
              <a:t>更换午餐后合计460元，预算余量40元；保留费用来源，并标注未验证条件。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0352" y="5806440"/>
            <a:ext cx="11128248" cy="448056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088" y="5865876"/>
            <a:ext cx="10771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Agent不仅生成方案，还会利用环境反馈调整原有决策。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第二章 02｜大模型智能体的核心架构 · 2.3 执行流程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任务执行闭环：让每次行动的结果进入下一轮决策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4475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与第一章相比，这里明确LLM、工具执行、任务状态与停止条件的分工。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30352" y="6400800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>
                <a:solidFill>
                  <a:srgbClr val="596E80"/>
                </a:solidFill>
                <a:latin typeface="Noto Sans CJK SC"/>
                <a:ea typeface="Noto Sans CJK SC"/>
              </a:rPr>
              <a:t>[10][11] LLM Agent综述；流程为本稿教学抽象，并非所有系统都采用同一控制器。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" y="2286000"/>
            <a:ext cx="3017520" cy="1243584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404872"/>
            <a:ext cx="2761487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565A8"/>
                </a:solidFill>
                <a:latin typeface="Noto Sans CJK SC"/>
                <a:ea typeface="Noto Sans CJK SC"/>
              </a:rPr>
              <a:t>01 任务输入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880360"/>
            <a:ext cx="2779776" cy="6309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目标：一日游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约束：≤500元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4" y="2286000"/>
            <a:ext cx="3017520" cy="1243584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404872"/>
            <a:ext cx="2761487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565A8"/>
                </a:solidFill>
                <a:latin typeface="Noto Sans CJK SC"/>
                <a:ea typeface="Noto Sans CJK SC"/>
              </a:rPr>
              <a:t>02 理解与规划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880360"/>
            <a:ext cx="2779776" cy="6309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提取约束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制定候选行程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54696" y="2286000"/>
            <a:ext cx="3017520" cy="1243584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2712" y="2404872"/>
            <a:ext cx="2761487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565A8"/>
                </a:solidFill>
                <a:latin typeface="Noto Sans CJK SC"/>
                <a:ea typeface="Noto Sans CJK SC"/>
              </a:rPr>
              <a:t>03 工具行动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2880360"/>
            <a:ext cx="2779776" cy="6309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程序执行查询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获取交通与价格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54696" y="4187952"/>
            <a:ext cx="3017520" cy="1243584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82712" y="4306824"/>
            <a:ext cx="2761487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565A8"/>
                </a:solidFill>
                <a:latin typeface="Noto Sans CJK SC"/>
                <a:ea typeface="Noto Sans CJK SC"/>
              </a:rPr>
              <a:t>04 环境观察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4782312"/>
            <a:ext cx="2779776" cy="6309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返回费用与来源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发现合计580元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1104" y="4187952"/>
            <a:ext cx="3017520" cy="1243584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306824"/>
            <a:ext cx="2761487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565A8"/>
                </a:solidFill>
                <a:latin typeface="Noto Sans CJK SC"/>
                <a:ea typeface="Noto Sans CJK SC"/>
              </a:rPr>
              <a:t>05 更新状态与决策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4782312"/>
            <a:ext cx="2779776" cy="6309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保留观察证据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选择替代午餐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" y="4187952"/>
            <a:ext cx="3017520" cy="1243584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306824"/>
            <a:ext cx="2761487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565A8"/>
                </a:solidFill>
                <a:latin typeface="Noto Sans CJK SC"/>
                <a:ea typeface="Noto Sans CJK SC"/>
              </a:rPr>
              <a:t>06 继续或完成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4782312"/>
            <a:ext cx="2779776" cy="6309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核对约束后输出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未满足则继续执行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85032" y="2907792"/>
            <a:ext cx="576072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cxnSp>
        <p:nvCxnSpPr>
          <p:cNvPr id="33" name="Connector 32"/>
          <p:cNvCxnSpPr/>
          <p:nvPr/>
        </p:nvCxnSpPr>
        <p:spPr>
          <a:xfrm>
            <a:off x="7278624" y="2907792"/>
            <a:ext cx="576072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cxnSp>
        <p:nvCxnSpPr>
          <p:cNvPr id="34" name="Connector 33"/>
          <p:cNvCxnSpPr/>
          <p:nvPr/>
        </p:nvCxnSpPr>
        <p:spPr>
          <a:xfrm>
            <a:off x="9363456" y="3529584"/>
            <a:ext cx="0" cy="658368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cxnSp>
        <p:nvCxnSpPr>
          <p:cNvPr id="35" name="Connector 34"/>
          <p:cNvCxnSpPr/>
          <p:nvPr/>
        </p:nvCxnSpPr>
        <p:spPr>
          <a:xfrm flipH="1">
            <a:off x="7278624" y="4809744"/>
            <a:ext cx="576072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cxnSp>
        <p:nvCxnSpPr>
          <p:cNvPr id="36" name="Connector 35"/>
          <p:cNvCxnSpPr/>
          <p:nvPr/>
        </p:nvCxnSpPr>
        <p:spPr>
          <a:xfrm flipH="1">
            <a:off x="3685032" y="4809744"/>
            <a:ext cx="576072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cxnSp>
        <p:nvCxnSpPr>
          <p:cNvPr id="37" name="Connector 36"/>
          <p:cNvCxnSpPr/>
          <p:nvPr/>
        </p:nvCxnSpPr>
        <p:spPr>
          <a:xfrm flipV="1">
            <a:off x="2176272" y="3813048"/>
            <a:ext cx="0" cy="374904"/>
          </a:xfrm>
          <a:prstGeom prst="line">
            <a:avLst/>
          </a:prstGeom>
          <a:ln w="22860">
            <a:solidFill>
              <a:srgbClr val="36A3CF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2176272" y="3813048"/>
            <a:ext cx="3593592" cy="0"/>
          </a:xfrm>
          <a:prstGeom prst="line">
            <a:avLst/>
          </a:prstGeom>
          <a:ln w="22860">
            <a:solidFill>
              <a:srgbClr val="36A3CF"/>
            </a:solidFill>
          </a:ln>
        </p:spPr>
      </p:cxnSp>
      <p:cxnSp>
        <p:nvCxnSpPr>
          <p:cNvPr id="39" name="Connector 38"/>
          <p:cNvCxnSpPr/>
          <p:nvPr/>
        </p:nvCxnSpPr>
        <p:spPr>
          <a:xfrm flipV="1">
            <a:off x="5769864" y="3529584"/>
            <a:ext cx="0" cy="283464"/>
          </a:xfrm>
          <a:prstGeom prst="line">
            <a:avLst/>
          </a:prstGeom>
          <a:ln w="22860">
            <a:solidFill>
              <a:srgbClr val="36A3CF"/>
            </a:solidFill>
            <a:tailEnd type="triangle" w="sm" len="sm"/>
          </a:ln>
        </p:spPr>
      </p:cxnSp>
      <p:sp>
        <p:nvSpPr>
          <p:cNvPr id="40" name="TextBox 39"/>
          <p:cNvSpPr txBox="1"/>
          <p:nvPr/>
        </p:nvSpPr>
        <p:spPr>
          <a:xfrm>
            <a:off x="2779776" y="3621024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继续：带新状态重新规划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" y="5687568"/>
            <a:ext cx="11128248" cy="448056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5747004"/>
            <a:ext cx="10771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1">
                <a:solidFill>
                  <a:srgbClr val="FFFFFF"/>
                </a:solidFill>
                <a:latin typeface="Noto Sans CJK SC"/>
                <a:ea typeface="Noto Sans CJK SC"/>
              </a:rPr>
              <a:t>完成依赖结果核验；达到步数、时间或费用上限时，应停止并报告未完成项。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第二章 02｜大模型智能体的核心架构 · 2.4 系统架构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整体架构：LLM参与决策，模块共同支撑执行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4475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这是一种综合教学抽象；规划、记忆与工具不一定是独立模型，也不要求全部显式部署。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30352" y="6400800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>
                <a:solidFill>
                  <a:srgbClr val="596E80"/>
                </a:solidFill>
                <a:latin typeface="Noto Sans CJK SC"/>
                <a:ea typeface="Noto Sans CJK SC"/>
              </a:rPr>
              <a:t>[10] Wang et al., 2023：profile / memory / planning / action   [11] Xi et al., 2023：brain / perception /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" y="2057400"/>
            <a:ext cx="7872983" cy="3639312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212848"/>
            <a:ext cx="713232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LLM AGENT SYSTEM  ·  目标 / 约束 / 授权贯穿执行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2852928"/>
            <a:ext cx="2029968" cy="950976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2971800"/>
            <a:ext cx="1773936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565A8"/>
                </a:solidFill>
                <a:latin typeface="Noto Sans CJK SC"/>
                <a:ea typeface="Noto Sans CJK SC"/>
              </a:rPr>
              <a:t>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3374136"/>
            <a:ext cx="179222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任务分解与重规划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3008" y="2852928"/>
            <a:ext cx="2212848" cy="950976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2971800"/>
            <a:ext cx="1956815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3447288"/>
            <a:ext cx="195681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Noto Sans CJK SC"/>
                <a:ea typeface="Noto Sans CJK SC"/>
              </a:rPr>
              <a:t>语言理解、推理与决策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2852928"/>
            <a:ext cx="2011680" cy="950976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2971800"/>
            <a:ext cx="1755648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565A8"/>
                </a:solidFill>
                <a:latin typeface="Noto Sans CJK SC"/>
                <a:ea typeface="Noto Sans CJK SC"/>
              </a:rPr>
              <a:t>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3374136"/>
            <a:ext cx="1773936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外部能力与执行接口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35808" y="3328416"/>
            <a:ext cx="457200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cxnSp>
        <p:nvCxnSpPr>
          <p:cNvPr id="26" name="Connector 25"/>
          <p:cNvCxnSpPr/>
          <p:nvPr/>
        </p:nvCxnSpPr>
        <p:spPr>
          <a:xfrm>
            <a:off x="5705856" y="3328416"/>
            <a:ext cx="475488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cxnSp>
        <p:nvCxnSpPr>
          <p:cNvPr id="27" name="Connector 26"/>
          <p:cNvCxnSpPr/>
          <p:nvPr/>
        </p:nvCxnSpPr>
        <p:spPr>
          <a:xfrm flipH="1">
            <a:off x="3035808" y="3511296"/>
            <a:ext cx="457200" cy="0"/>
          </a:xfrm>
          <a:prstGeom prst="line">
            <a:avLst/>
          </a:prstGeom>
          <a:ln w="17780">
            <a:solidFill>
              <a:srgbClr val="36A3CF"/>
            </a:solidFill>
            <a:tailEnd type="triangle" w="sm" len="sm"/>
          </a:ln>
        </p:spPr>
      </p:cxnSp>
      <p:sp>
        <p:nvSpPr>
          <p:cNvPr id="28" name="Rounded Rectangle 27"/>
          <p:cNvSpPr/>
          <p:nvPr/>
        </p:nvSpPr>
        <p:spPr>
          <a:xfrm>
            <a:off x="3493008" y="4425696"/>
            <a:ext cx="2212848" cy="896112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21024" y="4544568"/>
            <a:ext cx="1956815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565A8"/>
                </a:solidFill>
                <a:latin typeface="Noto Sans CJK SC"/>
                <a:ea typeface="Noto Sans CJK SC"/>
              </a:rPr>
              <a:t>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79" y="4946904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72D43"/>
                </a:solidFill>
                <a:latin typeface="Noto Sans CJK SC"/>
                <a:ea typeface="Noto Sans CJK SC"/>
              </a:rPr>
              <a:t>上下文、长期信息与经验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4599432" y="3803904"/>
            <a:ext cx="0" cy="621792"/>
          </a:xfrm>
          <a:prstGeom prst="line">
            <a:avLst/>
          </a:prstGeom>
          <a:ln w="22860">
            <a:solidFill>
              <a:srgbClr val="36A3CF"/>
            </a:solidFill>
            <a:tailEnd type="triangle" w="sm" len="sm"/>
          </a:ln>
        </p:spPr>
      </p:cxnSp>
      <p:cxnSp>
        <p:nvCxnSpPr>
          <p:cNvPr id="32" name="Connector 31"/>
          <p:cNvCxnSpPr/>
          <p:nvPr/>
        </p:nvCxnSpPr>
        <p:spPr>
          <a:xfrm>
            <a:off x="4864608" y="3803904"/>
            <a:ext cx="0" cy="621792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sp>
        <p:nvSpPr>
          <p:cNvPr id="33" name="TextBox 32"/>
          <p:cNvSpPr txBox="1"/>
          <p:nvPr/>
        </p:nvSpPr>
        <p:spPr>
          <a:xfrm>
            <a:off x="987552" y="4489704"/>
            <a:ext cx="2148840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596E80"/>
                </a:solidFill>
                <a:latin typeface="Noto Sans CJK SC"/>
                <a:ea typeface="Noto Sans CJK SC"/>
              </a:rPr>
              <a:t>状态与执行控制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596E80"/>
                </a:solidFill>
                <a:latin typeface="Noto Sans CJK SC"/>
                <a:ea typeface="Noto Sans CJK SC"/>
              </a:rPr>
              <a:t>校验 · 记录 · 终止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2752344"/>
            <a:ext cx="2267712" cy="1956816"/>
          </a:xfrm>
          <a:prstGeom prst="roundRect">
            <a:avLst>
              <a:gd name="adj" fmla="val 8000"/>
            </a:avLst>
          </a:prstGeom>
          <a:solidFill>
            <a:srgbClr val="E7F3F8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63456" y="2871215"/>
            <a:ext cx="201168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565A8"/>
                </a:solidFill>
                <a:latin typeface="Noto Sans CJK SC"/>
                <a:ea typeface="Noto Sans CJK SC"/>
              </a:rPr>
              <a:t>Environment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4312" y="3346703"/>
            <a:ext cx="2029967" cy="1344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网页 / 数据库 / 软件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用户与物理世界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72D43"/>
                </a:solidFill>
                <a:latin typeface="Noto Sans CJK SC"/>
                <a:ea typeface="Noto Sans CJK SC"/>
              </a:rPr>
              <a:t>交互对象与反馈来源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93024" y="3227832"/>
            <a:ext cx="1042416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sp>
        <p:nvSpPr>
          <p:cNvPr id="38" name="TextBox 37"/>
          <p:cNvSpPr txBox="1"/>
          <p:nvPr/>
        </p:nvSpPr>
        <p:spPr>
          <a:xfrm>
            <a:off x="8613648" y="2852928"/>
            <a:ext cx="59436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行动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8805672" y="4160520"/>
            <a:ext cx="429768" cy="0"/>
          </a:xfrm>
          <a:prstGeom prst="line">
            <a:avLst/>
          </a:prstGeom>
          <a:ln w="22860">
            <a:solidFill>
              <a:srgbClr val="36A3CF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8805672" y="4160520"/>
            <a:ext cx="0" cy="1362456"/>
          </a:xfrm>
          <a:prstGeom prst="line">
            <a:avLst/>
          </a:prstGeom>
          <a:ln w="22860">
            <a:solidFill>
              <a:srgbClr val="36A3CF"/>
            </a:solidFill>
          </a:ln>
        </p:spPr>
      </p:cxnSp>
      <p:cxnSp>
        <p:nvCxnSpPr>
          <p:cNvPr id="41" name="Connector 40"/>
          <p:cNvCxnSpPr/>
          <p:nvPr/>
        </p:nvCxnSpPr>
        <p:spPr>
          <a:xfrm flipH="1">
            <a:off x="4599432" y="5522976"/>
            <a:ext cx="4206240" cy="0"/>
          </a:xfrm>
          <a:prstGeom prst="line">
            <a:avLst/>
          </a:prstGeom>
          <a:ln w="22860">
            <a:solidFill>
              <a:srgbClr val="36A3CF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4599432" y="5321808"/>
            <a:ext cx="0" cy="201168"/>
          </a:xfrm>
          <a:prstGeom prst="line">
            <a:avLst/>
          </a:prstGeom>
          <a:ln w="22860">
            <a:solidFill>
              <a:srgbClr val="36A3CF"/>
            </a:solidFill>
            <a:tailEnd type="triangle" w="sm" len="sm"/>
          </a:ln>
        </p:spPr>
      </p:cxnSp>
      <p:sp>
        <p:nvSpPr>
          <p:cNvPr id="43" name="TextBox 42"/>
          <p:cNvSpPr txBox="1"/>
          <p:nvPr/>
        </p:nvSpPr>
        <p:spPr>
          <a:xfrm>
            <a:off x="6263640" y="5193792"/>
            <a:ext cx="2395728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观察 → 写入状态 / 记忆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" y="5897880"/>
            <a:ext cx="10789920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596E80"/>
                </a:solidFill>
                <a:latin typeface="Noto Sans CJK SC"/>
                <a:ea typeface="Noto Sans CJK SC"/>
              </a:rPr>
              <a:t>图中Environment位于系统边界之外；用户目标与工具返回经上下文进入下一轮LLM调用。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第二章 02｜大模型智能体的核心架构 · 2.5 核心模块①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Planning：把目标变成可执行、可修正的子任务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4475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为什么需要：长程任务包含依赖关系与约束，一次性文本生成难以保证执行可行。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30352" y="6400800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>
                <a:solidFill>
                  <a:srgbClr val="596E80"/>
                </a:solidFill>
                <a:latin typeface="Noto Sans CJK SC"/>
                <a:ea typeface="Noto Sans CJK SC"/>
              </a:rPr>
              <a:t>[5] Fikes &amp; Nilsson, STRIPS, 1971   [10][11] LLM Agent综述   [12] Yao et al., ReAct, ICLR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048256"/>
            <a:ext cx="2011680" cy="283464"/>
          </a:xfrm>
          <a:prstGeom prst="roundRect">
            <a:avLst>
              <a:gd name="adj" fmla="val 8000"/>
            </a:avLst>
          </a:prstGeom>
          <a:solidFill>
            <a:srgbClr val="E7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2061972"/>
            <a:ext cx="1901952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上海案例 · 规划依赖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88920"/>
            <a:ext cx="2130552" cy="128016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2907791"/>
            <a:ext cx="1874519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565A8"/>
                </a:solidFill>
                <a:latin typeface="Noto Sans CJK SC"/>
                <a:ea typeface="Noto Sans CJK SC"/>
              </a:rPr>
              <a:t>提取约束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383279"/>
            <a:ext cx="1892808" cy="6675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上海 / 一日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预算≤500元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67328" y="2441448"/>
            <a:ext cx="2185416" cy="941832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95344" y="2560320"/>
            <a:ext cx="1929384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565A8"/>
                </a:solidFill>
                <a:latin typeface="Noto Sans CJK SC"/>
                <a:ea typeface="Noto Sans CJK SC"/>
              </a:rPr>
              <a:t>查景点与交通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962656"/>
            <a:ext cx="19476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开放 / 路线 / 费用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67328" y="3822191"/>
            <a:ext cx="2185416" cy="941832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95344" y="3941063"/>
            <a:ext cx="1929384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565A8"/>
                </a:solidFill>
                <a:latin typeface="Noto Sans CJK SC"/>
                <a:ea typeface="Noto Sans CJK SC"/>
              </a:rPr>
              <a:t>查餐饮候选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343400"/>
            <a:ext cx="19476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本帮菜 / 替代午餐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2788920"/>
            <a:ext cx="2093976" cy="128016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77455" y="2907791"/>
            <a:ext cx="1837943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565A8"/>
                </a:solidFill>
                <a:latin typeface="Noto Sans CJK SC"/>
                <a:ea typeface="Noto Sans CJK SC"/>
              </a:rPr>
              <a:t>合并与检查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3383279"/>
            <a:ext cx="1856232" cy="6675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汇总费用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检查预算与冲突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20072" y="2788920"/>
            <a:ext cx="1874519" cy="128016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48088" y="2907791"/>
            <a:ext cx="1618487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565A8"/>
                </a:solidFill>
                <a:latin typeface="Noto Sans CJK SC"/>
                <a:ea typeface="Noto Sans CJK SC"/>
              </a:rPr>
              <a:t>选择下一步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38944" y="3383279"/>
            <a:ext cx="1636775" cy="6675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通过则输出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72D43"/>
                </a:solidFill>
                <a:latin typeface="Noto Sans CJK SC"/>
                <a:ea typeface="Noto Sans CJK SC"/>
              </a:rPr>
              <a:t>失败则重规划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816352" y="3410712"/>
            <a:ext cx="448056" cy="0"/>
          </a:xfrm>
          <a:prstGeom prst="line">
            <a:avLst/>
          </a:prstGeom>
          <a:ln w="22860">
            <a:solidFill>
              <a:srgbClr val="1565A8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64408" y="2907792"/>
            <a:ext cx="0" cy="502920"/>
          </a:xfrm>
          <a:prstGeom prst="line">
            <a:avLst/>
          </a:prstGeom>
          <a:ln w="22860">
            <a:solidFill>
              <a:srgbClr val="1565A8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3264408" y="2907792"/>
            <a:ext cx="502920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cxnSp>
        <p:nvCxnSpPr>
          <p:cNvPr id="34" name="Connector 33"/>
          <p:cNvCxnSpPr/>
          <p:nvPr/>
        </p:nvCxnSpPr>
        <p:spPr>
          <a:xfrm>
            <a:off x="3264408" y="3410712"/>
            <a:ext cx="0" cy="877824"/>
          </a:xfrm>
          <a:prstGeom prst="line">
            <a:avLst/>
          </a:prstGeom>
          <a:ln w="22860">
            <a:solidFill>
              <a:srgbClr val="1565A8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3264408" y="4288536"/>
            <a:ext cx="502920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cxnSp>
        <p:nvCxnSpPr>
          <p:cNvPr id="36" name="Connector 35"/>
          <p:cNvCxnSpPr/>
          <p:nvPr/>
        </p:nvCxnSpPr>
        <p:spPr>
          <a:xfrm>
            <a:off x="5952744" y="2907792"/>
            <a:ext cx="484632" cy="0"/>
          </a:xfrm>
          <a:prstGeom prst="line">
            <a:avLst/>
          </a:prstGeom>
          <a:ln w="22860">
            <a:solidFill>
              <a:srgbClr val="1565A8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6437376" y="2907792"/>
            <a:ext cx="0" cy="502920"/>
          </a:xfrm>
          <a:prstGeom prst="line">
            <a:avLst/>
          </a:prstGeom>
          <a:ln w="22860">
            <a:solidFill>
              <a:srgbClr val="1565A8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6437376" y="3410712"/>
            <a:ext cx="512064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cxnSp>
        <p:nvCxnSpPr>
          <p:cNvPr id="39" name="Connector 38"/>
          <p:cNvCxnSpPr/>
          <p:nvPr/>
        </p:nvCxnSpPr>
        <p:spPr>
          <a:xfrm>
            <a:off x="5952744" y="4288536"/>
            <a:ext cx="484632" cy="0"/>
          </a:xfrm>
          <a:prstGeom prst="line">
            <a:avLst/>
          </a:prstGeom>
          <a:ln w="22860">
            <a:solidFill>
              <a:srgbClr val="1565A8"/>
            </a:solidFill>
          </a:ln>
        </p:spPr>
      </p:cxnSp>
      <p:cxnSp>
        <p:nvCxnSpPr>
          <p:cNvPr id="40" name="Connector 39"/>
          <p:cNvCxnSpPr/>
          <p:nvPr/>
        </p:nvCxnSpPr>
        <p:spPr>
          <a:xfrm flipV="1">
            <a:off x="6437376" y="3410712"/>
            <a:ext cx="0" cy="877824"/>
          </a:xfrm>
          <a:prstGeom prst="line">
            <a:avLst/>
          </a:prstGeom>
          <a:ln w="22860">
            <a:solidFill>
              <a:srgbClr val="1565A8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9043416" y="3410712"/>
            <a:ext cx="676656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cxnSp>
        <p:nvCxnSpPr>
          <p:cNvPr id="42" name="Connector 41"/>
          <p:cNvCxnSpPr/>
          <p:nvPr/>
        </p:nvCxnSpPr>
        <p:spPr>
          <a:xfrm>
            <a:off x="10652760" y="4069080"/>
            <a:ext cx="0" cy="1078992"/>
          </a:xfrm>
          <a:prstGeom prst="line">
            <a:avLst/>
          </a:prstGeom>
          <a:ln w="22860">
            <a:solidFill>
              <a:srgbClr val="36A3CF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4846320" y="5148072"/>
            <a:ext cx="5806440" cy="0"/>
          </a:xfrm>
          <a:prstGeom prst="line">
            <a:avLst/>
          </a:prstGeom>
          <a:ln w="22860">
            <a:solidFill>
              <a:srgbClr val="36A3CF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4846320" y="4764024"/>
            <a:ext cx="0" cy="384048"/>
          </a:xfrm>
          <a:prstGeom prst="line">
            <a:avLst/>
          </a:prstGeom>
          <a:ln w="22860">
            <a:solidFill>
              <a:srgbClr val="36A3CF"/>
            </a:solidFill>
            <a:tailEnd type="triangle" w="sm" len="sm"/>
          </a:ln>
        </p:spPr>
      </p:cxnSp>
      <p:sp>
        <p:nvSpPr>
          <p:cNvPr id="45" name="TextBox 44"/>
          <p:cNvSpPr txBox="1"/>
          <p:nvPr/>
        </p:nvSpPr>
        <p:spPr>
          <a:xfrm>
            <a:off x="6565392" y="4828032"/>
            <a:ext cx="3566160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565A8"/>
                </a:solidFill>
                <a:latin typeface="Noto Sans CJK SC"/>
                <a:ea typeface="Noto Sans CJK SC"/>
              </a:rPr>
              <a:t>580元超预算 → 搜索替代午餐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" y="5687568"/>
            <a:ext cx="11128248" cy="448056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" y="5747004"/>
            <a:ext cx="10771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1">
                <a:solidFill>
                  <a:srgbClr val="FFFFFF"/>
                </a:solidFill>
                <a:latin typeface="Noto Sans CJK SC"/>
                <a:ea typeface="Noto Sans CJK SC"/>
              </a:rPr>
              <a:t>局限：分解可能遗漏约束；语言计划不保证可执行，需借助外部验证与重规划。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第二章 02｜大模型智能体的核心架构 · 2.5 核心模块②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Memory：让下一步决策记得目标、证据与经验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4475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为什么需要：多步任务会积累观察与中间结果，仅靠当前一轮输入容易丢失状态。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30352" y="6400800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>
                <a:solidFill>
                  <a:srgbClr val="596E80"/>
                </a:solidFill>
                <a:latin typeface="Noto Sans CJK SC"/>
                <a:ea typeface="Noto Sans CJK SC"/>
              </a:rPr>
              <a:t>[10][11] LLM Agent综述   [13] Shinn et al., Reflexion: Language Agents with Verbal Reinforcement Learning, NeurIPS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103120"/>
            <a:ext cx="3410712" cy="228600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276856"/>
            <a:ext cx="3063240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2385D"/>
                </a:solidFill>
                <a:latin typeface="Noto Sans CJK SC"/>
                <a:ea typeface="Noto Sans CJK SC"/>
              </a:rPr>
              <a:t>短期上下文与工作状态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862072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565A8"/>
                </a:solidFill>
                <a:latin typeface="Noto Sans CJK SC"/>
                <a:ea typeface="Noto Sans CJK SC"/>
              </a:rPr>
              <a:t>当前任务正在发生什么？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282696"/>
            <a:ext cx="3063240" cy="987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预算：500元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本帮菜：220元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当前候选合计：580元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103120"/>
            <a:ext cx="3410712" cy="228600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2276856"/>
            <a:ext cx="3063240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2385D"/>
                </a:solidFill>
                <a:latin typeface="Noto Sans CJK SC"/>
                <a:ea typeface="Noto Sans CJK SC"/>
              </a:rPr>
              <a:t>长期信息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862072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565A8"/>
                </a:solidFill>
                <a:latin typeface="Noto Sans CJK SC"/>
                <a:ea typeface="Noto Sans CJK SC"/>
              </a:rPr>
              <a:t>跨任务需要保留什么？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3282696"/>
            <a:ext cx="3063240" cy="987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用户偏好、文档与历史记录；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按相关性检索，并核对来源。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2103120"/>
            <a:ext cx="3410712" cy="228600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2276856"/>
            <a:ext cx="3063240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2385D"/>
                </a:solidFill>
                <a:latin typeface="Noto Sans CJK SC"/>
                <a:ea typeface="Noto Sans CJK SC"/>
              </a:rPr>
              <a:t>经验管理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862072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565A8"/>
                </a:solidFill>
                <a:latin typeface="Noto Sans CJK SC"/>
                <a:ea typeface="Noto Sans CJK SC"/>
              </a:rPr>
              <a:t>过去的经验如何复用？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282696"/>
            <a:ext cx="3063240" cy="987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记录失败原因与适用条件：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先核对费用，再承诺行程。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709160"/>
            <a:ext cx="2926080" cy="585216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828032"/>
            <a:ext cx="267004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565A8"/>
                </a:solidFill>
                <a:latin typeface="Noto Sans CJK SC"/>
                <a:ea typeface="Noto Sans CJK SC"/>
              </a:rPr>
              <a:t>观察与结果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40480" y="5001768"/>
            <a:ext cx="73152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sp>
        <p:nvSpPr>
          <p:cNvPr id="29" name="Rounded Rectangle 28"/>
          <p:cNvSpPr/>
          <p:nvPr/>
        </p:nvSpPr>
        <p:spPr>
          <a:xfrm>
            <a:off x="3913632" y="4709160"/>
            <a:ext cx="2926080" cy="585216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41648" y="4828032"/>
            <a:ext cx="267004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565A8"/>
                </a:solidFill>
                <a:latin typeface="Noto Sans CJK SC"/>
                <a:ea typeface="Noto Sans CJK SC"/>
              </a:rPr>
              <a:t>筛选 / 摘要 / 写入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39712" y="5001768"/>
            <a:ext cx="704088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sp>
        <p:nvSpPr>
          <p:cNvPr id="32" name="Rounded Rectangle 31"/>
          <p:cNvSpPr/>
          <p:nvPr/>
        </p:nvSpPr>
        <p:spPr>
          <a:xfrm>
            <a:off x="7543800" y="4709160"/>
            <a:ext cx="2926080" cy="585216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71816" y="4828032"/>
            <a:ext cx="267004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565A8"/>
                </a:solidFill>
                <a:latin typeface="Noto Sans CJK SC"/>
                <a:ea typeface="Noto Sans CJK SC"/>
              </a:rPr>
              <a:t>检索 → 当前上下文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" y="5687568"/>
            <a:ext cx="11128248" cy="448056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747004"/>
            <a:ext cx="10771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1">
                <a:solidFill>
                  <a:srgbClr val="FFFFFF"/>
                </a:solidFill>
                <a:latin typeface="Noto Sans CJK SC"/>
                <a:ea typeface="Noto Sans CJK SC"/>
              </a:rPr>
              <a:t>局限：摘要会丢信息，检索可能取错；写入经验不等于更新模型参数或保证进步。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第二章 02｜大模型智能体的核心架构 · 2.5 核心模块③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Tools：模型生成调用意图，执行器完成真实操作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4475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为什么需要：外部信息访问、精确计算与软件操作需要真实的程序接口。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30352" y="6400800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>
                <a:solidFill>
                  <a:srgbClr val="596E80"/>
                </a:solidFill>
                <a:latin typeface="Noto Sans CJK SC"/>
                <a:ea typeface="Noto Sans CJK SC"/>
              </a:rPr>
              <a:t>教程3.2 Function Calling（官方源文件）   [10][11] LLM Agent综述；图中查询名与JSON为教学伪接口。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" y="2167128"/>
            <a:ext cx="2240280" cy="1344168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286000"/>
            <a:ext cx="198424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565A8"/>
                </a:solidFill>
                <a:latin typeface="Noto Sans CJK SC"/>
                <a:ea typeface="Noto Sans CJK SC"/>
              </a:rPr>
              <a:t>01 选择工具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761488"/>
            <a:ext cx="2002536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LLM选择工具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并生成参数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38728" y="2167128"/>
            <a:ext cx="2240280" cy="1344168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6744" y="2286000"/>
            <a:ext cx="198424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565A8"/>
                </a:solidFill>
                <a:latin typeface="Noto Sans CJK SC"/>
                <a:ea typeface="Noto Sans CJK SC"/>
              </a:rPr>
              <a:t>02 校验与调度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761488"/>
            <a:ext cx="2002536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程序检查Schema、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权限与调用预算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2" y="2167128"/>
            <a:ext cx="2240280" cy="1344168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2286000"/>
            <a:ext cx="198424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565A8"/>
                </a:solidFill>
                <a:latin typeface="Noto Sans CJK SC"/>
                <a:ea typeface="Noto Sans CJK SC"/>
              </a:rPr>
              <a:t>03 执行工具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761488"/>
            <a:ext cx="2002536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调用API / 代码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返回结果或错误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17736" y="2167128"/>
            <a:ext cx="2240280" cy="1344168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5752" y="2286000"/>
            <a:ext cx="198424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565A8"/>
                </a:solidFill>
                <a:latin typeface="Noto Sans CJK SC"/>
                <a:ea typeface="Noto Sans CJK SC"/>
              </a:rPr>
              <a:t>04 写回观察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2761488"/>
            <a:ext cx="2002536" cy="731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记录结果与来源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支持下一轮决策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89504" y="2843784"/>
            <a:ext cx="649224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cxnSp>
        <p:nvCxnSpPr>
          <p:cNvPr id="27" name="Connector 26"/>
          <p:cNvCxnSpPr/>
          <p:nvPr/>
        </p:nvCxnSpPr>
        <p:spPr>
          <a:xfrm>
            <a:off x="5779008" y="2843784"/>
            <a:ext cx="649224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cxnSp>
        <p:nvCxnSpPr>
          <p:cNvPr id="28" name="Connector 27"/>
          <p:cNvCxnSpPr/>
          <p:nvPr/>
        </p:nvCxnSpPr>
        <p:spPr>
          <a:xfrm>
            <a:off x="8668512" y="2843784"/>
            <a:ext cx="649224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sp>
        <p:nvSpPr>
          <p:cNvPr id="29" name="Rounded Rectangle 28"/>
          <p:cNvSpPr/>
          <p:nvPr/>
        </p:nvSpPr>
        <p:spPr>
          <a:xfrm>
            <a:off x="667512" y="3968496"/>
            <a:ext cx="5550408" cy="1335024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4123944"/>
            <a:ext cx="5102352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91CEE8"/>
                </a:solidFill>
                <a:latin typeface="Noto Sans CJK SC"/>
                <a:ea typeface="Noto Sans CJK SC"/>
              </a:rPr>
              <a:t>示例：工具调用请求（不是已经执行）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4553712"/>
            <a:ext cx="5102352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FFFFFF"/>
                </a:solidFill>
                <a:latin typeface="Noto Sans CJK SC"/>
                <a:ea typeface="Noto Sans CJK SC"/>
              </a:rPr>
              <a:t>query_price({"city":"上海",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FFFFFF"/>
                </a:solidFill>
                <a:latin typeface="Noto Sans CJK SC"/>
                <a:ea typeface="Noto Sans CJK SC"/>
              </a:rPr>
              <a:t>             "item":"本帮菜午餐"})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55664" y="3968496"/>
            <a:ext cx="5093208" cy="1335024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2" y="4123944"/>
            <a:ext cx="4672584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565A8"/>
                </a:solidFill>
                <a:latin typeface="Noto Sans CJK SC"/>
                <a:ea typeface="Noto Sans CJK SC"/>
              </a:rPr>
              <a:t>示例：执行器返回的观察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4553712"/>
            <a:ext cx="4663440" cy="7223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172D43"/>
                </a:solidFill>
                <a:latin typeface="Noto Sans CJK SC"/>
                <a:ea typeface="Noto Sans CJK SC"/>
              </a:rPr>
              <a:t>{费用: 220, 币种: CNY,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172D43"/>
                </a:solidFill>
                <a:latin typeface="Noto Sans CJK SC"/>
                <a:ea typeface="Noto Sans CJK SC"/>
              </a:rPr>
              <a:t> 来源: 教学数据, 状态: 成功}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" y="5687568"/>
            <a:ext cx="11128248" cy="448056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747004"/>
            <a:ext cx="10771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850" b="1">
                <a:solidFill>
                  <a:srgbClr val="FFFFFF"/>
                </a:solidFill>
                <a:latin typeface="Noto Sans CJK SC"/>
                <a:ea typeface="Noto Sans CJK SC"/>
              </a:rPr>
              <a:t>局限：格式正确不代表事实正确；仍需处理超时、伪造结果、权限与不可逆操作。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第二章 02｜大模型智能体的核心架构 · 2.6 单体与多体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从单智能体到多智能体：分工扩展能力，也增加协作成本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4475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多个工具不等于多个Agent；多Agent意味着多个决策主体通过消息或共享状态协调。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30352" y="6400800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>
                <a:solidFill>
                  <a:srgbClr val="596E80"/>
                </a:solidFill>
                <a:latin typeface="Noto Sans CJK SC"/>
                <a:ea typeface="Noto Sans CJK SC"/>
              </a:rPr>
              <a:t>[11] Xi et al., 2023：single-agent / multi-agent / human–agent cooperation；教程多智能体章节仅作组织参考。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103120"/>
            <a:ext cx="3739896" cy="320040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276856"/>
            <a:ext cx="3264408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12385D"/>
                </a:solidFill>
                <a:latin typeface="Noto Sans CJK SC"/>
                <a:ea typeface="Noto Sans CJK SC"/>
              </a:rPr>
              <a:t>单智能体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71016" y="2999232"/>
            <a:ext cx="2441448" cy="96012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9031" y="3118103"/>
            <a:ext cx="2185415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565A8"/>
                </a:solidFill>
                <a:latin typeface="Noto Sans CJK SC"/>
                <a:ea typeface="Noto Sans CJK SC"/>
              </a:rPr>
              <a:t>统一决策主体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520439"/>
            <a:ext cx="2203704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172D43"/>
                </a:solidFill>
                <a:latin typeface="Noto Sans CJK SC"/>
                <a:ea typeface="Noto Sans CJK SC"/>
              </a:rPr>
              <a:t>规划 / 查询 / 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07408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状态集中，调试较直接；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也可以并行调用多个工具。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5152" y="2103120"/>
            <a:ext cx="6885432" cy="3200400"/>
          </a:xfrm>
          <a:prstGeom prst="roundRect">
            <a:avLst>
              <a:gd name="adj" fmla="val 8000"/>
            </a:avLst>
          </a:prstGeom>
          <a:solidFill>
            <a:srgbClr val="E7F3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2276856"/>
            <a:ext cx="6382512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2385D"/>
                </a:solidFill>
                <a:latin typeface="Noto Sans CJK SC"/>
                <a:ea typeface="Noto Sans CJK SC"/>
              </a:rPr>
              <a:t>多智能体｜一种中心协调结构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852928"/>
            <a:ext cx="2093976" cy="768096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971800"/>
            <a:ext cx="1837943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1565A8"/>
                </a:solidFill>
                <a:latin typeface="Noto Sans CJK SC"/>
                <a:ea typeface="Noto Sans CJK SC"/>
              </a:rPr>
              <a:t>协调者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3374136"/>
            <a:ext cx="185623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72D43"/>
                </a:solidFill>
                <a:latin typeface="Noto Sans CJK SC"/>
                <a:ea typeface="Noto Sans CJK SC"/>
              </a:rPr>
              <a:t>分配 / 汇总 / 仲裁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28616" y="4160520"/>
            <a:ext cx="1938528" cy="832104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6631" y="4279392"/>
            <a:ext cx="1682496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565A8"/>
                </a:solidFill>
                <a:latin typeface="Noto Sans CJK SC"/>
                <a:ea typeface="Noto Sans CJK SC"/>
              </a:rPr>
              <a:t>规划Agent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4681728"/>
            <a:ext cx="170078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行程与依赖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83296" y="3621024"/>
            <a:ext cx="0" cy="256032"/>
          </a:xfrm>
          <a:prstGeom prst="line">
            <a:avLst/>
          </a:prstGeom>
          <a:ln w="19050">
            <a:solidFill>
              <a:srgbClr val="1565A8"/>
            </a:solidFill>
          </a:ln>
        </p:spPr>
      </p:cxnSp>
      <p:cxnSp>
        <p:nvCxnSpPr>
          <p:cNvPr id="29" name="Connector 28"/>
          <p:cNvCxnSpPr/>
          <p:nvPr/>
        </p:nvCxnSpPr>
        <p:spPr>
          <a:xfrm flipH="1">
            <a:off x="5897879" y="3877056"/>
            <a:ext cx="2185417" cy="0"/>
          </a:xfrm>
          <a:prstGeom prst="line">
            <a:avLst/>
          </a:prstGeom>
          <a:ln w="19050">
            <a:solidFill>
              <a:srgbClr val="1565A8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5897879" y="3877056"/>
            <a:ext cx="0" cy="283464"/>
          </a:xfrm>
          <a:prstGeom prst="line">
            <a:avLst/>
          </a:prstGeom>
          <a:ln w="19050">
            <a:solidFill>
              <a:srgbClr val="1565A8"/>
            </a:solidFill>
            <a:tailEnd type="triangle" w="sm" len="sm"/>
          </a:ln>
        </p:spPr>
      </p:cxnSp>
      <p:sp>
        <p:nvSpPr>
          <p:cNvPr id="31" name="Rounded Rectangle 30"/>
          <p:cNvSpPr/>
          <p:nvPr/>
        </p:nvSpPr>
        <p:spPr>
          <a:xfrm>
            <a:off x="7123176" y="4160520"/>
            <a:ext cx="1938528" cy="832104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51192" y="4279392"/>
            <a:ext cx="1682496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565A8"/>
                </a:solidFill>
                <a:latin typeface="Noto Sans CJK SC"/>
                <a:ea typeface="Noto Sans CJK SC"/>
              </a:rPr>
              <a:t>查询Agent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4681728"/>
            <a:ext cx="170078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交通与费用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83296" y="3621024"/>
            <a:ext cx="0" cy="256032"/>
          </a:xfrm>
          <a:prstGeom prst="line">
            <a:avLst/>
          </a:prstGeom>
          <a:ln w="19050">
            <a:solidFill>
              <a:srgbClr val="1565A8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8083296" y="3877056"/>
            <a:ext cx="9144" cy="0"/>
          </a:xfrm>
          <a:prstGeom prst="line">
            <a:avLst/>
          </a:prstGeom>
          <a:ln w="19050">
            <a:solidFill>
              <a:srgbClr val="1565A8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8092440" y="3877056"/>
            <a:ext cx="0" cy="283464"/>
          </a:xfrm>
          <a:prstGeom prst="line">
            <a:avLst/>
          </a:prstGeom>
          <a:ln w="19050">
            <a:solidFill>
              <a:srgbClr val="1565A8"/>
            </a:solidFill>
            <a:tailEnd type="triangle" w="sm" len="sm"/>
          </a:ln>
        </p:spPr>
      </p:cxnSp>
      <p:sp>
        <p:nvSpPr>
          <p:cNvPr id="37" name="Rounded Rectangle 36"/>
          <p:cNvSpPr/>
          <p:nvPr/>
        </p:nvSpPr>
        <p:spPr>
          <a:xfrm>
            <a:off x="9317736" y="4160520"/>
            <a:ext cx="1938528" cy="832104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45752" y="4279392"/>
            <a:ext cx="1682496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565A8"/>
                </a:solidFill>
                <a:latin typeface="Noto Sans CJK SC"/>
                <a:ea typeface="Noto Sans CJK SC"/>
              </a:rPr>
              <a:t>核验Agent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36608" y="4681728"/>
            <a:ext cx="1700784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72D43"/>
                </a:solidFill>
                <a:latin typeface="Noto Sans CJK SC"/>
                <a:ea typeface="Noto Sans CJK SC"/>
              </a:rPr>
              <a:t>预算与冲突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083296" y="3621024"/>
            <a:ext cx="0" cy="256032"/>
          </a:xfrm>
          <a:prstGeom prst="line">
            <a:avLst/>
          </a:prstGeom>
          <a:ln w="19050">
            <a:solidFill>
              <a:srgbClr val="1565A8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8083296" y="3877056"/>
            <a:ext cx="2203704" cy="0"/>
          </a:xfrm>
          <a:prstGeom prst="line">
            <a:avLst/>
          </a:prstGeom>
          <a:ln w="19050">
            <a:solidFill>
              <a:srgbClr val="1565A8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10287000" y="3877056"/>
            <a:ext cx="0" cy="283464"/>
          </a:xfrm>
          <a:prstGeom prst="line">
            <a:avLst/>
          </a:prstGeom>
          <a:ln w="19050">
            <a:solidFill>
              <a:srgbClr val="1565A8"/>
            </a:solidFill>
            <a:tailEnd type="triangle" w="sm" len="sm"/>
          </a:ln>
        </p:spPr>
      </p:cxnSp>
      <p:sp>
        <p:nvSpPr>
          <p:cNvPr id="43" name="TextBox 42"/>
          <p:cNvSpPr txBox="1"/>
          <p:nvPr/>
        </p:nvSpPr>
        <p:spPr>
          <a:xfrm>
            <a:off x="4983480" y="5020056"/>
            <a:ext cx="6172200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596E80"/>
                </a:solidFill>
                <a:latin typeface="Noto Sans CJK SC"/>
                <a:ea typeface="Noto Sans CJK SC"/>
              </a:rPr>
              <a:t>共享信息：子任务、证据、状态与结论。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0352" y="5687568"/>
            <a:ext cx="11128248" cy="448056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" y="5747004"/>
            <a:ext cx="10771632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收益来自合理分工；通信开销、状态冲突与相关性错误可能抵消收益。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9768" y="310896"/>
            <a:ext cx="118872" cy="118872"/>
          </a:xfrm>
          <a:prstGeom prst="rect">
            <a:avLst/>
          </a:prstGeom>
          <a:solidFill>
            <a:srgbClr val="36A3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0936" y="19202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第二章 02｜小结与第三章引入</a:t>
            </a:r>
          </a:p>
        </p:txBody>
      </p:sp>
      <p:pic>
        <p:nvPicPr>
          <p:cNvPr id="5" name="Picture 4" descr="master0_12.jpg"/>
          <p:cNvPicPr>
            <a:picLocks noChangeAspect="1"/>
          </p:cNvPicPr>
          <p:nvPr/>
        </p:nvPicPr>
        <p:blipFill>
          <a:blip r:embed="rId2"/>
          <a:srcRect r="74283"/>
          <a:stretch>
            <a:fillRect/>
          </a:stretch>
        </p:blipFill>
        <p:spPr>
          <a:xfrm>
            <a:off x="10689336" y="182880"/>
            <a:ext cx="438912" cy="438912"/>
          </a:xfrm>
          <a:prstGeom prst="rect">
            <a:avLst/>
          </a:prstGeom>
        </p:spPr>
      </p:pic>
      <p:pic>
        <p:nvPicPr>
          <p:cNvPr id="6" name="Picture 5" descr="master0_9.png"/>
          <p:cNvPicPr>
            <a:picLocks noChangeAspect="1"/>
          </p:cNvPicPr>
          <p:nvPr/>
        </p:nvPicPr>
        <p:blipFill>
          <a:blip r:embed="rId3"/>
          <a:srcRect r="86364"/>
          <a:stretch>
            <a:fillRect/>
          </a:stretch>
        </p:blipFill>
        <p:spPr>
          <a:xfrm>
            <a:off x="11210544" y="182880"/>
            <a:ext cx="438912" cy="438912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8912" y="713232"/>
            <a:ext cx="11283696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2064" y="877824"/>
            <a:ext cx="1106424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2385D"/>
                </a:solidFill>
                <a:latin typeface="Noto Sans CJK SC"/>
                <a:ea typeface="Noto Sans CJK SC"/>
              </a:rPr>
              <a:t>从架构到方法：推理与行动如何在同一轨迹中交替？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4475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96E80"/>
                </a:solidFill>
                <a:latin typeface="Noto Sans CJK SC"/>
                <a:ea typeface="Noto Sans CJK SC"/>
              </a:rPr>
              <a:t>我们已知道需要规划、记忆、工具与环境反馈；下一步研究它们如何被具体组织。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327648"/>
            <a:ext cx="11201400" cy="0"/>
          </a:xfrm>
          <a:prstGeom prst="line">
            <a:avLst/>
          </a:prstGeom>
          <a:ln w="8890">
            <a:solidFill>
              <a:srgbClr val="D8E3EE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30352" y="6400800"/>
            <a:ext cx="10588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919" b="0">
                <a:solidFill>
                  <a:srgbClr val="596E80"/>
                </a:solidFill>
                <a:latin typeface="Noto Sans CJK SC"/>
                <a:ea typeface="Noto Sans CJK SC"/>
              </a:rPr>
              <a:t>[12] Yao et al., ReAct, ICLR 2023（预印本2022）   [13] Shinn et al., Reflexion, NeurIPS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73368"/>
            <a:ext cx="5943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565A8"/>
                </a:solidFill>
                <a:latin typeface="Noto Sans CJK SC"/>
                <a:ea typeface="Noto Sans CJK SC"/>
              </a:rPr>
              <a:t>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" y="6757416"/>
            <a:ext cx="12079224" cy="100584"/>
          </a:xfrm>
          <a:prstGeom prst="rect">
            <a:avLst/>
          </a:prstGeom>
          <a:solidFill>
            <a:srgbClr val="1565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" y="2359152"/>
            <a:ext cx="3310128" cy="150876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478024"/>
            <a:ext cx="3054096" cy="4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565A8"/>
                </a:solidFill>
                <a:latin typeface="Noto Sans CJK SC"/>
                <a:ea typeface="Noto Sans CJK SC"/>
              </a:rPr>
              <a:t>推理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072384"/>
            <a:ext cx="3072384" cy="777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72D43"/>
                </a:solidFill>
                <a:latin typeface="Noto Sans CJK SC"/>
                <a:ea typeface="Noto Sans CJK SC"/>
              </a:rPr>
              <a:t>依据目标与当前观察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72D43"/>
                </a:solidFill>
                <a:latin typeface="Noto Sans CJK SC"/>
                <a:ea typeface="Noto Sans CJK SC"/>
              </a:rPr>
              <a:t>选择下一步行动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2359152"/>
            <a:ext cx="3310128" cy="150876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2478024"/>
            <a:ext cx="3054096" cy="4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565A8"/>
                </a:solidFill>
                <a:latin typeface="Noto Sans CJK SC"/>
                <a:ea typeface="Noto Sans CJK SC"/>
              </a:rPr>
              <a:t>行动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3072384"/>
            <a:ext cx="3072384" cy="777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72D43"/>
                </a:solidFill>
                <a:latin typeface="Noto Sans CJK SC"/>
                <a:ea typeface="Noto Sans CJK SC"/>
              </a:rPr>
              <a:t>执行查询或操作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72D43"/>
                </a:solidFill>
                <a:latin typeface="Noto Sans CJK SC"/>
                <a:ea typeface="Noto Sans CJK SC"/>
              </a:rPr>
              <a:t>获取外部证据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2359152"/>
            <a:ext cx="3310128" cy="1508760"/>
          </a:xfrm>
          <a:prstGeom prst="roundRect">
            <a:avLst>
              <a:gd name="adj" fmla="val 8000"/>
            </a:avLst>
          </a:prstGeom>
          <a:solidFill>
            <a:srgbClr val="E7F3F8"/>
          </a:solidFill>
          <a:ln w="10160">
            <a:solidFill>
              <a:srgbClr val="D8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7576" y="2478024"/>
            <a:ext cx="3054096" cy="4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565A8"/>
                </a:solidFill>
                <a:latin typeface="Noto Sans CJK SC"/>
                <a:ea typeface="Noto Sans CJK SC"/>
              </a:rPr>
              <a:t>观察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3072384"/>
            <a:ext cx="3072384" cy="7772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72D43"/>
                </a:solidFill>
                <a:latin typeface="Noto Sans CJK SC"/>
                <a:ea typeface="Noto Sans CJK SC"/>
              </a:rPr>
              <a:t>检查结果与约束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172D43"/>
                </a:solidFill>
                <a:latin typeface="Noto Sans CJK SC"/>
                <a:ea typeface="Noto Sans CJK SC"/>
              </a:rPr>
              <a:t>调整后续决策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69080" y="3108960"/>
            <a:ext cx="265176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cxnSp>
        <p:nvCxnSpPr>
          <p:cNvPr id="24" name="Connector 23"/>
          <p:cNvCxnSpPr/>
          <p:nvPr/>
        </p:nvCxnSpPr>
        <p:spPr>
          <a:xfrm>
            <a:off x="7644383" y="3108960"/>
            <a:ext cx="265177" cy="0"/>
          </a:xfrm>
          <a:prstGeom prst="line">
            <a:avLst/>
          </a:prstGeom>
          <a:ln w="22860">
            <a:solidFill>
              <a:srgbClr val="1565A8"/>
            </a:solidFill>
            <a:tailEnd type="triangle" w="sm" len="sm"/>
          </a:ln>
        </p:spPr>
      </p:cxnSp>
      <p:cxnSp>
        <p:nvCxnSpPr>
          <p:cNvPr id="25" name="Connector 24"/>
          <p:cNvCxnSpPr/>
          <p:nvPr/>
        </p:nvCxnSpPr>
        <p:spPr>
          <a:xfrm>
            <a:off x="9564624" y="3867912"/>
            <a:ext cx="0" cy="411480"/>
          </a:xfrm>
          <a:prstGeom prst="line">
            <a:avLst/>
          </a:prstGeom>
          <a:ln w="25400">
            <a:solidFill>
              <a:srgbClr val="36A3C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H="1">
            <a:off x="2414016" y="4279392"/>
            <a:ext cx="7150608" cy="0"/>
          </a:xfrm>
          <a:prstGeom prst="line">
            <a:avLst/>
          </a:prstGeom>
          <a:ln w="25400">
            <a:solidFill>
              <a:srgbClr val="36A3C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414016" y="3867912"/>
            <a:ext cx="0" cy="411480"/>
          </a:xfrm>
          <a:prstGeom prst="line">
            <a:avLst/>
          </a:prstGeom>
          <a:ln w="25400">
            <a:solidFill>
              <a:srgbClr val="36A3CF"/>
            </a:solidFill>
            <a:tailEnd type="triangle" w="sm" len="sm"/>
          </a:ln>
        </p:spPr>
      </p:cxnSp>
      <p:sp>
        <p:nvSpPr>
          <p:cNvPr id="28" name="Rounded Rectangle 27"/>
          <p:cNvSpPr/>
          <p:nvPr/>
        </p:nvSpPr>
        <p:spPr>
          <a:xfrm>
            <a:off x="777240" y="4626864"/>
            <a:ext cx="10625328" cy="859536"/>
          </a:xfrm>
          <a:prstGeom prst="roundRect">
            <a:avLst>
              <a:gd name="adj" fmla="val 8000"/>
            </a:avLst>
          </a:prstGeom>
          <a:solidFill>
            <a:srgbClr val="1238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" y="4782312"/>
            <a:ext cx="10168128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ReAct：一种交替组织推理轨迹、行动与观察的代表性研究思路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705856"/>
            <a:ext cx="10643616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565A8"/>
                </a:solidFill>
                <a:latin typeface="Noto Sans CJK SC"/>
                <a:ea typeface="Noto Sans CJK SC"/>
              </a:rPr>
              <a:t>第三章继续：ReAct如何组织单次执行？Reflexion如何利用语言反馈支持后续尝试？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智能体综述 / 全景：概念、发展与大模型智能体架构</dc:title>
  <dc:subject>研究生组会｜第一章与第二章</dc:subject>
  <dc:creator>左金隆</dc:creator>
  <cp:keywords>AI Agent, LLM Agent, Planning, Memory, Tools, ReAct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